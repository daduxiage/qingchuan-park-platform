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286000"/>
            <a:ext cx="5943600" cy="59436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1828800"/>
            <a:ext cx="4572000" cy="45720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457200"/>
            <a:ext cx="64008" cy="2926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青川县庄子上工业园区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868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智慧平台汇报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四类角色 · 一体化智慧运营 · 数据驱动决策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4688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政府领导层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24688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24688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园区管理层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4688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4688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入驻企业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246888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24688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公众用户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137160"/>
            <a:ext cx="548640" cy="274320"/>
          </a:xfrm>
          <a:prstGeom prst="parallelogram">
            <a:avLst/>
          </a:prstGeom>
          <a:solidFill>
            <a:srgbClr val="F59E0B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0" y="137160"/>
            <a:ext cx="548640" cy="274320"/>
          </a:xfrm>
          <a:prstGeom prst="parallelogram">
            <a:avLst/>
          </a:prstGeom>
          <a:solidFill>
            <a:srgbClr val="2563EB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四川省广元市青川县 · 竹园镇庄子上工业园区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3832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2025年前三季度 GDP 57.68亿元 · 同比增长15% · 2026年5月</a:t>
            </a:r>
            <a:endParaRPr lang="en-US" sz="900" dirty="0"/>
          </a:p>
        </p:txBody>
      </p:sp>
      <p:pic>
        <p:nvPicPr>
          <p:cNvPr id="21" name="Image 0" descr="/Users/wangcaihua/WorkBuddy/20260427142154/slides/imgs/ai_smart_park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3017520"/>
            <a:ext cx="384048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汇报目录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22960"/>
            <a:ext cx="36576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88696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869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82296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项目背景与平台架构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0" y="914400"/>
            <a:ext cx="365760" cy="201168"/>
          </a:xfrm>
          <a:prstGeom prst="parallelogram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28016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280160"/>
            <a:ext cx="36576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34416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3441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128016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角色功能矩阵总览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1371600"/>
            <a:ext cx="365760" cy="201168"/>
          </a:xfrm>
          <a:prstGeom prst="parallelogram">
            <a:avLst/>
          </a:prstGeom>
          <a:solidFill>
            <a:srgbClr val="059669">
              <a:alpha val="8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73736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737360"/>
            <a:ext cx="36576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180136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1801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173736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政府领导层ⸯ全景数据驱动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0" y="1828800"/>
            <a:ext cx="365760" cy="201168"/>
          </a:xfrm>
          <a:prstGeom prst="parallelogram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19456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2194560"/>
            <a:ext cx="36576" cy="38404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225856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22585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219456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园区管理层ⸯ智慧运营与监控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229600" y="2286000"/>
            <a:ext cx="365760" cy="201168"/>
          </a:xfrm>
          <a:prstGeom prst="parallelogram">
            <a:avLst/>
          </a:prstGeom>
          <a:solidFill>
            <a:srgbClr val="059669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265176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2651760"/>
            <a:ext cx="36576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271576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2715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" y="265176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入驻企业ⸯ全流程企业服务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29600" y="2743200"/>
            <a:ext cx="365760" cy="201168"/>
          </a:xfrm>
          <a:prstGeom prst="parallelogram">
            <a:avLst/>
          </a:prstGeom>
          <a:solidFill>
            <a:srgbClr val="D97706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10896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3108960"/>
            <a:ext cx="36576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Shape 34"/>
          <p:cNvSpPr/>
          <p:nvPr/>
        </p:nvSpPr>
        <p:spPr>
          <a:xfrm>
            <a:off x="594360" y="317296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31729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5840" y="310896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公众用户ⸯ便民服务与参与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229600" y="3200400"/>
            <a:ext cx="365760" cy="201168"/>
          </a:xfrm>
          <a:prstGeom prst="parallelogram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" y="356616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57200" y="3566160"/>
            <a:ext cx="36576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Shape 40"/>
          <p:cNvSpPr/>
          <p:nvPr/>
        </p:nvSpPr>
        <p:spPr>
          <a:xfrm>
            <a:off x="594360" y="363016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36301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05840" y="356616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完整功能矩阵一览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229600" y="3657600"/>
            <a:ext cx="365760" cy="201168"/>
          </a:xfrm>
          <a:prstGeom prst="parallelogram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57200" y="402336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" y="4023360"/>
            <a:ext cx="36576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8" name="Shape 46"/>
          <p:cNvSpPr/>
          <p:nvPr/>
        </p:nvSpPr>
        <p:spPr>
          <a:xfrm>
            <a:off x="594360" y="408736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49" name="Text 47"/>
          <p:cNvSpPr/>
          <p:nvPr/>
        </p:nvSpPr>
        <p:spPr>
          <a:xfrm>
            <a:off x="594360" y="4087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05840" y="402336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投资与效益分析·未来展望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229600" y="4114800"/>
            <a:ext cx="365760" cy="201168"/>
          </a:xfrm>
          <a:prstGeom prst="parallelogram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3" name="Text 51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1323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青川县位于四川省北部边缘，川甘陕三省结合部，素有“金三角”之称。庄子上工业园区规划面积2.1㎡，已开发1.6㎡。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463040"/>
            <a:ext cx="54864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57.68亿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2025前三季度GDP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148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全县增长15%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463040"/>
            <a:ext cx="54864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137亿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县属国企资产总额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148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营业收入3.44亿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834640"/>
            <a:ext cx="54864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834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45家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31520" y="3291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国家科技型中小企业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5204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新增高新技术企8家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74320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2834640"/>
            <a:ext cx="54864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834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47家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937760" y="3291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园区入驻企业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5204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从业人员3,000+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31596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战略目标：以智慧园区建设为捆带，推动庄子上工业园区能级跃升，助力创建省级经济开发区、绿色工业园区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平台架构概览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五层架构 · 一体化智慧平台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96012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960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C端展示层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34640" y="86868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大屏数据驾驶舱 | 园区官网 | 向导页 | H5移动端 | 微信小程序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91640" y="1563624"/>
            <a:ext cx="274320" cy="109728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6459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73736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737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应用服务层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164592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AI招商 | 安全监控 | 企业服务 | 运营管理 | 能效监测 | 数字化办公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691640" y="2340864"/>
            <a:ext cx="274320" cy="109728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4231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" y="251460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514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数据服务层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34640" y="242316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数据湖 | 数据分析 | 报表引擎 | 实时计算 | AI算法 | GIS平台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691640" y="3118104"/>
            <a:ext cx="274320" cy="109728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2004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329184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设施层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34640" y="320040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视频监控 | 传感器 | 智能表计 | GPS定位 | 环境监测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691640" y="3895344"/>
            <a:ext cx="274320" cy="109728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406908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069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数据对接层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34640" y="397764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天然气 | 电力 | 自来水 | 综合执法 | 环保 | 应急 | 交通 | 公安 | 自然资源 | 气象 | 人社 | 运营商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四类角色功能矩阵总览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各角色在平台中的参与度与核心价值定位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173736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政府领导层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1554480"/>
            <a:ext cx="1005840" cy="182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决策支持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51560" y="2423160"/>
            <a:ext cx="731520" cy="731520"/>
          </a:xfrm>
          <a:prstGeom prst="ellipse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423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8346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4360" y="3200400"/>
            <a:ext cx="1645920" cy="3657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2560320" y="91440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651760" y="1005840"/>
            <a:ext cx="17373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园区管理层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017520" y="1554480"/>
            <a:ext cx="1005840" cy="18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2560320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智慧运营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日常管控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54680" y="2423160"/>
            <a:ext cx="731520" cy="731520"/>
          </a:xfrm>
          <a:prstGeom prst="ellipse">
            <a:avLst/>
          </a:prstGeom>
          <a:solidFill>
            <a:srgbClr val="059669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154680" y="2423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154680" y="28346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697480" y="3200400"/>
            <a:ext cx="1645920" cy="3657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91440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005840"/>
            <a:ext cx="173736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入驻企业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20640" y="1554480"/>
            <a:ext cx="1005840" cy="182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一站式服务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6344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资源对接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257800" y="2423160"/>
            <a:ext cx="731520" cy="731520"/>
          </a:xfrm>
          <a:prstGeom prst="ellipse">
            <a:avLst/>
          </a:prstGeom>
          <a:solidFill>
            <a:srgbClr val="D97706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257800" y="2423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57800" y="28346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00600" y="3200400"/>
            <a:ext cx="1645920" cy="3657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6" name="Shape 34"/>
          <p:cNvSpPr/>
          <p:nvPr/>
        </p:nvSpPr>
        <p:spPr>
          <a:xfrm>
            <a:off x="6766560" y="91440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58000" y="1005840"/>
            <a:ext cx="173736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6766560" y="1188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公众用户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223760" y="1554480"/>
            <a:ext cx="1005840" cy="182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6766560" y="1691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信息服务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66560" y="1965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参与互动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360920" y="2423160"/>
            <a:ext cx="731520" cy="73152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360920" y="24231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360920" y="28346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903720" y="3200400"/>
            <a:ext cx="1645920" cy="3657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政府领导层 — 数据驾驶舱与决策支持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全景数据可视化，全面掌採园区运行状态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8412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57.68亿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20240" y="868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全县GDP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804672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8412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47家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0" y="868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园区企业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804672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8412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137亿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89520" y="8686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国企资产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7830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1874520"/>
            <a:ext cx="36576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18562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AI招商服务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2103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大数据+AI算法精准匹配目标企业，智能推荐与跟踪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5800" y="2651760"/>
            <a:ext cx="1280160" cy="18288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6517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多维数据分析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91840" y="17830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1874520"/>
            <a:ext cx="36576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18562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数字沙盘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20440" y="2103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3D可视化展示园区规划与土地资源，沉浸式招商展示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520440" y="2651760"/>
            <a:ext cx="1280160" cy="18288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26517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立体地图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126480" y="17830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874520"/>
            <a:ext cx="36576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18562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产业链图谱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2103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可视化展示产业链上下游关系，精准强链补链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355080" y="2651760"/>
            <a:ext cx="1280160" cy="18288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26517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产业分析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57200" y="301752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3108960"/>
            <a:ext cx="36576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30906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投资概算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" y="3337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“三步走”创建路径+12大专项投资详细算科学规划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5800" y="3886200"/>
            <a:ext cx="1280160" cy="18288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38862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投资监督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291840" y="301752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383280" y="3108960"/>
            <a:ext cx="36576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8"/>
          <p:cNvSpPr/>
          <p:nvPr/>
        </p:nvSpPr>
        <p:spPr>
          <a:xfrm>
            <a:off x="3520440" y="30906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监督统计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520440" y="3337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各类数据统计报表，统一数据出口，支持导出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520440" y="3886200"/>
            <a:ext cx="1280160" cy="18288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/>
        </p:spPr>
      </p:sp>
      <p:sp>
        <p:nvSpPr>
          <p:cNvPr id="43" name="Text 41"/>
          <p:cNvSpPr/>
          <p:nvPr/>
        </p:nvSpPr>
        <p:spPr>
          <a:xfrm>
            <a:off x="3520440" y="38862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数据汇报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126480" y="301752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17920" y="3108960"/>
            <a:ext cx="36576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6" name="Text 44"/>
          <p:cNvSpPr/>
          <p:nvPr/>
        </p:nvSpPr>
        <p:spPr>
          <a:xfrm>
            <a:off x="6355080" y="30906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环保绿色园区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55080" y="3337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环保监控数据为申报绿色园区提供真实可追溯证据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355080" y="3886200"/>
            <a:ext cx="1280160" cy="18288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/>
        </p:spPr>
      </p:sp>
      <p:sp>
        <p:nvSpPr>
          <p:cNvPr id="49" name="Text 47"/>
          <p:cNvSpPr/>
          <p:nvPr/>
        </p:nvSpPr>
        <p:spPr>
          <a:xfrm>
            <a:off x="6355080" y="38862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绿色创建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1" name="Text 49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政府领导层 — AI招商服务全流程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731520"/>
            <a:ext cx="7498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777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目标企业挖掘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0515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多维数据源+智能算法，自动推荐与园区产业高度匹配的目标企业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" y="1280160"/>
            <a:ext cx="36576" cy="228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6002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1508760"/>
            <a:ext cx="7498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1554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AI智能匹配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18288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基于产业链、资金、技术、地理多维度算法匹配，智能评分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" y="2057400"/>
            <a:ext cx="36576" cy="228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2286000"/>
            <a:ext cx="7498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智能推荐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26060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自动生成招商策略与接触方案，智能推荐接触时机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" y="2834640"/>
            <a:ext cx="36576" cy="228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97280" y="3063240"/>
            <a:ext cx="7498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28016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全程跟踪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33832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招商项目全生命周期管理，从接触到签约全流程线上化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7512" y="3611880"/>
            <a:ext cx="36576" cy="22860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97280" y="3840480"/>
            <a:ext cx="74980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280160" y="3886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招商数据报告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80160" y="41605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招商转化率、合约金额、产业聚集度多维度分析报告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政府领导层 — 投资概算与创建路径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22960"/>
            <a:ext cx="26060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1005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省级经济开发区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基于平台数据支撑，系统化整理申报材料，加速创建进程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600200"/>
            <a:ext cx="228600" cy="22860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82296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822960"/>
            <a:ext cx="260604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100584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1554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绿色工业园区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环保监控、能耗数据、排放指标全程可追溯，科学证明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600200"/>
            <a:ext cx="228600" cy="22860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82296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822960"/>
            <a:ext cx="26060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Shape 18"/>
          <p:cNvSpPr/>
          <p:nvPr/>
        </p:nvSpPr>
        <p:spPr>
          <a:xfrm>
            <a:off x="7269480" y="100584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55080" y="1554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国家级经济开发区培育对象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18745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亩均论英雄数据、产业聚集度、科技创新指标综合评估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200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园区投资概算总览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3547872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5204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道路交通安全与地灾监控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0" y="3520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¥1,580,000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3547872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5204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重点口子环保监控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223760" y="35204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¥428,600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080" y="3776472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37490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园区形象展示与AI招商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00400" y="37490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¥442,200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3776472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7490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企业用能监测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223760" y="37490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¥348,000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政府领导层 — 全域安全与环保监控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86868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868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天眼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道路交通安全监控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智能交通监控，车辆识别，违章捕捉，交通状态可视化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77724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86868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868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哨兵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地灾安全监测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17373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地质灾害实时监测，多种传感器联动，预警提前报管控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77724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0" y="86868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868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慧眼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环保监控检测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17373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环境指标实时监测，排放数据追踪，环保合规分析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822960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52044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630168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520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视频监控总览：统一视频平台，16宫格智能排列，全园区覆盖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352044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910328" y="3630168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3520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应急指挥联动：一键调度、预案管理、实时通讯，响应效率提升60%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66928" y="4178808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069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设备管理：摄像头、感应器、GPS、雷达等全类设备统一管控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40690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910328" y="4178808"/>
            <a:ext cx="73152" cy="7315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4069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告警中心：异常事件实时告警、趋势分析、预警处置全流程管理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园区管理层 — 智慧运营与全域监控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7589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75895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应急响应提升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73152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7589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0" y="75895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监控覆盖率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731520"/>
            <a:ext cx="256032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7589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406640" y="75895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管理效率提升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5544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1645920"/>
            <a:ext cx="17373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Shape 13"/>
          <p:cNvSpPr/>
          <p:nvPr/>
        </p:nvSpPr>
        <p:spPr>
          <a:xfrm>
            <a:off x="1234440" y="1783080"/>
            <a:ext cx="365760" cy="36576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194560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道路交通监控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423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车辆识别、违章捕捉、交通状态实时可视化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560320" y="15544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51760" y="1645920"/>
            <a:ext cx="17373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Shape 18"/>
          <p:cNvSpPr/>
          <p:nvPr/>
        </p:nvSpPr>
        <p:spPr>
          <a:xfrm>
            <a:off x="3337560" y="1783080"/>
            <a:ext cx="365760" cy="36576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21" name="Text 19"/>
          <p:cNvSpPr/>
          <p:nvPr/>
        </p:nvSpPr>
        <p:spPr>
          <a:xfrm>
            <a:off x="2633472" y="2194560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地灾安全监测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51760" y="2423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地质灾害实时监测、多传感器联动预警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663440" y="15544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645920"/>
            <a:ext cx="17373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hape 23"/>
          <p:cNvSpPr/>
          <p:nvPr/>
        </p:nvSpPr>
        <p:spPr>
          <a:xfrm>
            <a:off x="5440680" y="1783080"/>
            <a:ext cx="365760" cy="36576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26" name="Text 24"/>
          <p:cNvSpPr/>
          <p:nvPr/>
        </p:nvSpPr>
        <p:spPr>
          <a:xfrm>
            <a:off x="4736592" y="2194560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环保监控检测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2423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环境指标实时监测、排放数据追踪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766560" y="15544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58000" y="1645920"/>
            <a:ext cx="17373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Shape 28"/>
          <p:cNvSpPr/>
          <p:nvPr/>
        </p:nvSpPr>
        <p:spPr>
          <a:xfrm>
            <a:off x="7543800" y="1783080"/>
            <a:ext cx="365760" cy="36576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31" name="Text 29"/>
          <p:cNvSpPr/>
          <p:nvPr/>
        </p:nvSpPr>
        <p:spPr>
          <a:xfrm>
            <a:off x="6839712" y="2194560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视频监控总览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24231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统一视频平台、智能排列、全园区覆盖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7200" y="2926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3017520"/>
            <a:ext cx="17373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Shape 33"/>
          <p:cNvSpPr/>
          <p:nvPr/>
        </p:nvSpPr>
        <p:spPr>
          <a:xfrm>
            <a:off x="1234440" y="3154680"/>
            <a:ext cx="365760" cy="36576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" y="3566160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应急指挥联动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3794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一键调度、预案管理、实时通讯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560320" y="2926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651760" y="3017520"/>
            <a:ext cx="17373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0" name="Shape 38"/>
          <p:cNvSpPr/>
          <p:nvPr/>
        </p:nvSpPr>
        <p:spPr>
          <a:xfrm>
            <a:off x="3337560" y="3154680"/>
            <a:ext cx="365760" cy="36576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41" name="Text 39"/>
          <p:cNvSpPr/>
          <p:nvPr/>
        </p:nvSpPr>
        <p:spPr>
          <a:xfrm>
            <a:off x="2633472" y="3566160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能效监测分析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651760" y="3794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智能计量表实时采集、用能趋势分析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663440" y="2926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3017520"/>
            <a:ext cx="17373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5" name="Shape 43"/>
          <p:cNvSpPr/>
          <p:nvPr/>
        </p:nvSpPr>
        <p:spPr>
          <a:xfrm>
            <a:off x="5440680" y="3154680"/>
            <a:ext cx="365760" cy="36576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46" name="Text 44"/>
          <p:cNvSpPr/>
          <p:nvPr/>
        </p:nvSpPr>
        <p:spPr>
          <a:xfrm>
            <a:off x="4736592" y="3566160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亩均论英雄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54880" y="3794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大数据评价体系、资源差异化配置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766560" y="29260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58000" y="3017520"/>
            <a:ext cx="17373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0" name="Shape 48"/>
          <p:cNvSpPr/>
          <p:nvPr/>
        </p:nvSpPr>
        <p:spPr>
          <a:xfrm>
            <a:off x="7543800" y="3154680"/>
            <a:ext cx="365760" cy="365760"/>
          </a:xfrm>
          <a:prstGeom prst="ellipse">
            <a:avLst/>
          </a:prstGeom>
          <a:solidFill>
            <a:srgbClr val="D1FAE5"/>
          </a:solidFill>
          <a:ln/>
        </p:spPr>
      </p:sp>
      <p:sp>
        <p:nvSpPr>
          <p:cNvPr id="51" name="Text 49"/>
          <p:cNvSpPr/>
          <p:nvPr/>
        </p:nvSpPr>
        <p:spPr>
          <a:xfrm>
            <a:off x="6839712" y="3566160"/>
            <a:ext cx="1773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异常预警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858000" y="3794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用能异常自动告警、碳排管理追踪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4" name="Text 52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园区管理层 — 运营管理与数字化办公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68680"/>
            <a:ext cx="36576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503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运营服务中心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大屏指挥+园小二团队+长效服务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91640"/>
            <a:ext cx="36576" cy="5029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733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日常运营管理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数字化审批、日常巡检、资产管理、档案管理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514600"/>
            <a:ext cx="36576" cy="5029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4963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设备与物联网管理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743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摄像头、传感器、智能设备统一管控与远程调度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39319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337560"/>
            <a:ext cx="36576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192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综合数据管控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566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数据中心、数据质量、报表管理、数据备份与安全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777240"/>
            <a:ext cx="41148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8412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运营数据一览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097280"/>
            <a:ext cx="4114800" cy="18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234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监控设备总数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12070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128台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46320" y="1481328"/>
            <a:ext cx="1920240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920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日常审批流程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0" y="18928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15类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46320" y="2167128"/>
            <a:ext cx="1920240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606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资产管理总数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0" y="25786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2,800+件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46320" y="2852928"/>
            <a:ext cx="1920240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1234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日均处理事件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955280" y="12070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50+条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1481328"/>
            <a:ext cx="1920240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1920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数据对接系统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955280" y="18928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12套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2167128"/>
            <a:ext cx="1920240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2606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在线服务模块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955280" y="25786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30+个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园区管理层 — 能效监测与亩均论英雄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77240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228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50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企业用能监测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智能计量表计实时采集能耗数据，支持水、电、气多维度监控与分析，可视化展示能耗趋势与异常告警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77240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1005840"/>
            <a:ext cx="3977640" cy="228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850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亩均论英雄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大数据评价体系，通过投入产出、能耗排放等多维度指标对企业进行综合评价，实现资源要素差异化配置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148840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377440"/>
            <a:ext cx="3977640" cy="228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221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能效分析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269748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企业能耗效率多维度分析，同比环比趋势可视化，帮助企业识别能耗浪费点，优化生产过程能耗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214884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148840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2377440"/>
            <a:ext cx="3977640" cy="228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221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异常预警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269748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用能异常自动告警，发现能源浪费问题，碳排放管理追踪，支持企业绿色低碳升级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320040"/>
          </a:xfrm>
          <a:prstGeom prst="roundRect">
            <a:avLst>
              <a:gd name="adj" fmla="val 17143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数据中心集成：12大三方数据来源（天然气、电力、水、综合执法、环保、应急、交通、公安、自然资源、气象、人社、运营商）统一对接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园区管理层 — 设备管理与数据基础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502920" cy="457200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8686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摄像头管理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1247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全园区摄像头统一管控、线上维护、状态监控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783080"/>
            <a:ext cx="502920" cy="457200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17373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GPS设备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19933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车辆GPS定位设备管理，实时轨迹追踪与调度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651760"/>
            <a:ext cx="502920" cy="457200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6060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雷达监测设备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8620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雷达监测设备管理，人员/资产实时感知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520440"/>
            <a:ext cx="502920" cy="457200"/>
          </a:xfrm>
          <a:prstGeom prst="parallelogram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4747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智能称重设备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37307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地磅等称重设备管理，物流进出数据采集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777240"/>
            <a:ext cx="411480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8412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数据管理能力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097280"/>
            <a:ext cx="4114800" cy="18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Shape 21"/>
          <p:cNvSpPr/>
          <p:nvPr/>
        </p:nvSpPr>
        <p:spPr>
          <a:xfrm>
            <a:off x="4937760" y="1353312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1280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75120" y="12801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汇聚园区全量数据，构建统一数据湖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937760" y="1554480"/>
            <a:ext cx="3657600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Shape 25"/>
          <p:cNvSpPr/>
          <p:nvPr/>
        </p:nvSpPr>
        <p:spPr>
          <a:xfrm>
            <a:off x="4937760" y="1810512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17373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数据质量管理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75120" y="17373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数据质量监控、数据清洗、标准化处理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37760" y="2011680"/>
            <a:ext cx="3657600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4937760" y="2267712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21945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报表管理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75120" y="2194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自定义报表、多维度分析、支持导出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37760" y="2468880"/>
            <a:ext cx="3657600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5" name="Shape 33"/>
          <p:cNvSpPr/>
          <p:nvPr/>
        </p:nvSpPr>
        <p:spPr>
          <a:xfrm>
            <a:off x="4937760" y="2724912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6" name="Text 34"/>
          <p:cNvSpPr/>
          <p:nvPr/>
        </p:nvSpPr>
        <p:spPr>
          <a:xfrm>
            <a:off x="5166360" y="2651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数据备份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75120" y="26517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自动备份、容灾恢复、数据安全保障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937760" y="2926080"/>
            <a:ext cx="3657600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9" name="Shape 37"/>
          <p:cNvSpPr/>
          <p:nvPr/>
        </p:nvSpPr>
        <p:spPr>
          <a:xfrm>
            <a:off x="4937760" y="3182112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5166360" y="3108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日志审计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75120" y="31089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操作日志全记录、安全审计可追溯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937760" y="3383280"/>
            <a:ext cx="3657600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3" name="Shape 41"/>
          <p:cNvSpPr/>
          <p:nvPr/>
        </p:nvSpPr>
        <p:spPr>
          <a:xfrm>
            <a:off x="4937760" y="3639312"/>
            <a:ext cx="73152" cy="7315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5166360" y="3566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系统配置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75120" y="35661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角色权限、通知规则、参数配置集中管理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入驻企业 — 企业服务中心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22960"/>
            <a:ext cx="36576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868680"/>
            <a:ext cx="320040" cy="320040"/>
          </a:xfrm>
          <a:prstGeom prst="ellipse">
            <a:avLst/>
          </a:prstGeom>
          <a:solidFill>
            <a:srgbClr val="D97706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850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诉求直达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随手拍提交诉求，支持文字+图片+定位，2小时内响应处理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37560" y="7315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822960"/>
            <a:ext cx="36576" cy="7315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868680"/>
            <a:ext cx="320040" cy="320040"/>
          </a:xfrm>
          <a:prstGeom prst="ellipse">
            <a:avLst/>
          </a:prstGeom>
          <a:solidFill>
            <a:srgbClr val="B45309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0" y="850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服务直达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234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天然气/水/电费在线缴费，一站式企业服务中心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17920" y="7315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822960"/>
            <a:ext cx="36576" cy="73152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868680"/>
            <a:ext cx="320040" cy="320040"/>
          </a:xfrm>
          <a:prstGeom prst="ellipse">
            <a:avLst/>
          </a:prstGeom>
          <a:solidFill>
            <a:srgbClr val="92400E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8503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园企交互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1234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在线沟通、通知公告、政策推送、双向互动沟通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21945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2286000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2860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企业入驻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线上申请、证照管理、入驻流程全线上化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468880" y="2697480"/>
            <a:ext cx="457200" cy="182880"/>
          </a:xfrm>
          <a:prstGeom prst="parallelogram">
            <a:avLst/>
          </a:prstGeom>
          <a:solidFill>
            <a:srgbClr val="FEF3C7"/>
          </a:solidFill>
          <a:ln/>
        </p:spPr>
      </p:sp>
      <p:sp>
        <p:nvSpPr>
          <p:cNvPr id="24" name="Shape 22"/>
          <p:cNvSpPr/>
          <p:nvPr/>
        </p:nvSpPr>
        <p:spPr>
          <a:xfrm>
            <a:off x="3337560" y="21945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29000" y="2286000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22860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信用评价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7472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企业信用多维度评价体系，助力融资与合作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349240" y="2697480"/>
            <a:ext cx="457200" cy="182880"/>
          </a:xfrm>
          <a:prstGeom prst="parallelogram">
            <a:avLst/>
          </a:prstGeom>
          <a:solidFill>
            <a:srgbClr val="FEF3C7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0" y="21945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2286000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22860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合同管理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5508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电子合同、签署、存档全流程管理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229600" y="2697480"/>
            <a:ext cx="457200" cy="182880"/>
          </a:xfrm>
          <a:prstGeom prst="parallelogram">
            <a:avLst/>
          </a:prstGeom>
          <a:solidFill>
            <a:srgbClr val="FEF3C7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320040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3291840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2918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资产管理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9436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企业资产盘点、入库、出库数字化管理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468880" y="3703320"/>
            <a:ext cx="457200" cy="182880"/>
          </a:xfrm>
          <a:prstGeom prst="parallelogram">
            <a:avLst/>
          </a:prstGeom>
          <a:solidFill>
            <a:srgbClr val="FEF3C7"/>
          </a:solidFill>
          <a:ln/>
        </p:spPr>
      </p:sp>
      <p:sp>
        <p:nvSpPr>
          <p:cNvPr id="39" name="Shape 37"/>
          <p:cNvSpPr/>
          <p:nvPr/>
        </p:nvSpPr>
        <p:spPr>
          <a:xfrm>
            <a:off x="3337560" y="320040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429000" y="3291840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41" name="Text 39"/>
          <p:cNvSpPr/>
          <p:nvPr/>
        </p:nvSpPr>
        <p:spPr>
          <a:xfrm>
            <a:off x="3429000" y="32918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数字证照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7472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电子营业执照、许可证上链管理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349240" y="3703320"/>
            <a:ext cx="457200" cy="182880"/>
          </a:xfrm>
          <a:prstGeom prst="parallelogram">
            <a:avLst/>
          </a:prstGeom>
          <a:solidFill>
            <a:srgbClr val="FEF3C7"/>
          </a:solidFill>
          <a:ln/>
        </p:spPr>
      </p:sp>
      <p:sp>
        <p:nvSpPr>
          <p:cNvPr id="44" name="Shape 42"/>
          <p:cNvSpPr/>
          <p:nvPr/>
        </p:nvSpPr>
        <p:spPr>
          <a:xfrm>
            <a:off x="6217920" y="320040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309360" y="3291840"/>
            <a:ext cx="822960" cy="2286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</p:sp>
      <p:sp>
        <p:nvSpPr>
          <p:cNvPr id="46" name="Text 44"/>
          <p:cNvSpPr/>
          <p:nvPr/>
        </p:nvSpPr>
        <p:spPr>
          <a:xfrm>
            <a:off x="6309360" y="32918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员工管理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5508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入职/离职、加班/\u8bf7假、工资管理完善体系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229600" y="3703320"/>
            <a:ext cx="457200" cy="182880"/>
          </a:xfrm>
          <a:prstGeom prst="parallelogram">
            <a:avLst/>
          </a:prstGeom>
          <a:solidFill>
            <a:srgbClr val="FEF3C7"/>
          </a:solidFill>
          <a:ln/>
        </p:spPr>
      </p:sp>
      <p:sp>
        <p:nvSpPr>
          <p:cNvPr id="49" name="Shape 47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0" name="Text 48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入驻企业 — 供需对接与物流服务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914400"/>
            <a:ext cx="73152" cy="7315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503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物流供需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园区货源+返程空车+车辆资源智能匹配，每张卡片带联系方式，支持多条件筛选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58368" y="1554480"/>
            <a:ext cx="18288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4592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1783080"/>
            <a:ext cx="73152" cy="7315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7190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特色供需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965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青川山珍等9种特色产品展示与供需对接，直接联系供应商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58368" y="2423160"/>
            <a:ext cx="18288" cy="914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51460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651760"/>
            <a:ext cx="73152" cy="73152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5877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供应商管理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834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供应商/生产商/运输商完善管理体系，合作关系维护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777240"/>
            <a:ext cx="4114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8412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商业服务模块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097280"/>
            <a:ext cx="4114800" cy="182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Shape 19"/>
          <p:cNvSpPr/>
          <p:nvPr/>
        </p:nvSpPr>
        <p:spPr>
          <a:xfrm>
            <a:off x="4937760" y="1280160"/>
            <a:ext cx="54864" cy="548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12344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数字化活动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12344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招标/竞价/审批全流程线上化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37760" y="1719072"/>
            <a:ext cx="54864" cy="548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16733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客户管理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0" y="167335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客户关系维护、商机追踪、合同执行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937760" y="2157984"/>
            <a:ext cx="54864" cy="548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21122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电子名片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211226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企业员工电子名片快速分享，一键保存联系人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37760" y="2596896"/>
            <a:ext cx="54864" cy="548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255117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微信推广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255117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园区微信小程序快速推广与使用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333756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34015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停车服务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36393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高德地图导航+实时余位查看+在线缴费，全园区停车位统一管理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33756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4015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政策推送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46320" y="36393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惠企政策精准匹配，主动推送补贴/减免/人才等政策，对接每年超20亿专项资金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入驻企业 — 场馆、活动与餐饮服务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31520"/>
            <a:ext cx="5029200" cy="36576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502920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777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场馆服务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23444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34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多功能会议厅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10512" y="123444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1810512" y="1234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展览厅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26664" y="123444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3026664" y="1234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体育馆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42816" y="123444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4242816" y="1234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培训教室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4360" y="178308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1783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会议室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10512" y="178308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19" name="Text 17"/>
          <p:cNvSpPr/>
          <p:nvPr/>
        </p:nvSpPr>
        <p:spPr>
          <a:xfrm>
            <a:off x="1810512" y="1783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接待厅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026664" y="178308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3026664" y="1783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多媒体厅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242816" y="178308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/>
        </p:spPr>
      </p:sp>
      <p:sp>
        <p:nvSpPr>
          <p:cNvPr id="23" name="Text 21"/>
          <p:cNvSpPr/>
          <p:nvPr/>
        </p:nvSpPr>
        <p:spPr>
          <a:xfrm>
            <a:off x="4242816" y="1783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园区广场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60720" y="731520"/>
            <a:ext cx="3017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97880" y="804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园区活动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89320" y="1179576"/>
            <a:ext cx="45720" cy="457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11430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文体活动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89320" y="1380744"/>
            <a:ext cx="45720" cy="457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13441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培训讲座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989320" y="1581912"/>
            <a:ext cx="45720" cy="457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154533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公益活动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989320" y="1783080"/>
            <a:ext cx="45720" cy="457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17465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交流聚会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989320" y="1984248"/>
            <a:ext cx="45720" cy="457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6172200" y="194767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节庆活动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989320" y="2185416"/>
            <a:ext cx="45720" cy="457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6172200" y="21488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展览展示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27889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0080" y="28529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园区餐饮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30906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流动卡片展示6家餐厅，20+道菜品一览，支持分类筛选、今日菜单查看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" y="3474720"/>
            <a:ext cx="1097280" cy="201168"/>
          </a:xfrm>
          <a:prstGeom prst="roundRect">
            <a:avLst>
              <a:gd name="adj" fmla="val 13636"/>
            </a:avLst>
          </a:prstGeom>
          <a:solidFill>
            <a:srgbClr val="FEF3C7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34747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菜品一览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663440" y="27889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846320" y="28529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用工信息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46320" y="30906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招聘+岗位匹配，支持分类筛选，帮助企业快速解决用工问题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46320" y="3474720"/>
            <a:ext cx="1097280" cy="201168"/>
          </a:xfrm>
          <a:prstGeom prst="roundRect">
            <a:avLst>
              <a:gd name="adj" fmla="val 13636"/>
            </a:avLst>
          </a:prstGeom>
          <a:solidFill>
            <a:srgbClr val="FEF3C7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34747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招聘信息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9" name="Text 47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入驻企业 — 缴费服务与审批流程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73152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2651760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777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天然气缴费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在线查看气费账单、支付历史记录，支持多种支付方式在线缴费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920240"/>
            <a:ext cx="1371600" cy="182880"/>
          </a:xfrm>
          <a:prstGeom prst="roundRect">
            <a:avLst>
              <a:gd name="adj" fmla="val 15000"/>
            </a:avLst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20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在线缴费 &gt;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337560" y="7315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73152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7560" y="914400"/>
            <a:ext cx="2651760" cy="1828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777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自来水缴费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12344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实时查看用水量、水费账单，支持历史记录查询与线上缴费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0" y="1920240"/>
            <a:ext cx="1371600" cy="182880"/>
          </a:xfrm>
          <a:prstGeom prst="roundRect">
            <a:avLst>
              <a:gd name="adj" fmla="val 15000"/>
            </a:avLst>
          </a:prstGeom>
          <a:solidFill>
            <a:srgbClr val="CBD5E1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1920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在线缴费 &gt;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217920" y="7315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73152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914400"/>
            <a:ext cx="265176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777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电费缴费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12344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智能表计实时监控用电量，在线缴费、用电分析一站式服务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55080" y="1920240"/>
            <a:ext cx="1371600" cy="182880"/>
          </a:xfrm>
          <a:prstGeom prst="roundRect">
            <a:avLst>
              <a:gd name="adj" fmla="val 15000"/>
            </a:avLst>
          </a:prstGeom>
          <a:solidFill>
            <a:srgbClr val="CBD5E1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1920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在线缴费 &gt;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57200" y="2423160"/>
            <a:ext cx="39319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2487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审批流程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697480"/>
            <a:ext cx="39319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2862072"/>
            <a:ext cx="45720" cy="457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283464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园区审批中心：网络/物业/招商等多种审批流程线上化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0080" y="3200400"/>
            <a:ext cx="45720" cy="457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17296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项目点审批：企业项目点数据报送与审核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080" y="3538728"/>
            <a:ext cx="45720" cy="457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3511296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日报管理：企业日报填写、查看、审核全流程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0080" y="3877056"/>
            <a:ext cx="45720" cy="457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384962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工作报告：工作报告提交与审查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0080" y="4215384"/>
            <a:ext cx="45720" cy="457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18795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现场巡检：巡检任务分配、执行、记录全过程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2423160"/>
            <a:ext cx="41148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46320" y="24871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访客与门禁管理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63440" y="2697480"/>
            <a:ext cx="41148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1" name="Shape 39"/>
          <p:cNvSpPr/>
          <p:nvPr/>
        </p:nvSpPr>
        <p:spPr>
          <a:xfrm>
            <a:off x="4937760" y="2862072"/>
            <a:ext cx="54864" cy="548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5120640" y="28163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访客录入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55080" y="28163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预约、登记、拜访记录全线上化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937760" y="3200400"/>
            <a:ext cx="54864" cy="548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5" name="Text 43"/>
          <p:cNvSpPr/>
          <p:nvPr/>
        </p:nvSpPr>
        <p:spPr>
          <a:xfrm>
            <a:off x="5120640" y="3154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车牌管理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55080" y="31546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多车牌管理，智能识别与放行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937760" y="3538728"/>
            <a:ext cx="54864" cy="548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8" name="Text 46"/>
          <p:cNvSpPr/>
          <p:nvPr/>
        </p:nvSpPr>
        <p:spPr>
          <a:xfrm>
            <a:off x="5120640" y="34930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门禁管理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55080" y="34930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人员/车辆门禁统一管控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937760" y="3877056"/>
            <a:ext cx="54864" cy="548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1" name="Text 49"/>
          <p:cNvSpPr/>
          <p:nvPr/>
        </p:nvSpPr>
        <p:spPr>
          <a:xfrm>
            <a:off x="5120640" y="38313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访客统计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55080" y="38313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人员/车辆访客趋势分析与统计卡片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937760" y="4215384"/>
            <a:ext cx="54864" cy="5486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4" name="Text 52"/>
          <p:cNvSpPr/>
          <p:nvPr/>
        </p:nvSpPr>
        <p:spPr>
          <a:xfrm>
            <a:off x="5120640" y="41696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停车余位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55080" y="416966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实时查看停车位余位并线上缴费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7" name="Text 55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入驻企业 — 展示与招商引资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822960"/>
            <a:ext cx="731520" cy="320040"/>
          </a:xfrm>
          <a:prstGeom prst="parallelogram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22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云展馆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企业形象线上展示，产品立体展示，支持多媒体内容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920240"/>
            <a:ext cx="731520" cy="45720"/>
          </a:xfrm>
          <a:prstGeom prst="roundRect">
            <a:avLst>
              <a:gd name="adj" fmla="val 40000"/>
            </a:avLst>
          </a:prstGeom>
          <a:solidFill>
            <a:srgbClr val="D97706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7315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822960"/>
            <a:ext cx="731520" cy="320040"/>
          </a:xfrm>
          <a:prstGeom prst="parallelogram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822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电子名片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0" y="1234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企业员工电子名片快速分享，一键保存联系人，提升商务效率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0" y="1920240"/>
            <a:ext cx="731520" cy="45720"/>
          </a:xfrm>
          <a:prstGeom prst="roundRect">
            <a:avLst>
              <a:gd name="adj" fmla="val 40000"/>
            </a:avLst>
          </a:prstGeom>
          <a:solidFill>
            <a:srgbClr val="B45309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7315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822960"/>
            <a:ext cx="731520" cy="320040"/>
          </a:xfrm>
          <a:prstGeom prst="parallelogram">
            <a:avLst/>
          </a:prstGeom>
          <a:solidFill>
            <a:srgbClr val="92400E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8229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园区宣传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55080" y="1234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园区概况、发展历程、优势产业、合作案例多维度展示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55080" y="1920240"/>
            <a:ext cx="731520" cy="45720"/>
          </a:xfrm>
          <a:prstGeom prst="roundRect">
            <a:avLst>
              <a:gd name="adj" fmla="val 40000"/>
            </a:avLst>
          </a:prstGeom>
          <a:solidFill>
            <a:srgbClr val="92400E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33172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239572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目标企业挖掘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393192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670048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多维数据源+智能算法自动推荐与园区产业高度匹配的目标企业，实现精准招商引资。基于产业链、资金、技术、地理等多维度算法评分，智能推荐接触时机与招商策略。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33172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2395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投资项目管理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2606040"/>
            <a:ext cx="41148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67004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招商项目全生命周期管理，从接触到签约全流程线上化。招商数据多维度分析报告，包括转化率、合约金额、产业聚集度等关键指标。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703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园区重点企业（9家）：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4005072"/>
            <a:ext cx="36576" cy="3657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3977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阜成新材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240280" y="4005072"/>
            <a:ext cx="36576" cy="3657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2313432" y="3977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虹昌晶体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840480" y="4005072"/>
            <a:ext cx="36576" cy="3657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3913632" y="3977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中能建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440680" y="4005072"/>
            <a:ext cx="36576" cy="3657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5513832" y="3977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佳兴铝业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040880" y="4005072"/>
            <a:ext cx="36576" cy="3657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7114032" y="3977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星恒青源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40080" y="4279392"/>
            <a:ext cx="36576" cy="3657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713232" y="42519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九旭新材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240280" y="4279392"/>
            <a:ext cx="36576" cy="3657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2313432" y="42519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华纳实业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840480" y="4279392"/>
            <a:ext cx="36576" cy="3657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4" name="Text 42"/>
          <p:cNvSpPr/>
          <p:nvPr/>
        </p:nvSpPr>
        <p:spPr>
          <a:xfrm>
            <a:off x="3913632" y="42519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新通鑫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440680" y="4279392"/>
            <a:ext cx="36576" cy="3657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6" name="Text 44"/>
          <p:cNvSpPr/>
          <p:nvPr/>
        </p:nvSpPr>
        <p:spPr>
          <a:xfrm>
            <a:off x="5513832" y="42519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广袂新材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8" name="Text 46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公众用户 — 信息服务与园区参与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749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园区信息中心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170432"/>
            <a:ext cx="54864" cy="548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11556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园区公告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1298448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实时查看园区通知（施工、检查、维护）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651760" y="109728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/>
        </p:spPr>
      </p:sp>
      <p:sp>
        <p:nvSpPr>
          <p:cNvPr id="11" name="Shape 9"/>
          <p:cNvSpPr/>
          <p:nvPr/>
        </p:nvSpPr>
        <p:spPr>
          <a:xfrm>
            <a:off x="2724912" y="1170432"/>
            <a:ext cx="54864" cy="548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11556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园区活动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24912" y="1298448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查看并参与文体/公益等活动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/>
        </p:spPr>
      </p:sp>
      <p:sp>
        <p:nvSpPr>
          <p:cNvPr id="15" name="Shape 13"/>
          <p:cNvSpPr/>
          <p:nvPr/>
        </p:nvSpPr>
        <p:spPr>
          <a:xfrm>
            <a:off x="4736592" y="1170432"/>
            <a:ext cx="54864" cy="548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11556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园区政策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36592" y="1298448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查看公开政策信息，了解园区发展动态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675120" y="1097280"/>
            <a:ext cx="1828800" cy="41148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/>
        </p:spPr>
      </p:sp>
      <p:sp>
        <p:nvSpPr>
          <p:cNvPr id="19" name="Shape 17"/>
          <p:cNvSpPr/>
          <p:nvPr/>
        </p:nvSpPr>
        <p:spPr>
          <a:xfrm>
            <a:off x="6748272" y="1170432"/>
            <a:ext cx="54864" cy="548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111556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信息发布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48272" y="1298448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园区发展成就、优势产业、合作案例多维度展示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7200" y="21945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2286000"/>
            <a:ext cx="36576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23042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园区餐饮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2578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浏览6家餐厅信息、今日菜单、价格与位置，支持分类筛选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5800" y="2971800"/>
            <a:ext cx="822960" cy="164592"/>
          </a:xfrm>
          <a:prstGeom prst="roundRect">
            <a:avLst>
              <a:gd name="adj" fmla="val 11111"/>
            </a:avLst>
          </a:prstGeom>
          <a:solidFill>
            <a:srgbClr val="EDE9FE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297180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查看详情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3337560" y="21945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29000" y="2286000"/>
            <a:ext cx="36576" cy="86868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23042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停车服务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566160" y="2578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地图查看停车位实时余位，在线缴费，支持多车牌管理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566160" y="2971800"/>
            <a:ext cx="822960" cy="164592"/>
          </a:xfrm>
          <a:prstGeom prst="roundRect">
            <a:avLst>
              <a:gd name="adj" fmla="val 11111"/>
            </a:avLst>
          </a:prstGeom>
          <a:solidFill>
            <a:srgbClr val="EDE9FE"/>
          </a:solidFill>
          <a:ln/>
        </p:spPr>
      </p:sp>
      <p:sp>
        <p:nvSpPr>
          <p:cNvPr id="33" name="Text 31"/>
          <p:cNvSpPr/>
          <p:nvPr/>
        </p:nvSpPr>
        <p:spPr>
          <a:xfrm>
            <a:off x="3566160" y="297180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查看详情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6217920" y="21945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09360" y="2286000"/>
            <a:ext cx="36576" cy="86868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23042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场馆服务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25786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浏览园区场馆信息，查看开放时间与在线预约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46520" y="2971800"/>
            <a:ext cx="822960" cy="164592"/>
          </a:xfrm>
          <a:prstGeom prst="roundRect">
            <a:avLst>
              <a:gd name="adj" fmla="val 11111"/>
            </a:avLst>
          </a:prstGeom>
          <a:solidFill>
            <a:srgbClr val="EDE9FE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297180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查看详情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457200" y="34290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8640" y="3520440"/>
            <a:ext cx="36576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35387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特色供需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5800" y="3813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浏览青川山珍等特色产品，直接联系供应商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85800" y="4206240"/>
            <a:ext cx="822960" cy="164592"/>
          </a:xfrm>
          <a:prstGeom prst="roundRect">
            <a:avLst>
              <a:gd name="adj" fmla="val 11111"/>
            </a:avLst>
          </a:prstGeom>
          <a:solidFill>
            <a:srgbClr val="EDE9FE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" y="420624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查看详情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3337560" y="34290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429000" y="3520440"/>
            <a:ext cx="36576" cy="86868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8" name="Text 46"/>
          <p:cNvSpPr/>
          <p:nvPr/>
        </p:nvSpPr>
        <p:spPr>
          <a:xfrm>
            <a:off x="3566160" y="35387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用工信息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566160" y="3813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查看园区企业招聘信息，岗位匹配，简历投递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566160" y="4206240"/>
            <a:ext cx="822960" cy="164592"/>
          </a:xfrm>
          <a:prstGeom prst="roundRect">
            <a:avLst>
              <a:gd name="adj" fmla="val 11111"/>
            </a:avLst>
          </a:prstGeom>
          <a:solidFill>
            <a:srgbClr val="EDE9FE"/>
          </a:solidFill>
          <a:ln/>
        </p:spPr>
      </p:sp>
      <p:sp>
        <p:nvSpPr>
          <p:cNvPr id="51" name="Text 49"/>
          <p:cNvSpPr/>
          <p:nvPr/>
        </p:nvSpPr>
        <p:spPr>
          <a:xfrm>
            <a:off x="3566160" y="420624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查看详情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3" name="Text 51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公众用户 — 生活服务与互动体验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50292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804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公众互动与参与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029200" cy="91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188720"/>
            <a:ext cx="2103120" cy="594360"/>
          </a:xfrm>
          <a:prstGeom prst="roundRect">
            <a:avLst>
              <a:gd name="adj" fmla="val 9231"/>
            </a:avLst>
          </a:prstGeom>
          <a:solidFill>
            <a:srgbClr val="F5F3FF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261872"/>
            <a:ext cx="54864" cy="548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234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园区广场展示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大屏宣传与信息发布，展示园区风采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926080" y="1188720"/>
            <a:ext cx="2103120" cy="594360"/>
          </a:xfrm>
          <a:prstGeom prst="roundRect">
            <a:avLst>
              <a:gd name="adj" fmla="val 9231"/>
            </a:avLst>
          </a:prstGeom>
          <a:solidFill>
            <a:srgbClr val="F5F3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999232" y="1261872"/>
            <a:ext cx="54864" cy="548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1234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99232" y="1463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快速接入智慧平台，便捷服务入口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" y="1920240"/>
            <a:ext cx="2103120" cy="594360"/>
          </a:xfrm>
          <a:prstGeom prst="roundRect">
            <a:avLst>
              <a:gd name="adj" fmla="val 9231"/>
            </a:avLst>
          </a:prstGeom>
          <a:solidFill>
            <a:srgbClr val="F5F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" y="1993392"/>
            <a:ext cx="54864" cy="548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1965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企业网站导航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194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园区企业网站集成导航，一键访问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926080" y="1920240"/>
            <a:ext cx="2103120" cy="594360"/>
          </a:xfrm>
          <a:prstGeom prst="roundRect">
            <a:avLst>
              <a:gd name="adj" fmla="val 9231"/>
            </a:avLst>
          </a:prstGeom>
          <a:solidFill>
            <a:srgbClr val="F5F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999232" y="1993392"/>
            <a:ext cx="54864" cy="548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3108960" y="19659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咨询投诉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99232" y="2194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在线咨询、投诉反馈，快速响应解决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" y="2651760"/>
            <a:ext cx="2103120" cy="594360"/>
          </a:xfrm>
          <a:prstGeom prst="roundRect">
            <a:avLst>
              <a:gd name="adj" fmla="val 9231"/>
            </a:avLst>
          </a:prstGeom>
          <a:solidFill>
            <a:srgbClr val="F5F3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13232" y="2724912"/>
            <a:ext cx="54864" cy="548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2697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数字化客服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智能客服+人工客服双通道，24小时在线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926080" y="2651760"/>
            <a:ext cx="2103120" cy="594360"/>
          </a:xfrm>
          <a:prstGeom prst="roundRect">
            <a:avLst>
              <a:gd name="adj" fmla="val 9231"/>
            </a:avLst>
          </a:prstGeom>
          <a:solidFill>
            <a:srgbClr val="F5F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999232" y="2724912"/>
            <a:ext cx="54864" cy="548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3108960" y="2697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社区互动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99232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园区社区论坛、意见征集、满意度调查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760720" y="731520"/>
            <a:ext cx="3017520" cy="3474720"/>
          </a:xfrm>
          <a:prstGeom prst="roundRect">
            <a:avLst>
              <a:gd name="adj" fmla="val 2424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897880" y="804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用户服务数据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760720" y="1051560"/>
            <a:ext cx="3017520" cy="9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1188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日均活动参与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498080" y="11704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120+人次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0" y="1444752"/>
            <a:ext cx="2651760" cy="45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0" y="161848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日均公告浏览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498080" y="16002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500+次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943600" y="1874520"/>
            <a:ext cx="2651760" cy="45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5943600" y="204825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场馆日均预约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98080" y="20299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80+次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943600" y="2304288"/>
            <a:ext cx="2651760" cy="45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0" y="247802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日均缴费交易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498080" y="24597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60+笔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943600" y="2734056"/>
            <a:ext cx="2651760" cy="45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0" y="290779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用工信息浏览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498080" y="28895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200+次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943600" y="3163824"/>
            <a:ext cx="2651760" cy="45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9" name="Text 47"/>
          <p:cNvSpPr/>
          <p:nvPr/>
        </p:nvSpPr>
        <p:spPr>
          <a:xfrm>
            <a:off x="5943600" y="3337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日均咨询量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498080" y="33192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40+条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943600" y="3593592"/>
            <a:ext cx="2651760" cy="45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2" name="Text 50"/>
          <p:cNvSpPr/>
          <p:nvPr/>
        </p:nvSpPr>
        <p:spPr>
          <a:xfrm>
            <a:off x="5943600" y="376732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满意度评分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498080" y="37490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4.8★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5943600" y="4023360"/>
            <a:ext cx="2651760" cy="45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5" name="Shape 53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6" name="Text 54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平台全功能矩阵一览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完整功能模块与四类角色覆盖关系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280160" cy="2286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858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554480" y="685800"/>
            <a:ext cx="1554480" cy="22860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6858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108960" y="685800"/>
            <a:ext cx="1554480" cy="228600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0" y="6858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663440" y="685800"/>
            <a:ext cx="1554480" cy="2286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6858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217920" y="685800"/>
            <a:ext cx="1554480" cy="2286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6858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7772400" y="685800"/>
            <a:ext cx="731520" cy="228600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6858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功能点数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74320" y="960120"/>
            <a:ext cx="12801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960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AI招商服务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1554480" y="96012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554480" y="960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108960" y="96012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108960" y="960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96012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960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96012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960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0" y="96012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0" y="960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74320" y="1234440"/>
            <a:ext cx="12801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1234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数字沙盘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1554480" y="123444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1554480" y="1234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108960" y="123444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3108960" y="1234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663440" y="123444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1234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217920" y="123444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1234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772400" y="1234440"/>
            <a:ext cx="7315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0" y="1234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74320" y="1508760"/>
            <a:ext cx="12801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" y="1508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产业链图谱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1554480" y="150876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1554480" y="1508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108960" y="150876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3108960" y="1508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663440" y="150876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1508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217920" y="150876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6217920" y="1508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772400" y="150876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7772400" y="1508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74320" y="1783080"/>
            <a:ext cx="12801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4" name="Text 52"/>
          <p:cNvSpPr/>
          <p:nvPr/>
        </p:nvSpPr>
        <p:spPr>
          <a:xfrm>
            <a:off x="320040" y="1783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目标企业挖掘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1554480" y="178308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1554480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3108960" y="178308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8" name="Text 56"/>
          <p:cNvSpPr/>
          <p:nvPr/>
        </p:nvSpPr>
        <p:spPr>
          <a:xfrm>
            <a:off x="3108960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663440" y="178308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0" name="Text 58"/>
          <p:cNvSpPr/>
          <p:nvPr/>
        </p:nvSpPr>
        <p:spPr>
          <a:xfrm>
            <a:off x="4663440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217920" y="178308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2" name="Text 60"/>
          <p:cNvSpPr/>
          <p:nvPr/>
        </p:nvSpPr>
        <p:spPr>
          <a:xfrm>
            <a:off x="6217920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7772400" y="1783080"/>
            <a:ext cx="7315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4" name="Text 62"/>
          <p:cNvSpPr/>
          <p:nvPr/>
        </p:nvSpPr>
        <p:spPr>
          <a:xfrm>
            <a:off x="7772400" y="1783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74320" y="2057400"/>
            <a:ext cx="12801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320040" y="20574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投资项目管理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1554480" y="205740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1554480" y="2057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3108960" y="205740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3108960" y="2057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4663440" y="205740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4663440" y="2057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6217920" y="205740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6217920" y="2057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7772400" y="205740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Text 74"/>
          <p:cNvSpPr/>
          <p:nvPr/>
        </p:nvSpPr>
        <p:spPr>
          <a:xfrm>
            <a:off x="7772400" y="2057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274320" y="2331720"/>
            <a:ext cx="12801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8" name="Text 76"/>
          <p:cNvSpPr/>
          <p:nvPr/>
        </p:nvSpPr>
        <p:spPr>
          <a:xfrm>
            <a:off x="320040" y="23317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招商入口/云展馆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1554480" y="233172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0" name="Text 78"/>
          <p:cNvSpPr/>
          <p:nvPr/>
        </p:nvSpPr>
        <p:spPr>
          <a:xfrm>
            <a:off x="1554480" y="2331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3108960" y="233172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2" name="Text 80"/>
          <p:cNvSpPr/>
          <p:nvPr/>
        </p:nvSpPr>
        <p:spPr>
          <a:xfrm>
            <a:off x="3108960" y="2331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4663440" y="233172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4" name="Text 82"/>
          <p:cNvSpPr/>
          <p:nvPr/>
        </p:nvSpPr>
        <p:spPr>
          <a:xfrm>
            <a:off x="4663440" y="2331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217920" y="233172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6" name="Text 84"/>
          <p:cNvSpPr/>
          <p:nvPr/>
        </p:nvSpPr>
        <p:spPr>
          <a:xfrm>
            <a:off x="6217920" y="23317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7772400" y="2331720"/>
            <a:ext cx="7315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8" name="Text 86"/>
          <p:cNvSpPr/>
          <p:nvPr/>
        </p:nvSpPr>
        <p:spPr>
          <a:xfrm>
            <a:off x="7772400" y="2331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274320" y="2606040"/>
            <a:ext cx="12801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0" name="Text 88"/>
          <p:cNvSpPr/>
          <p:nvPr/>
        </p:nvSpPr>
        <p:spPr>
          <a:xfrm>
            <a:off x="320040" y="2606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安全监控(天眼)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1554480" y="260604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Text 90"/>
          <p:cNvSpPr/>
          <p:nvPr/>
        </p:nvSpPr>
        <p:spPr>
          <a:xfrm>
            <a:off x="1554480" y="2606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3" name="Shape 91"/>
          <p:cNvSpPr/>
          <p:nvPr/>
        </p:nvSpPr>
        <p:spPr>
          <a:xfrm>
            <a:off x="3108960" y="260604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Text 92"/>
          <p:cNvSpPr/>
          <p:nvPr/>
        </p:nvSpPr>
        <p:spPr>
          <a:xfrm>
            <a:off x="3108960" y="2606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4663440" y="260604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6" name="Text 94"/>
          <p:cNvSpPr/>
          <p:nvPr/>
        </p:nvSpPr>
        <p:spPr>
          <a:xfrm>
            <a:off x="4663440" y="2606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6217920" y="260604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Text 96"/>
          <p:cNvSpPr/>
          <p:nvPr/>
        </p:nvSpPr>
        <p:spPr>
          <a:xfrm>
            <a:off x="6217920" y="2606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7772400" y="260604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0" name="Text 98"/>
          <p:cNvSpPr/>
          <p:nvPr/>
        </p:nvSpPr>
        <p:spPr>
          <a:xfrm>
            <a:off x="7772400" y="2606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274320" y="2880360"/>
            <a:ext cx="12801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2" name="Text 100"/>
          <p:cNvSpPr/>
          <p:nvPr/>
        </p:nvSpPr>
        <p:spPr>
          <a:xfrm>
            <a:off x="320040" y="28803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地灾监测(哨兵)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1554480" y="288036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4" name="Text 102"/>
          <p:cNvSpPr/>
          <p:nvPr/>
        </p:nvSpPr>
        <p:spPr>
          <a:xfrm>
            <a:off x="1554480" y="2880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05" name="Shape 103"/>
          <p:cNvSpPr/>
          <p:nvPr/>
        </p:nvSpPr>
        <p:spPr>
          <a:xfrm>
            <a:off x="3108960" y="288036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6" name="Text 104"/>
          <p:cNvSpPr/>
          <p:nvPr/>
        </p:nvSpPr>
        <p:spPr>
          <a:xfrm>
            <a:off x="3108960" y="2880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07" name="Shape 105"/>
          <p:cNvSpPr/>
          <p:nvPr/>
        </p:nvSpPr>
        <p:spPr>
          <a:xfrm>
            <a:off x="4663440" y="288036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8" name="Text 106"/>
          <p:cNvSpPr/>
          <p:nvPr/>
        </p:nvSpPr>
        <p:spPr>
          <a:xfrm>
            <a:off x="4663440" y="2880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09" name="Shape 107"/>
          <p:cNvSpPr/>
          <p:nvPr/>
        </p:nvSpPr>
        <p:spPr>
          <a:xfrm>
            <a:off x="6217920" y="288036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0" name="Text 108"/>
          <p:cNvSpPr/>
          <p:nvPr/>
        </p:nvSpPr>
        <p:spPr>
          <a:xfrm>
            <a:off x="6217920" y="2880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11" name="Shape 109"/>
          <p:cNvSpPr/>
          <p:nvPr/>
        </p:nvSpPr>
        <p:spPr>
          <a:xfrm>
            <a:off x="7772400" y="2880360"/>
            <a:ext cx="7315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2" name="Text 110"/>
          <p:cNvSpPr/>
          <p:nvPr/>
        </p:nvSpPr>
        <p:spPr>
          <a:xfrm>
            <a:off x="7772400" y="2880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274320" y="3154680"/>
            <a:ext cx="12801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Text 112"/>
          <p:cNvSpPr/>
          <p:nvPr/>
        </p:nvSpPr>
        <p:spPr>
          <a:xfrm>
            <a:off x="320040" y="3154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环保监测(慧眼)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1554480" y="315468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6" name="Text 114"/>
          <p:cNvSpPr/>
          <p:nvPr/>
        </p:nvSpPr>
        <p:spPr>
          <a:xfrm>
            <a:off x="1554480" y="3154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17" name="Shape 115"/>
          <p:cNvSpPr/>
          <p:nvPr/>
        </p:nvSpPr>
        <p:spPr>
          <a:xfrm>
            <a:off x="3108960" y="315468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8" name="Text 116"/>
          <p:cNvSpPr/>
          <p:nvPr/>
        </p:nvSpPr>
        <p:spPr>
          <a:xfrm>
            <a:off x="3108960" y="3154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19" name="Shape 117"/>
          <p:cNvSpPr/>
          <p:nvPr/>
        </p:nvSpPr>
        <p:spPr>
          <a:xfrm>
            <a:off x="4663440" y="315468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0" name="Text 118"/>
          <p:cNvSpPr/>
          <p:nvPr/>
        </p:nvSpPr>
        <p:spPr>
          <a:xfrm>
            <a:off x="4663440" y="3154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21" name="Shape 119"/>
          <p:cNvSpPr/>
          <p:nvPr/>
        </p:nvSpPr>
        <p:spPr>
          <a:xfrm>
            <a:off x="6217920" y="315468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2" name="Text 120"/>
          <p:cNvSpPr/>
          <p:nvPr/>
        </p:nvSpPr>
        <p:spPr>
          <a:xfrm>
            <a:off x="6217920" y="3154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23" name="Shape 121"/>
          <p:cNvSpPr/>
          <p:nvPr/>
        </p:nvSpPr>
        <p:spPr>
          <a:xfrm>
            <a:off x="7772400" y="315468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4" name="Text 122"/>
          <p:cNvSpPr/>
          <p:nvPr/>
        </p:nvSpPr>
        <p:spPr>
          <a:xfrm>
            <a:off x="7772400" y="3154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274320" y="3429000"/>
            <a:ext cx="12801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6" name="Text 124"/>
          <p:cNvSpPr/>
          <p:nvPr/>
        </p:nvSpPr>
        <p:spPr>
          <a:xfrm>
            <a:off x="320040" y="3429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视频监控总览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1554480" y="342900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8" name="Text 126"/>
          <p:cNvSpPr/>
          <p:nvPr/>
        </p:nvSpPr>
        <p:spPr>
          <a:xfrm>
            <a:off x="1554480" y="3429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29" name="Shape 127"/>
          <p:cNvSpPr/>
          <p:nvPr/>
        </p:nvSpPr>
        <p:spPr>
          <a:xfrm>
            <a:off x="3108960" y="342900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0" name="Text 128"/>
          <p:cNvSpPr/>
          <p:nvPr/>
        </p:nvSpPr>
        <p:spPr>
          <a:xfrm>
            <a:off x="3108960" y="3429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31" name="Shape 129"/>
          <p:cNvSpPr/>
          <p:nvPr/>
        </p:nvSpPr>
        <p:spPr>
          <a:xfrm>
            <a:off x="4663440" y="342900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2" name="Text 130"/>
          <p:cNvSpPr/>
          <p:nvPr/>
        </p:nvSpPr>
        <p:spPr>
          <a:xfrm>
            <a:off x="4663440" y="3429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133" name="Shape 131"/>
          <p:cNvSpPr/>
          <p:nvPr/>
        </p:nvSpPr>
        <p:spPr>
          <a:xfrm>
            <a:off x="6217920" y="342900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4" name="Text 132"/>
          <p:cNvSpPr/>
          <p:nvPr/>
        </p:nvSpPr>
        <p:spPr>
          <a:xfrm>
            <a:off x="6217920" y="3429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35" name="Shape 133"/>
          <p:cNvSpPr/>
          <p:nvPr/>
        </p:nvSpPr>
        <p:spPr>
          <a:xfrm>
            <a:off x="7772400" y="3429000"/>
            <a:ext cx="7315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6" name="Text 134"/>
          <p:cNvSpPr/>
          <p:nvPr/>
        </p:nvSpPr>
        <p:spPr>
          <a:xfrm>
            <a:off x="7772400" y="3429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274320" y="3703320"/>
            <a:ext cx="12801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8" name="Text 136"/>
          <p:cNvSpPr/>
          <p:nvPr/>
        </p:nvSpPr>
        <p:spPr>
          <a:xfrm>
            <a:off x="320040" y="37033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应急指挥联动</a:t>
            </a:r>
            <a:endParaRPr lang="en-US" sz="650" dirty="0"/>
          </a:p>
        </p:txBody>
      </p:sp>
      <p:sp>
        <p:nvSpPr>
          <p:cNvPr id="139" name="Shape 137"/>
          <p:cNvSpPr/>
          <p:nvPr/>
        </p:nvSpPr>
        <p:spPr>
          <a:xfrm>
            <a:off x="1554480" y="370332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0" name="Text 138"/>
          <p:cNvSpPr/>
          <p:nvPr/>
        </p:nvSpPr>
        <p:spPr>
          <a:xfrm>
            <a:off x="1554480" y="3703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41" name="Shape 139"/>
          <p:cNvSpPr/>
          <p:nvPr/>
        </p:nvSpPr>
        <p:spPr>
          <a:xfrm>
            <a:off x="3108960" y="370332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2" name="Text 140"/>
          <p:cNvSpPr/>
          <p:nvPr/>
        </p:nvSpPr>
        <p:spPr>
          <a:xfrm>
            <a:off x="3108960" y="3703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43" name="Shape 141"/>
          <p:cNvSpPr/>
          <p:nvPr/>
        </p:nvSpPr>
        <p:spPr>
          <a:xfrm>
            <a:off x="4663440" y="370332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4" name="Text 142"/>
          <p:cNvSpPr/>
          <p:nvPr/>
        </p:nvSpPr>
        <p:spPr>
          <a:xfrm>
            <a:off x="4663440" y="3703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45" name="Shape 143"/>
          <p:cNvSpPr/>
          <p:nvPr/>
        </p:nvSpPr>
        <p:spPr>
          <a:xfrm>
            <a:off x="6217920" y="370332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6" name="Text 144"/>
          <p:cNvSpPr/>
          <p:nvPr/>
        </p:nvSpPr>
        <p:spPr>
          <a:xfrm>
            <a:off x="6217920" y="3703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47" name="Shape 145"/>
          <p:cNvSpPr/>
          <p:nvPr/>
        </p:nvSpPr>
        <p:spPr>
          <a:xfrm>
            <a:off x="7772400" y="370332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8" name="Text 146"/>
          <p:cNvSpPr/>
          <p:nvPr/>
        </p:nvSpPr>
        <p:spPr>
          <a:xfrm>
            <a:off x="7772400" y="3703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274320" y="3977640"/>
            <a:ext cx="12801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0" name="Text 148"/>
          <p:cNvSpPr/>
          <p:nvPr/>
        </p:nvSpPr>
        <p:spPr>
          <a:xfrm>
            <a:off x="320040" y="3977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设备管理</a:t>
            </a:r>
            <a:endParaRPr lang="en-US" sz="650" dirty="0"/>
          </a:p>
        </p:txBody>
      </p:sp>
      <p:sp>
        <p:nvSpPr>
          <p:cNvPr id="151" name="Shape 149"/>
          <p:cNvSpPr/>
          <p:nvPr/>
        </p:nvSpPr>
        <p:spPr>
          <a:xfrm>
            <a:off x="1554480" y="397764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2" name="Text 150"/>
          <p:cNvSpPr/>
          <p:nvPr/>
        </p:nvSpPr>
        <p:spPr>
          <a:xfrm>
            <a:off x="1554480" y="3977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53" name="Shape 151"/>
          <p:cNvSpPr/>
          <p:nvPr/>
        </p:nvSpPr>
        <p:spPr>
          <a:xfrm>
            <a:off x="3108960" y="397764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4" name="Text 152"/>
          <p:cNvSpPr/>
          <p:nvPr/>
        </p:nvSpPr>
        <p:spPr>
          <a:xfrm>
            <a:off x="3108960" y="3977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55" name="Shape 153"/>
          <p:cNvSpPr/>
          <p:nvPr/>
        </p:nvSpPr>
        <p:spPr>
          <a:xfrm>
            <a:off x="4663440" y="397764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6" name="Text 154"/>
          <p:cNvSpPr/>
          <p:nvPr/>
        </p:nvSpPr>
        <p:spPr>
          <a:xfrm>
            <a:off x="4663440" y="3977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157" name="Shape 155"/>
          <p:cNvSpPr/>
          <p:nvPr/>
        </p:nvSpPr>
        <p:spPr>
          <a:xfrm>
            <a:off x="6217920" y="397764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8" name="Text 156"/>
          <p:cNvSpPr/>
          <p:nvPr/>
        </p:nvSpPr>
        <p:spPr>
          <a:xfrm>
            <a:off x="6217920" y="3977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159" name="Shape 157"/>
          <p:cNvSpPr/>
          <p:nvPr/>
        </p:nvSpPr>
        <p:spPr>
          <a:xfrm>
            <a:off x="7772400" y="3977640"/>
            <a:ext cx="7315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0" name="Text 158"/>
          <p:cNvSpPr/>
          <p:nvPr/>
        </p:nvSpPr>
        <p:spPr>
          <a:xfrm>
            <a:off x="7772400" y="3977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274320" y="4251960"/>
            <a:ext cx="12801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2" name="Text 160"/>
          <p:cNvSpPr/>
          <p:nvPr/>
        </p:nvSpPr>
        <p:spPr>
          <a:xfrm>
            <a:off x="320040" y="42519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诉求直达</a:t>
            </a:r>
            <a:endParaRPr lang="en-US" sz="650" dirty="0"/>
          </a:p>
        </p:txBody>
      </p:sp>
      <p:sp>
        <p:nvSpPr>
          <p:cNvPr id="163" name="Shape 161"/>
          <p:cNvSpPr/>
          <p:nvPr/>
        </p:nvSpPr>
        <p:spPr>
          <a:xfrm>
            <a:off x="1554480" y="425196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4" name="Text 162"/>
          <p:cNvSpPr/>
          <p:nvPr/>
        </p:nvSpPr>
        <p:spPr>
          <a:xfrm>
            <a:off x="1554480" y="4251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65" name="Shape 163"/>
          <p:cNvSpPr/>
          <p:nvPr/>
        </p:nvSpPr>
        <p:spPr>
          <a:xfrm>
            <a:off x="3108960" y="425196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6" name="Text 164"/>
          <p:cNvSpPr/>
          <p:nvPr/>
        </p:nvSpPr>
        <p:spPr>
          <a:xfrm>
            <a:off x="3108960" y="4251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67" name="Shape 165"/>
          <p:cNvSpPr/>
          <p:nvPr/>
        </p:nvSpPr>
        <p:spPr>
          <a:xfrm>
            <a:off x="4663440" y="425196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8" name="Text 166"/>
          <p:cNvSpPr/>
          <p:nvPr/>
        </p:nvSpPr>
        <p:spPr>
          <a:xfrm>
            <a:off x="4663440" y="4251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69" name="Shape 167"/>
          <p:cNvSpPr/>
          <p:nvPr/>
        </p:nvSpPr>
        <p:spPr>
          <a:xfrm>
            <a:off x="6217920" y="425196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0" name="Text 168"/>
          <p:cNvSpPr/>
          <p:nvPr/>
        </p:nvSpPr>
        <p:spPr>
          <a:xfrm>
            <a:off x="6217920" y="4251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71" name="Shape 169"/>
          <p:cNvSpPr/>
          <p:nvPr/>
        </p:nvSpPr>
        <p:spPr>
          <a:xfrm>
            <a:off x="7772400" y="425196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2" name="Text 170"/>
          <p:cNvSpPr/>
          <p:nvPr/>
        </p:nvSpPr>
        <p:spPr>
          <a:xfrm>
            <a:off x="7772400" y="4251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00" dirty="0"/>
          </a:p>
        </p:txBody>
      </p:sp>
      <p:sp>
        <p:nvSpPr>
          <p:cNvPr id="173" name="Shape 171"/>
          <p:cNvSpPr/>
          <p:nvPr/>
        </p:nvSpPr>
        <p:spPr>
          <a:xfrm>
            <a:off x="274320" y="4526280"/>
            <a:ext cx="12801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4" name="Text 172"/>
          <p:cNvSpPr/>
          <p:nvPr/>
        </p:nvSpPr>
        <p:spPr>
          <a:xfrm>
            <a:off x="320040" y="4526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服务直达</a:t>
            </a:r>
            <a:endParaRPr lang="en-US" sz="650" dirty="0"/>
          </a:p>
        </p:txBody>
      </p:sp>
      <p:sp>
        <p:nvSpPr>
          <p:cNvPr id="175" name="Shape 173"/>
          <p:cNvSpPr/>
          <p:nvPr/>
        </p:nvSpPr>
        <p:spPr>
          <a:xfrm>
            <a:off x="1554480" y="452628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6" name="Text 174"/>
          <p:cNvSpPr/>
          <p:nvPr/>
        </p:nvSpPr>
        <p:spPr>
          <a:xfrm>
            <a:off x="1554480" y="4526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177" name="Shape 175"/>
          <p:cNvSpPr/>
          <p:nvPr/>
        </p:nvSpPr>
        <p:spPr>
          <a:xfrm>
            <a:off x="3108960" y="452628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8" name="Text 176"/>
          <p:cNvSpPr/>
          <p:nvPr/>
        </p:nvSpPr>
        <p:spPr>
          <a:xfrm>
            <a:off x="3108960" y="4526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79" name="Shape 177"/>
          <p:cNvSpPr/>
          <p:nvPr/>
        </p:nvSpPr>
        <p:spPr>
          <a:xfrm>
            <a:off x="4663440" y="452628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0" name="Text 178"/>
          <p:cNvSpPr/>
          <p:nvPr/>
        </p:nvSpPr>
        <p:spPr>
          <a:xfrm>
            <a:off x="4663440" y="4526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81" name="Shape 179"/>
          <p:cNvSpPr/>
          <p:nvPr/>
        </p:nvSpPr>
        <p:spPr>
          <a:xfrm>
            <a:off x="6217920" y="452628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2" name="Text 180"/>
          <p:cNvSpPr/>
          <p:nvPr/>
        </p:nvSpPr>
        <p:spPr>
          <a:xfrm>
            <a:off x="6217920" y="4526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83" name="Shape 181"/>
          <p:cNvSpPr/>
          <p:nvPr/>
        </p:nvSpPr>
        <p:spPr>
          <a:xfrm>
            <a:off x="7772400" y="4526280"/>
            <a:ext cx="7315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4" name="Text 182"/>
          <p:cNvSpPr/>
          <p:nvPr/>
        </p:nvSpPr>
        <p:spPr>
          <a:xfrm>
            <a:off x="7772400" y="4526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00" dirty="0"/>
          </a:p>
        </p:txBody>
      </p:sp>
      <p:sp>
        <p:nvSpPr>
          <p:cNvPr id="185" name="Shape 183"/>
          <p:cNvSpPr/>
          <p:nvPr/>
        </p:nvSpPr>
        <p:spPr>
          <a:xfrm>
            <a:off x="274320" y="4800600"/>
            <a:ext cx="12801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6" name="Text 184"/>
          <p:cNvSpPr/>
          <p:nvPr/>
        </p:nvSpPr>
        <p:spPr>
          <a:xfrm>
            <a:off x="320040" y="48006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缴费服务(气/水/电)</a:t>
            </a:r>
            <a:endParaRPr lang="en-US" sz="650" dirty="0"/>
          </a:p>
        </p:txBody>
      </p:sp>
      <p:sp>
        <p:nvSpPr>
          <p:cNvPr id="187" name="Shape 185"/>
          <p:cNvSpPr/>
          <p:nvPr/>
        </p:nvSpPr>
        <p:spPr>
          <a:xfrm>
            <a:off x="1554480" y="480060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8" name="Text 186"/>
          <p:cNvSpPr/>
          <p:nvPr/>
        </p:nvSpPr>
        <p:spPr>
          <a:xfrm>
            <a:off x="1554480" y="4800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189" name="Shape 187"/>
          <p:cNvSpPr/>
          <p:nvPr/>
        </p:nvSpPr>
        <p:spPr>
          <a:xfrm>
            <a:off x="3108960" y="480060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0" name="Text 188"/>
          <p:cNvSpPr/>
          <p:nvPr/>
        </p:nvSpPr>
        <p:spPr>
          <a:xfrm>
            <a:off x="3108960" y="4800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191" name="Shape 189"/>
          <p:cNvSpPr/>
          <p:nvPr/>
        </p:nvSpPr>
        <p:spPr>
          <a:xfrm>
            <a:off x="4663440" y="480060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2" name="Text 190"/>
          <p:cNvSpPr/>
          <p:nvPr/>
        </p:nvSpPr>
        <p:spPr>
          <a:xfrm>
            <a:off x="4663440" y="4800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93" name="Shape 191"/>
          <p:cNvSpPr/>
          <p:nvPr/>
        </p:nvSpPr>
        <p:spPr>
          <a:xfrm>
            <a:off x="6217920" y="480060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4" name="Text 192"/>
          <p:cNvSpPr/>
          <p:nvPr/>
        </p:nvSpPr>
        <p:spPr>
          <a:xfrm>
            <a:off x="6217920" y="4800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195" name="Shape 193"/>
          <p:cNvSpPr/>
          <p:nvPr/>
        </p:nvSpPr>
        <p:spPr>
          <a:xfrm>
            <a:off x="7772400" y="480060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6" name="Text 194"/>
          <p:cNvSpPr/>
          <p:nvPr/>
        </p:nvSpPr>
        <p:spPr>
          <a:xfrm>
            <a:off x="7772400" y="4800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00" dirty="0"/>
          </a:p>
        </p:txBody>
      </p:sp>
      <p:sp>
        <p:nvSpPr>
          <p:cNvPr id="197" name="Shape 195"/>
          <p:cNvSpPr/>
          <p:nvPr/>
        </p:nvSpPr>
        <p:spPr>
          <a:xfrm>
            <a:off x="274320" y="5074920"/>
            <a:ext cx="12801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8" name="Text 196"/>
          <p:cNvSpPr/>
          <p:nvPr/>
        </p:nvSpPr>
        <p:spPr>
          <a:xfrm>
            <a:off x="320040" y="50749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园企交互</a:t>
            </a:r>
            <a:endParaRPr lang="en-US" sz="650" dirty="0"/>
          </a:p>
        </p:txBody>
      </p:sp>
      <p:sp>
        <p:nvSpPr>
          <p:cNvPr id="199" name="Shape 197"/>
          <p:cNvSpPr/>
          <p:nvPr/>
        </p:nvSpPr>
        <p:spPr>
          <a:xfrm>
            <a:off x="1554480" y="507492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0" name="Text 198"/>
          <p:cNvSpPr/>
          <p:nvPr/>
        </p:nvSpPr>
        <p:spPr>
          <a:xfrm>
            <a:off x="1554480" y="5074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01" name="Shape 199"/>
          <p:cNvSpPr/>
          <p:nvPr/>
        </p:nvSpPr>
        <p:spPr>
          <a:xfrm>
            <a:off x="3108960" y="507492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2" name="Text 200"/>
          <p:cNvSpPr/>
          <p:nvPr/>
        </p:nvSpPr>
        <p:spPr>
          <a:xfrm>
            <a:off x="3108960" y="5074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03" name="Shape 201"/>
          <p:cNvSpPr/>
          <p:nvPr/>
        </p:nvSpPr>
        <p:spPr>
          <a:xfrm>
            <a:off x="4663440" y="507492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4" name="Text 202"/>
          <p:cNvSpPr/>
          <p:nvPr/>
        </p:nvSpPr>
        <p:spPr>
          <a:xfrm>
            <a:off x="4663440" y="5074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05" name="Shape 203"/>
          <p:cNvSpPr/>
          <p:nvPr/>
        </p:nvSpPr>
        <p:spPr>
          <a:xfrm>
            <a:off x="6217920" y="507492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6" name="Text 204"/>
          <p:cNvSpPr/>
          <p:nvPr/>
        </p:nvSpPr>
        <p:spPr>
          <a:xfrm>
            <a:off x="6217920" y="5074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207" name="Shape 205"/>
          <p:cNvSpPr/>
          <p:nvPr/>
        </p:nvSpPr>
        <p:spPr>
          <a:xfrm>
            <a:off x="7772400" y="5074920"/>
            <a:ext cx="7315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8" name="Text 206"/>
          <p:cNvSpPr/>
          <p:nvPr/>
        </p:nvSpPr>
        <p:spPr>
          <a:xfrm>
            <a:off x="7772400" y="5074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00" dirty="0"/>
          </a:p>
        </p:txBody>
      </p:sp>
      <p:sp>
        <p:nvSpPr>
          <p:cNvPr id="209" name="Shape 207"/>
          <p:cNvSpPr/>
          <p:nvPr/>
        </p:nvSpPr>
        <p:spPr>
          <a:xfrm>
            <a:off x="274320" y="5349240"/>
            <a:ext cx="12801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0" name="Text 208"/>
          <p:cNvSpPr/>
          <p:nvPr/>
        </p:nvSpPr>
        <p:spPr>
          <a:xfrm>
            <a:off x="320040" y="5349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供需对接</a:t>
            </a:r>
            <a:endParaRPr lang="en-US" sz="650" dirty="0"/>
          </a:p>
        </p:txBody>
      </p:sp>
      <p:sp>
        <p:nvSpPr>
          <p:cNvPr id="211" name="Shape 209"/>
          <p:cNvSpPr/>
          <p:nvPr/>
        </p:nvSpPr>
        <p:spPr>
          <a:xfrm>
            <a:off x="1554480" y="534924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2" name="Text 210"/>
          <p:cNvSpPr/>
          <p:nvPr/>
        </p:nvSpPr>
        <p:spPr>
          <a:xfrm>
            <a:off x="1554480" y="5349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13" name="Shape 211"/>
          <p:cNvSpPr/>
          <p:nvPr/>
        </p:nvSpPr>
        <p:spPr>
          <a:xfrm>
            <a:off x="3108960" y="534924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4" name="Text 212"/>
          <p:cNvSpPr/>
          <p:nvPr/>
        </p:nvSpPr>
        <p:spPr>
          <a:xfrm>
            <a:off x="3108960" y="5349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15" name="Shape 213"/>
          <p:cNvSpPr/>
          <p:nvPr/>
        </p:nvSpPr>
        <p:spPr>
          <a:xfrm>
            <a:off x="4663440" y="534924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6" name="Text 214"/>
          <p:cNvSpPr/>
          <p:nvPr/>
        </p:nvSpPr>
        <p:spPr>
          <a:xfrm>
            <a:off x="4663440" y="5349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17" name="Shape 215"/>
          <p:cNvSpPr/>
          <p:nvPr/>
        </p:nvSpPr>
        <p:spPr>
          <a:xfrm>
            <a:off x="6217920" y="534924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8" name="Text 216"/>
          <p:cNvSpPr/>
          <p:nvPr/>
        </p:nvSpPr>
        <p:spPr>
          <a:xfrm>
            <a:off x="6217920" y="5349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219" name="Shape 217"/>
          <p:cNvSpPr/>
          <p:nvPr/>
        </p:nvSpPr>
        <p:spPr>
          <a:xfrm>
            <a:off x="7772400" y="534924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0" name="Text 218"/>
          <p:cNvSpPr/>
          <p:nvPr/>
        </p:nvSpPr>
        <p:spPr>
          <a:xfrm>
            <a:off x="7772400" y="5349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00" dirty="0"/>
          </a:p>
        </p:txBody>
      </p:sp>
      <p:sp>
        <p:nvSpPr>
          <p:cNvPr id="221" name="Shape 219"/>
          <p:cNvSpPr/>
          <p:nvPr/>
        </p:nvSpPr>
        <p:spPr>
          <a:xfrm>
            <a:off x="274320" y="5623560"/>
            <a:ext cx="12801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2" name="Text 220"/>
          <p:cNvSpPr/>
          <p:nvPr/>
        </p:nvSpPr>
        <p:spPr>
          <a:xfrm>
            <a:off x="320040" y="5623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政策推送</a:t>
            </a:r>
            <a:endParaRPr lang="en-US" sz="650" dirty="0"/>
          </a:p>
        </p:txBody>
      </p:sp>
      <p:sp>
        <p:nvSpPr>
          <p:cNvPr id="223" name="Shape 221"/>
          <p:cNvSpPr/>
          <p:nvPr/>
        </p:nvSpPr>
        <p:spPr>
          <a:xfrm>
            <a:off x="1554480" y="562356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4" name="Text 222"/>
          <p:cNvSpPr/>
          <p:nvPr/>
        </p:nvSpPr>
        <p:spPr>
          <a:xfrm>
            <a:off x="1554480" y="5623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25" name="Shape 223"/>
          <p:cNvSpPr/>
          <p:nvPr/>
        </p:nvSpPr>
        <p:spPr>
          <a:xfrm>
            <a:off x="3108960" y="562356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6" name="Text 224"/>
          <p:cNvSpPr/>
          <p:nvPr/>
        </p:nvSpPr>
        <p:spPr>
          <a:xfrm>
            <a:off x="3108960" y="5623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27" name="Shape 225"/>
          <p:cNvSpPr/>
          <p:nvPr/>
        </p:nvSpPr>
        <p:spPr>
          <a:xfrm>
            <a:off x="4663440" y="562356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8" name="Text 226"/>
          <p:cNvSpPr/>
          <p:nvPr/>
        </p:nvSpPr>
        <p:spPr>
          <a:xfrm>
            <a:off x="4663440" y="5623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29" name="Shape 227"/>
          <p:cNvSpPr/>
          <p:nvPr/>
        </p:nvSpPr>
        <p:spPr>
          <a:xfrm>
            <a:off x="6217920" y="562356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0" name="Text 228"/>
          <p:cNvSpPr/>
          <p:nvPr/>
        </p:nvSpPr>
        <p:spPr>
          <a:xfrm>
            <a:off x="6217920" y="5623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231" name="Shape 229"/>
          <p:cNvSpPr/>
          <p:nvPr/>
        </p:nvSpPr>
        <p:spPr>
          <a:xfrm>
            <a:off x="7772400" y="5623560"/>
            <a:ext cx="7315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2" name="Text 230"/>
          <p:cNvSpPr/>
          <p:nvPr/>
        </p:nvSpPr>
        <p:spPr>
          <a:xfrm>
            <a:off x="7772400" y="5623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00" dirty="0"/>
          </a:p>
        </p:txBody>
      </p:sp>
      <p:sp>
        <p:nvSpPr>
          <p:cNvPr id="233" name="Shape 231"/>
          <p:cNvSpPr/>
          <p:nvPr/>
        </p:nvSpPr>
        <p:spPr>
          <a:xfrm>
            <a:off x="274320" y="5897880"/>
            <a:ext cx="12801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4" name="Text 232"/>
          <p:cNvSpPr/>
          <p:nvPr/>
        </p:nvSpPr>
        <p:spPr>
          <a:xfrm>
            <a:off x="320040" y="5897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场馆/活动/餐饮</a:t>
            </a:r>
            <a:endParaRPr lang="en-US" sz="650" dirty="0"/>
          </a:p>
        </p:txBody>
      </p:sp>
      <p:sp>
        <p:nvSpPr>
          <p:cNvPr id="235" name="Shape 233"/>
          <p:cNvSpPr/>
          <p:nvPr/>
        </p:nvSpPr>
        <p:spPr>
          <a:xfrm>
            <a:off x="1554480" y="589788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6" name="Text 234"/>
          <p:cNvSpPr/>
          <p:nvPr/>
        </p:nvSpPr>
        <p:spPr>
          <a:xfrm>
            <a:off x="1554480" y="5897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237" name="Shape 235"/>
          <p:cNvSpPr/>
          <p:nvPr/>
        </p:nvSpPr>
        <p:spPr>
          <a:xfrm>
            <a:off x="3108960" y="589788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8" name="Text 236"/>
          <p:cNvSpPr/>
          <p:nvPr/>
        </p:nvSpPr>
        <p:spPr>
          <a:xfrm>
            <a:off x="3108960" y="5897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39" name="Shape 237"/>
          <p:cNvSpPr/>
          <p:nvPr/>
        </p:nvSpPr>
        <p:spPr>
          <a:xfrm>
            <a:off x="4663440" y="589788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0" name="Text 238"/>
          <p:cNvSpPr/>
          <p:nvPr/>
        </p:nvSpPr>
        <p:spPr>
          <a:xfrm>
            <a:off x="4663440" y="5897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41" name="Shape 239"/>
          <p:cNvSpPr/>
          <p:nvPr/>
        </p:nvSpPr>
        <p:spPr>
          <a:xfrm>
            <a:off x="6217920" y="589788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2" name="Text 240"/>
          <p:cNvSpPr/>
          <p:nvPr/>
        </p:nvSpPr>
        <p:spPr>
          <a:xfrm>
            <a:off x="6217920" y="5897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43" name="Shape 241"/>
          <p:cNvSpPr/>
          <p:nvPr/>
        </p:nvSpPr>
        <p:spPr>
          <a:xfrm>
            <a:off x="7772400" y="589788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4" name="Text 242"/>
          <p:cNvSpPr/>
          <p:nvPr/>
        </p:nvSpPr>
        <p:spPr>
          <a:xfrm>
            <a:off x="7772400" y="5897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00" dirty="0"/>
          </a:p>
        </p:txBody>
      </p:sp>
      <p:sp>
        <p:nvSpPr>
          <p:cNvPr id="245" name="Shape 243"/>
          <p:cNvSpPr/>
          <p:nvPr/>
        </p:nvSpPr>
        <p:spPr>
          <a:xfrm>
            <a:off x="274320" y="6172200"/>
            <a:ext cx="12801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6" name="Text 244"/>
          <p:cNvSpPr/>
          <p:nvPr/>
        </p:nvSpPr>
        <p:spPr>
          <a:xfrm>
            <a:off x="320040" y="6172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停车服务</a:t>
            </a:r>
            <a:endParaRPr lang="en-US" sz="650" dirty="0"/>
          </a:p>
        </p:txBody>
      </p:sp>
      <p:sp>
        <p:nvSpPr>
          <p:cNvPr id="247" name="Shape 245"/>
          <p:cNvSpPr/>
          <p:nvPr/>
        </p:nvSpPr>
        <p:spPr>
          <a:xfrm>
            <a:off x="1554480" y="617220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8" name="Text 246"/>
          <p:cNvSpPr/>
          <p:nvPr/>
        </p:nvSpPr>
        <p:spPr>
          <a:xfrm>
            <a:off x="1554480" y="6172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249" name="Shape 247"/>
          <p:cNvSpPr/>
          <p:nvPr/>
        </p:nvSpPr>
        <p:spPr>
          <a:xfrm>
            <a:off x="3108960" y="617220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0" name="Text 248"/>
          <p:cNvSpPr/>
          <p:nvPr/>
        </p:nvSpPr>
        <p:spPr>
          <a:xfrm>
            <a:off x="3108960" y="6172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51" name="Shape 249"/>
          <p:cNvSpPr/>
          <p:nvPr/>
        </p:nvSpPr>
        <p:spPr>
          <a:xfrm>
            <a:off x="4663440" y="617220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2" name="Text 250"/>
          <p:cNvSpPr/>
          <p:nvPr/>
        </p:nvSpPr>
        <p:spPr>
          <a:xfrm>
            <a:off x="4663440" y="6172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53" name="Shape 251"/>
          <p:cNvSpPr/>
          <p:nvPr/>
        </p:nvSpPr>
        <p:spPr>
          <a:xfrm>
            <a:off x="6217920" y="617220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4" name="Text 252"/>
          <p:cNvSpPr/>
          <p:nvPr/>
        </p:nvSpPr>
        <p:spPr>
          <a:xfrm>
            <a:off x="6217920" y="6172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55" name="Shape 253"/>
          <p:cNvSpPr/>
          <p:nvPr/>
        </p:nvSpPr>
        <p:spPr>
          <a:xfrm>
            <a:off x="7772400" y="6172200"/>
            <a:ext cx="7315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6" name="Text 254"/>
          <p:cNvSpPr/>
          <p:nvPr/>
        </p:nvSpPr>
        <p:spPr>
          <a:xfrm>
            <a:off x="7772400" y="6172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00" dirty="0"/>
          </a:p>
        </p:txBody>
      </p:sp>
      <p:sp>
        <p:nvSpPr>
          <p:cNvPr id="257" name="Shape 255"/>
          <p:cNvSpPr/>
          <p:nvPr/>
        </p:nvSpPr>
        <p:spPr>
          <a:xfrm>
            <a:off x="274320" y="6446520"/>
            <a:ext cx="12801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8" name="Text 256"/>
          <p:cNvSpPr/>
          <p:nvPr/>
        </p:nvSpPr>
        <p:spPr>
          <a:xfrm>
            <a:off x="32004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用工信息</a:t>
            </a:r>
            <a:endParaRPr lang="en-US" sz="650" dirty="0"/>
          </a:p>
        </p:txBody>
      </p:sp>
      <p:sp>
        <p:nvSpPr>
          <p:cNvPr id="259" name="Shape 257"/>
          <p:cNvSpPr/>
          <p:nvPr/>
        </p:nvSpPr>
        <p:spPr>
          <a:xfrm>
            <a:off x="1554480" y="644652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0" name="Text 258"/>
          <p:cNvSpPr/>
          <p:nvPr/>
        </p:nvSpPr>
        <p:spPr>
          <a:xfrm>
            <a:off x="1554480" y="6446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61" name="Shape 259"/>
          <p:cNvSpPr/>
          <p:nvPr/>
        </p:nvSpPr>
        <p:spPr>
          <a:xfrm>
            <a:off x="3108960" y="644652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2" name="Text 260"/>
          <p:cNvSpPr/>
          <p:nvPr/>
        </p:nvSpPr>
        <p:spPr>
          <a:xfrm>
            <a:off x="3108960" y="6446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63" name="Shape 261"/>
          <p:cNvSpPr/>
          <p:nvPr/>
        </p:nvSpPr>
        <p:spPr>
          <a:xfrm>
            <a:off x="4663440" y="644652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4" name="Text 262"/>
          <p:cNvSpPr/>
          <p:nvPr/>
        </p:nvSpPr>
        <p:spPr>
          <a:xfrm>
            <a:off x="4663440" y="6446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65" name="Shape 263"/>
          <p:cNvSpPr/>
          <p:nvPr/>
        </p:nvSpPr>
        <p:spPr>
          <a:xfrm>
            <a:off x="6217920" y="644652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6" name="Text 264"/>
          <p:cNvSpPr/>
          <p:nvPr/>
        </p:nvSpPr>
        <p:spPr>
          <a:xfrm>
            <a:off x="6217920" y="6446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67" name="Shape 265"/>
          <p:cNvSpPr/>
          <p:nvPr/>
        </p:nvSpPr>
        <p:spPr>
          <a:xfrm>
            <a:off x="7772400" y="644652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8" name="Text 266"/>
          <p:cNvSpPr/>
          <p:nvPr/>
        </p:nvSpPr>
        <p:spPr>
          <a:xfrm>
            <a:off x="77724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00" dirty="0"/>
          </a:p>
        </p:txBody>
      </p:sp>
      <p:sp>
        <p:nvSpPr>
          <p:cNvPr id="269" name="Shape 267"/>
          <p:cNvSpPr/>
          <p:nvPr/>
        </p:nvSpPr>
        <p:spPr>
          <a:xfrm>
            <a:off x="274320" y="6720840"/>
            <a:ext cx="12801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0" name="Text 268"/>
          <p:cNvSpPr/>
          <p:nvPr/>
        </p:nvSpPr>
        <p:spPr>
          <a:xfrm>
            <a:off x="320040" y="6720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能效监测分析</a:t>
            </a:r>
            <a:endParaRPr lang="en-US" sz="650" dirty="0"/>
          </a:p>
        </p:txBody>
      </p:sp>
      <p:sp>
        <p:nvSpPr>
          <p:cNvPr id="271" name="Shape 269"/>
          <p:cNvSpPr/>
          <p:nvPr/>
        </p:nvSpPr>
        <p:spPr>
          <a:xfrm>
            <a:off x="1554480" y="672084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2" name="Text 270"/>
          <p:cNvSpPr/>
          <p:nvPr/>
        </p:nvSpPr>
        <p:spPr>
          <a:xfrm>
            <a:off x="1554480" y="6720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73" name="Shape 271"/>
          <p:cNvSpPr/>
          <p:nvPr/>
        </p:nvSpPr>
        <p:spPr>
          <a:xfrm>
            <a:off x="3108960" y="672084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4" name="Text 272"/>
          <p:cNvSpPr/>
          <p:nvPr/>
        </p:nvSpPr>
        <p:spPr>
          <a:xfrm>
            <a:off x="3108960" y="6720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75" name="Shape 273"/>
          <p:cNvSpPr/>
          <p:nvPr/>
        </p:nvSpPr>
        <p:spPr>
          <a:xfrm>
            <a:off x="4663440" y="672084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6" name="Text 274"/>
          <p:cNvSpPr/>
          <p:nvPr/>
        </p:nvSpPr>
        <p:spPr>
          <a:xfrm>
            <a:off x="4663440" y="6720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277" name="Shape 275"/>
          <p:cNvSpPr/>
          <p:nvPr/>
        </p:nvSpPr>
        <p:spPr>
          <a:xfrm>
            <a:off x="6217920" y="672084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8" name="Text 276"/>
          <p:cNvSpPr/>
          <p:nvPr/>
        </p:nvSpPr>
        <p:spPr>
          <a:xfrm>
            <a:off x="6217920" y="6720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279" name="Shape 277"/>
          <p:cNvSpPr/>
          <p:nvPr/>
        </p:nvSpPr>
        <p:spPr>
          <a:xfrm>
            <a:off x="7772400" y="6720840"/>
            <a:ext cx="7315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0" name="Text 278"/>
          <p:cNvSpPr/>
          <p:nvPr/>
        </p:nvSpPr>
        <p:spPr>
          <a:xfrm>
            <a:off x="7772400" y="6720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00" dirty="0"/>
          </a:p>
        </p:txBody>
      </p:sp>
      <p:sp>
        <p:nvSpPr>
          <p:cNvPr id="281" name="Shape 279"/>
          <p:cNvSpPr/>
          <p:nvPr/>
        </p:nvSpPr>
        <p:spPr>
          <a:xfrm>
            <a:off x="274320" y="6995160"/>
            <a:ext cx="12801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2" name="Text 280"/>
          <p:cNvSpPr/>
          <p:nvPr/>
        </p:nvSpPr>
        <p:spPr>
          <a:xfrm>
            <a:off x="320040" y="6995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亩均论英雄</a:t>
            </a:r>
            <a:endParaRPr lang="en-US" sz="650" dirty="0"/>
          </a:p>
        </p:txBody>
      </p:sp>
      <p:sp>
        <p:nvSpPr>
          <p:cNvPr id="283" name="Shape 281"/>
          <p:cNvSpPr/>
          <p:nvPr/>
        </p:nvSpPr>
        <p:spPr>
          <a:xfrm>
            <a:off x="1554480" y="699516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4" name="Text 282"/>
          <p:cNvSpPr/>
          <p:nvPr/>
        </p:nvSpPr>
        <p:spPr>
          <a:xfrm>
            <a:off x="1554480" y="6995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85" name="Shape 283"/>
          <p:cNvSpPr/>
          <p:nvPr/>
        </p:nvSpPr>
        <p:spPr>
          <a:xfrm>
            <a:off x="3108960" y="699516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6" name="Text 284"/>
          <p:cNvSpPr/>
          <p:nvPr/>
        </p:nvSpPr>
        <p:spPr>
          <a:xfrm>
            <a:off x="3108960" y="6995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87" name="Shape 285"/>
          <p:cNvSpPr/>
          <p:nvPr/>
        </p:nvSpPr>
        <p:spPr>
          <a:xfrm>
            <a:off x="4663440" y="699516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8" name="Text 286"/>
          <p:cNvSpPr/>
          <p:nvPr/>
        </p:nvSpPr>
        <p:spPr>
          <a:xfrm>
            <a:off x="4663440" y="6995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289" name="Shape 287"/>
          <p:cNvSpPr/>
          <p:nvPr/>
        </p:nvSpPr>
        <p:spPr>
          <a:xfrm>
            <a:off x="6217920" y="699516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0" name="Text 288"/>
          <p:cNvSpPr/>
          <p:nvPr/>
        </p:nvSpPr>
        <p:spPr>
          <a:xfrm>
            <a:off x="6217920" y="69951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291" name="Shape 289"/>
          <p:cNvSpPr/>
          <p:nvPr/>
        </p:nvSpPr>
        <p:spPr>
          <a:xfrm>
            <a:off x="7772400" y="699516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2" name="Text 290"/>
          <p:cNvSpPr/>
          <p:nvPr/>
        </p:nvSpPr>
        <p:spPr>
          <a:xfrm>
            <a:off x="7772400" y="6995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00" dirty="0"/>
          </a:p>
        </p:txBody>
      </p:sp>
      <p:sp>
        <p:nvSpPr>
          <p:cNvPr id="293" name="Shape 291"/>
          <p:cNvSpPr/>
          <p:nvPr/>
        </p:nvSpPr>
        <p:spPr>
          <a:xfrm>
            <a:off x="274320" y="7269480"/>
            <a:ext cx="12801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4" name="Text 292"/>
          <p:cNvSpPr/>
          <p:nvPr/>
        </p:nvSpPr>
        <p:spPr>
          <a:xfrm>
            <a:off x="320040" y="7269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</a:t>
            </a:r>
            <a:endParaRPr lang="en-US" sz="650" dirty="0"/>
          </a:p>
        </p:txBody>
      </p:sp>
      <p:sp>
        <p:nvSpPr>
          <p:cNvPr id="295" name="Shape 293"/>
          <p:cNvSpPr/>
          <p:nvPr/>
        </p:nvSpPr>
        <p:spPr>
          <a:xfrm>
            <a:off x="1554480" y="726948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6" name="Text 294"/>
          <p:cNvSpPr/>
          <p:nvPr/>
        </p:nvSpPr>
        <p:spPr>
          <a:xfrm>
            <a:off x="1554480" y="7269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97" name="Shape 295"/>
          <p:cNvSpPr/>
          <p:nvPr/>
        </p:nvSpPr>
        <p:spPr>
          <a:xfrm>
            <a:off x="3108960" y="726948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8" name="Text 296"/>
          <p:cNvSpPr/>
          <p:nvPr/>
        </p:nvSpPr>
        <p:spPr>
          <a:xfrm>
            <a:off x="3108960" y="7269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299" name="Shape 297"/>
          <p:cNvSpPr/>
          <p:nvPr/>
        </p:nvSpPr>
        <p:spPr>
          <a:xfrm>
            <a:off x="4663440" y="726948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0" name="Text 298"/>
          <p:cNvSpPr/>
          <p:nvPr/>
        </p:nvSpPr>
        <p:spPr>
          <a:xfrm>
            <a:off x="4663440" y="7269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301" name="Shape 299"/>
          <p:cNvSpPr/>
          <p:nvPr/>
        </p:nvSpPr>
        <p:spPr>
          <a:xfrm>
            <a:off x="6217920" y="726948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2" name="Text 300"/>
          <p:cNvSpPr/>
          <p:nvPr/>
        </p:nvSpPr>
        <p:spPr>
          <a:xfrm>
            <a:off x="6217920" y="7269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303" name="Shape 301"/>
          <p:cNvSpPr/>
          <p:nvPr/>
        </p:nvSpPr>
        <p:spPr>
          <a:xfrm>
            <a:off x="7772400" y="7269480"/>
            <a:ext cx="7315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4" name="Text 302"/>
          <p:cNvSpPr/>
          <p:nvPr/>
        </p:nvSpPr>
        <p:spPr>
          <a:xfrm>
            <a:off x="7772400" y="7269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00" dirty="0"/>
          </a:p>
        </p:txBody>
      </p:sp>
      <p:sp>
        <p:nvSpPr>
          <p:cNvPr id="305" name="Shape 303"/>
          <p:cNvSpPr/>
          <p:nvPr/>
        </p:nvSpPr>
        <p:spPr>
          <a:xfrm>
            <a:off x="274320" y="7543800"/>
            <a:ext cx="12801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6" name="Text 304"/>
          <p:cNvSpPr/>
          <p:nvPr/>
        </p:nvSpPr>
        <p:spPr>
          <a:xfrm>
            <a:off x="320040" y="7543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数字化办公</a:t>
            </a:r>
            <a:endParaRPr lang="en-US" sz="650" dirty="0"/>
          </a:p>
        </p:txBody>
      </p:sp>
      <p:sp>
        <p:nvSpPr>
          <p:cNvPr id="307" name="Shape 305"/>
          <p:cNvSpPr/>
          <p:nvPr/>
        </p:nvSpPr>
        <p:spPr>
          <a:xfrm>
            <a:off x="1554480" y="754380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8" name="Text 306"/>
          <p:cNvSpPr/>
          <p:nvPr/>
        </p:nvSpPr>
        <p:spPr>
          <a:xfrm>
            <a:off x="1554480" y="7543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309" name="Shape 307"/>
          <p:cNvSpPr/>
          <p:nvPr/>
        </p:nvSpPr>
        <p:spPr>
          <a:xfrm>
            <a:off x="3108960" y="754380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0" name="Text 308"/>
          <p:cNvSpPr/>
          <p:nvPr/>
        </p:nvSpPr>
        <p:spPr>
          <a:xfrm>
            <a:off x="3108960" y="7543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311" name="Shape 309"/>
          <p:cNvSpPr/>
          <p:nvPr/>
        </p:nvSpPr>
        <p:spPr>
          <a:xfrm>
            <a:off x="4663440" y="754380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2" name="Text 310"/>
          <p:cNvSpPr/>
          <p:nvPr/>
        </p:nvSpPr>
        <p:spPr>
          <a:xfrm>
            <a:off x="4663440" y="7543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313" name="Shape 311"/>
          <p:cNvSpPr/>
          <p:nvPr/>
        </p:nvSpPr>
        <p:spPr>
          <a:xfrm>
            <a:off x="6217920" y="754380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4" name="Text 312"/>
          <p:cNvSpPr/>
          <p:nvPr/>
        </p:nvSpPr>
        <p:spPr>
          <a:xfrm>
            <a:off x="6217920" y="7543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315" name="Shape 313"/>
          <p:cNvSpPr/>
          <p:nvPr/>
        </p:nvSpPr>
        <p:spPr>
          <a:xfrm>
            <a:off x="7772400" y="754380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6" name="Text 314"/>
          <p:cNvSpPr/>
          <p:nvPr/>
        </p:nvSpPr>
        <p:spPr>
          <a:xfrm>
            <a:off x="7772400" y="7543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00" dirty="0"/>
          </a:p>
        </p:txBody>
      </p:sp>
      <p:sp>
        <p:nvSpPr>
          <p:cNvPr id="317" name="Shape 315"/>
          <p:cNvSpPr/>
          <p:nvPr/>
        </p:nvSpPr>
        <p:spPr>
          <a:xfrm>
            <a:off x="274320" y="7818120"/>
            <a:ext cx="12801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8" name="Text 316"/>
          <p:cNvSpPr/>
          <p:nvPr/>
        </p:nvSpPr>
        <p:spPr>
          <a:xfrm>
            <a:off x="320040" y="7818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访客/门禁管理</a:t>
            </a:r>
            <a:endParaRPr lang="en-US" sz="650" dirty="0"/>
          </a:p>
        </p:txBody>
      </p:sp>
      <p:sp>
        <p:nvSpPr>
          <p:cNvPr id="319" name="Shape 317"/>
          <p:cNvSpPr/>
          <p:nvPr/>
        </p:nvSpPr>
        <p:spPr>
          <a:xfrm>
            <a:off x="1554480" y="781812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0" name="Text 318"/>
          <p:cNvSpPr/>
          <p:nvPr/>
        </p:nvSpPr>
        <p:spPr>
          <a:xfrm>
            <a:off x="1554480" y="7818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321" name="Shape 319"/>
          <p:cNvSpPr/>
          <p:nvPr/>
        </p:nvSpPr>
        <p:spPr>
          <a:xfrm>
            <a:off x="3108960" y="781812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2" name="Text 320"/>
          <p:cNvSpPr/>
          <p:nvPr/>
        </p:nvSpPr>
        <p:spPr>
          <a:xfrm>
            <a:off x="3108960" y="7818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323" name="Shape 321"/>
          <p:cNvSpPr/>
          <p:nvPr/>
        </p:nvSpPr>
        <p:spPr>
          <a:xfrm>
            <a:off x="4663440" y="781812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4" name="Text 322"/>
          <p:cNvSpPr/>
          <p:nvPr/>
        </p:nvSpPr>
        <p:spPr>
          <a:xfrm>
            <a:off x="4663440" y="7818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325" name="Shape 323"/>
          <p:cNvSpPr/>
          <p:nvPr/>
        </p:nvSpPr>
        <p:spPr>
          <a:xfrm>
            <a:off x="6217920" y="781812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6" name="Text 324"/>
          <p:cNvSpPr/>
          <p:nvPr/>
        </p:nvSpPr>
        <p:spPr>
          <a:xfrm>
            <a:off x="6217920" y="7818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327" name="Shape 325"/>
          <p:cNvSpPr/>
          <p:nvPr/>
        </p:nvSpPr>
        <p:spPr>
          <a:xfrm>
            <a:off x="7772400" y="7818120"/>
            <a:ext cx="7315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8" name="Text 326"/>
          <p:cNvSpPr/>
          <p:nvPr/>
        </p:nvSpPr>
        <p:spPr>
          <a:xfrm>
            <a:off x="7772400" y="7818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00" dirty="0"/>
          </a:p>
        </p:txBody>
      </p:sp>
      <p:sp>
        <p:nvSpPr>
          <p:cNvPr id="329" name="Shape 327"/>
          <p:cNvSpPr/>
          <p:nvPr/>
        </p:nvSpPr>
        <p:spPr>
          <a:xfrm>
            <a:off x="274320" y="8092440"/>
            <a:ext cx="12801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0" name="Text 328"/>
          <p:cNvSpPr/>
          <p:nvPr/>
        </p:nvSpPr>
        <p:spPr>
          <a:xfrm>
            <a:off x="320040" y="8092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云展馆/电子名片</a:t>
            </a:r>
            <a:endParaRPr lang="en-US" sz="650" dirty="0"/>
          </a:p>
        </p:txBody>
      </p:sp>
      <p:sp>
        <p:nvSpPr>
          <p:cNvPr id="331" name="Shape 329"/>
          <p:cNvSpPr/>
          <p:nvPr/>
        </p:nvSpPr>
        <p:spPr>
          <a:xfrm>
            <a:off x="1554480" y="809244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2" name="Text 330"/>
          <p:cNvSpPr/>
          <p:nvPr/>
        </p:nvSpPr>
        <p:spPr>
          <a:xfrm>
            <a:off x="1554480" y="8092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333" name="Shape 331"/>
          <p:cNvSpPr/>
          <p:nvPr/>
        </p:nvSpPr>
        <p:spPr>
          <a:xfrm>
            <a:off x="3108960" y="809244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4" name="Text 332"/>
          <p:cNvSpPr/>
          <p:nvPr/>
        </p:nvSpPr>
        <p:spPr>
          <a:xfrm>
            <a:off x="3108960" y="8092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335" name="Shape 333"/>
          <p:cNvSpPr/>
          <p:nvPr/>
        </p:nvSpPr>
        <p:spPr>
          <a:xfrm>
            <a:off x="4663440" y="809244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6" name="Text 334"/>
          <p:cNvSpPr/>
          <p:nvPr/>
        </p:nvSpPr>
        <p:spPr>
          <a:xfrm>
            <a:off x="4663440" y="8092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337" name="Shape 335"/>
          <p:cNvSpPr/>
          <p:nvPr/>
        </p:nvSpPr>
        <p:spPr>
          <a:xfrm>
            <a:off x="6217920" y="8092440"/>
            <a:ext cx="155448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8" name="Text 336"/>
          <p:cNvSpPr/>
          <p:nvPr/>
        </p:nvSpPr>
        <p:spPr>
          <a:xfrm>
            <a:off x="6217920" y="8092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400" dirty="0"/>
          </a:p>
        </p:txBody>
      </p:sp>
      <p:sp>
        <p:nvSpPr>
          <p:cNvPr id="339" name="Shape 337"/>
          <p:cNvSpPr/>
          <p:nvPr/>
        </p:nvSpPr>
        <p:spPr>
          <a:xfrm>
            <a:off x="7772400" y="809244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0" name="Text 338"/>
          <p:cNvSpPr/>
          <p:nvPr/>
        </p:nvSpPr>
        <p:spPr>
          <a:xfrm>
            <a:off x="7772400" y="8092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00" dirty="0"/>
          </a:p>
        </p:txBody>
      </p:sp>
      <p:sp>
        <p:nvSpPr>
          <p:cNvPr id="341" name="Shape 339"/>
          <p:cNvSpPr/>
          <p:nvPr/>
        </p:nvSpPr>
        <p:spPr>
          <a:xfrm>
            <a:off x="274320" y="8366760"/>
            <a:ext cx="128016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2" name="Text 340"/>
          <p:cNvSpPr/>
          <p:nvPr/>
        </p:nvSpPr>
        <p:spPr>
          <a:xfrm>
            <a:off x="320040" y="8366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园区宣传/公告</a:t>
            </a:r>
            <a:endParaRPr lang="en-US" sz="650" dirty="0"/>
          </a:p>
        </p:txBody>
      </p:sp>
      <p:sp>
        <p:nvSpPr>
          <p:cNvPr id="343" name="Shape 341"/>
          <p:cNvSpPr/>
          <p:nvPr/>
        </p:nvSpPr>
        <p:spPr>
          <a:xfrm>
            <a:off x="1554480" y="836676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4" name="Text 342"/>
          <p:cNvSpPr/>
          <p:nvPr/>
        </p:nvSpPr>
        <p:spPr>
          <a:xfrm>
            <a:off x="1554480" y="8366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345" name="Shape 343"/>
          <p:cNvSpPr/>
          <p:nvPr/>
        </p:nvSpPr>
        <p:spPr>
          <a:xfrm>
            <a:off x="3108960" y="836676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6" name="Text 344"/>
          <p:cNvSpPr/>
          <p:nvPr/>
        </p:nvSpPr>
        <p:spPr>
          <a:xfrm>
            <a:off x="3108960" y="8366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347" name="Shape 345"/>
          <p:cNvSpPr/>
          <p:nvPr/>
        </p:nvSpPr>
        <p:spPr>
          <a:xfrm>
            <a:off x="4663440" y="836676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8" name="Text 346"/>
          <p:cNvSpPr/>
          <p:nvPr/>
        </p:nvSpPr>
        <p:spPr>
          <a:xfrm>
            <a:off x="4663440" y="8366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349" name="Shape 347"/>
          <p:cNvSpPr/>
          <p:nvPr/>
        </p:nvSpPr>
        <p:spPr>
          <a:xfrm>
            <a:off x="6217920" y="8366760"/>
            <a:ext cx="155448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0" name="Text 348"/>
          <p:cNvSpPr/>
          <p:nvPr/>
        </p:nvSpPr>
        <p:spPr>
          <a:xfrm>
            <a:off x="6217920" y="8366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351" name="Shape 349"/>
          <p:cNvSpPr/>
          <p:nvPr/>
        </p:nvSpPr>
        <p:spPr>
          <a:xfrm>
            <a:off x="7772400" y="8366760"/>
            <a:ext cx="73152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2" name="Text 350"/>
          <p:cNvSpPr/>
          <p:nvPr/>
        </p:nvSpPr>
        <p:spPr>
          <a:xfrm>
            <a:off x="7772400" y="8366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00" dirty="0"/>
          </a:p>
        </p:txBody>
      </p:sp>
      <p:sp>
        <p:nvSpPr>
          <p:cNvPr id="353" name="Shape 351"/>
          <p:cNvSpPr/>
          <p:nvPr/>
        </p:nvSpPr>
        <p:spPr>
          <a:xfrm>
            <a:off x="457200" y="8686800"/>
            <a:ext cx="8229600" cy="182880"/>
          </a:xfrm>
          <a:prstGeom prst="roundRect">
            <a:avLst>
              <a:gd name="adj" fmla="val 20000"/>
            </a:avLst>
          </a:prstGeom>
          <a:solidFill>
            <a:srgbClr val="CBD5E1"/>
          </a:solidFill>
          <a:ln/>
        </p:spPr>
      </p:sp>
      <p:sp>
        <p:nvSpPr>
          <p:cNvPr id="354" name="Text 352"/>
          <p:cNvSpPr/>
          <p:nvPr/>
        </p:nvSpPr>
        <p:spPr>
          <a:xfrm>
            <a:off x="640080" y="86868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主要功能  ○ 辅助功能  — 无直接关联    总计38个功能点覆盖四大角色</a:t>
            </a:r>
            <a:endParaRPr lang="en-US" sz="800" dirty="0"/>
          </a:p>
        </p:txBody>
      </p:sp>
      <p:sp>
        <p:nvSpPr>
          <p:cNvPr id="355" name="Shape 353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6" name="Text 354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投资与效益分析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777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园区智慧化建设总投资概算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¥4,178,800.00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389120" y="1188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54864" cy="548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道路交通安全与地灾监控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¥1,580,000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0" y="2084832"/>
            <a:ext cx="2286000" cy="128016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0" y="2084832"/>
            <a:ext cx="868680" cy="12801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2011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2432304"/>
            <a:ext cx="54864" cy="548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359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重点口子环保监控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0" y="23591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¥428,600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0" y="2432304"/>
            <a:ext cx="2286000" cy="128016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0" y="2432304"/>
            <a:ext cx="228600" cy="12801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23591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2779776"/>
            <a:ext cx="54864" cy="548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7066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园区形象展示与AI招商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06240" y="27066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¥442,200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0" y="2779776"/>
            <a:ext cx="2286000" cy="128016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0" y="2779776"/>
            <a:ext cx="251460" cy="12801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270662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8640" y="3127248"/>
            <a:ext cx="54864" cy="548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0540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企业用能监测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06240" y="30540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¥348,000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0" y="3127248"/>
            <a:ext cx="2286000" cy="128016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</p:sp>
      <p:sp>
        <p:nvSpPr>
          <p:cNvPr id="30" name="Shape 28"/>
          <p:cNvSpPr/>
          <p:nvPr/>
        </p:nvSpPr>
        <p:spPr>
          <a:xfrm>
            <a:off x="5669280" y="3127248"/>
            <a:ext cx="182880" cy="12801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0" y="305409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" y="3474720"/>
            <a:ext cx="54864" cy="548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3401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智改数转赋能平台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06240" y="3401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¥280,000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0" y="3474720"/>
            <a:ext cx="2286000" cy="128016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</p:sp>
      <p:sp>
        <p:nvSpPr>
          <p:cNvPr id="36" name="Shape 34"/>
          <p:cNvSpPr/>
          <p:nvPr/>
        </p:nvSpPr>
        <p:spPr>
          <a:xfrm>
            <a:off x="5669280" y="3474720"/>
            <a:ext cx="160020" cy="12801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8046720" y="34015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8640" y="3822192"/>
            <a:ext cx="54864" cy="548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3749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一体化数字平台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20624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¥720,000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0" y="3822192"/>
            <a:ext cx="2286000" cy="128016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</p:sp>
      <p:sp>
        <p:nvSpPr>
          <p:cNvPr id="42" name="Shape 40"/>
          <p:cNvSpPr/>
          <p:nvPr/>
        </p:nvSpPr>
        <p:spPr>
          <a:xfrm>
            <a:off x="5669280" y="3822192"/>
            <a:ext cx="388620" cy="12801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8046720" y="3749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48640" y="4169664"/>
            <a:ext cx="54864" cy="548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40965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运营服务中心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206240" y="409651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¥380,000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69280" y="4169664"/>
            <a:ext cx="2286000" cy="128016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/>
        </p:spPr>
      </p:sp>
      <p:sp>
        <p:nvSpPr>
          <p:cNvPr id="48" name="Shape 46"/>
          <p:cNvSpPr/>
          <p:nvPr/>
        </p:nvSpPr>
        <p:spPr>
          <a:xfrm>
            <a:off x="5669280" y="4169664"/>
            <a:ext cx="205740" cy="12801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8046720" y="4096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57200" y="4572000"/>
            <a:ext cx="822960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4754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管理效率提升30%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606040" y="4754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应急响应提升60%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754880" y="4754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¥20亿+年对接专项资金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903720" y="4754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全园区监控覆盖率95%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503920" y="466344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6" name="Text 54"/>
          <p:cNvSpPr/>
          <p:nvPr/>
        </p:nvSpPr>
        <p:spPr>
          <a:xfrm>
            <a:off x="8503920" y="4663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4572000" cy="45720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1828800"/>
            <a:ext cx="3657600" cy="36576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以数字为帆，以智慧为桨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05840"/>
            <a:ext cx="457200" cy="365760"/>
          </a:xfrm>
          <a:prstGeom prst="parallelogram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05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960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AIoT深度融合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1887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引入物联网传感设备，实现万物互联、全域感知与智能控制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6002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691640"/>
            <a:ext cx="457200" cy="365760"/>
          </a:xfrm>
          <a:prstGeom prst="parallelogram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691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1645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数字孪生园区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18745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1:1三维建模，全要素、全时域可视化运营管理，沉浸式管控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377440"/>
            <a:ext cx="457200" cy="365760"/>
          </a:xfrm>
          <a:prstGeom prst="parallelogram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2331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Agent智能化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25603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智能客服、智能调度、智能预警，AI驱动园区自动化运营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063240"/>
            <a:ext cx="457200" cy="365760"/>
          </a:xfrm>
          <a:prstGeom prst="parallelogram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063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3017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产业大脑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32461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基于大数据与AI算法辅助产业招商决策，数据驱动发展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76200" dist="25400" dir="162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3749040"/>
            <a:ext cx="457200" cy="365760"/>
          </a:xfrm>
          <a:prstGeom prst="parallelogram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749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3703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跨园区协同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88720" y="39319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对接省市智慧平台，实现数据共享与业务协同，构建生态体系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389120"/>
            <a:ext cx="8229600" cy="182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驱动园区沿着“省级开发区→绿色园区→国家级经开区培育对象”的航向全速前进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0"/>
            <a:ext cx="5486400" cy="5486400"/>
          </a:xfrm>
          <a:prstGeom prst="ellipse">
            <a:avLst/>
          </a:prstGeom>
          <a:solidFill>
            <a:srgbClr val="1E3A5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-1828800"/>
            <a:ext cx="3657600" cy="36576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感谢聊听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840480" y="2011680"/>
            <a:ext cx="1463040" cy="3657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以数字为帆，以智慧为桨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青川县庄子上工业园区管委会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技术支持：青迅科技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地址：四川省广元市青川县竹园镇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青川县庄子上工业园区智慧平台汇报</dc:title>
  <dc:subject>PptxGenJS Presentation</dc:subject>
  <dc:creator>青迅科技</dc:creator>
  <cp:lastModifiedBy>青迅科技</cp:lastModifiedBy>
  <cp:revision>1</cp:revision>
  <dcterms:created xsi:type="dcterms:W3CDTF">2026-05-12T03:48:24Z</dcterms:created>
  <dcterms:modified xsi:type="dcterms:W3CDTF">2026-05-12T03:48:24Z</dcterms:modified>
</cp:coreProperties>
</file>