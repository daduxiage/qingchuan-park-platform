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3152"/>
            <a:ext cx="45720" cy="457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73152"/>
            <a:ext cx="45720" cy="457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73152"/>
            <a:ext cx="45720" cy="457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73152"/>
            <a:ext cx="45720" cy="457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73152"/>
            <a:ext cx="45720" cy="457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73152"/>
            <a:ext cx="45720" cy="457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73152"/>
            <a:ext cx="45720" cy="457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1" name="Shape 9"/>
          <p:cNvSpPr/>
          <p:nvPr/>
        </p:nvSpPr>
        <p:spPr>
          <a:xfrm>
            <a:off x="1965960" y="73152"/>
            <a:ext cx="45720" cy="457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822960"/>
            <a:ext cx="73152" cy="22860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青川县庄子上工业园区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智慧园区平台汇报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建设方案 · 功能展示 · 角色价值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329184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91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329184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3291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291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329184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291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四川省广元市青川县竹园镇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100" dirty="0"/>
          </a:p>
        </p:txBody>
      </p:sp>
      <p:pic>
        <p:nvPicPr>
          <p:cNvPr id="26" name="Image 0" descr="/Users/wangcaihua/WorkBuddy/20260427142154/slides/imgs/ai_smart_park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256032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060704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014984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10058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项目背景与战略定位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60704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1014984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0" y="10058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三步走创建路径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14538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14447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七大建设工程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49961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14538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0" y="14447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平台架构总览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1938528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189280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" y="18836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AI招商服务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938528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189280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18836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全域安全监控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237744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33172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232257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企业服务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377440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5" name="Text 33"/>
          <p:cNvSpPr/>
          <p:nvPr/>
        </p:nvSpPr>
        <p:spPr>
          <a:xfrm>
            <a:off x="4736592" y="233172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37760" y="232257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物流·特色·政策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2816352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77063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" y="27614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餐饮·停车·场馆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2816352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277063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37760" y="27614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活动·公告·用工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3255264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3209544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" y="32004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数据中心与能效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3255264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7" name="Text 45"/>
          <p:cNvSpPr/>
          <p:nvPr/>
        </p:nvSpPr>
        <p:spPr>
          <a:xfrm>
            <a:off x="4736592" y="3209544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37760" y="32004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投资概算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369417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0" name="Text 48"/>
          <p:cNvSpPr/>
          <p:nvPr/>
        </p:nvSpPr>
        <p:spPr>
          <a:xfrm>
            <a:off x="530352" y="364845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1520" y="36393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预期效益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3694176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3" name="Text 51"/>
          <p:cNvSpPr/>
          <p:nvPr/>
        </p:nvSpPr>
        <p:spPr>
          <a:xfrm>
            <a:off x="4736592" y="364845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37760" y="36393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四类角色功能矩阵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4133088"/>
            <a:ext cx="109728" cy="1097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08736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31520" y="40782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9" name="Text 5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项目背景与战略定位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青川县庄子上工业园区 · 四川省广元市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0515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E8F4FD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1143000"/>
            <a:ext cx="91440" cy="9144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097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青川县位于四川省北部边缘，川甘陕三省结合部，素有“金三角”之称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1325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庄子上工业园区规划面积2.1平方公里，已开发1.6平方公里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0574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41.6亿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2560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规上工业总产值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7889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0" y="1920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97480" y="20574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47家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651760" y="2560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27889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新增5家/年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920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0574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54880" y="2560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从业人员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27889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带动就业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1920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20574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7大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858000" y="2560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产业门类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27889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建材·新能源·新材料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战略定位：以智慧园区建设驱动庄子上工业园区能级跃升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66928" y="3785616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749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赋能创建：为申报省级经开区、绿色工业园区提供数据支撑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06908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566928" y="4105656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4069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赋能企业：打造‘智改数转’公共服务平台，破解转型难题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38912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66928" y="4425696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4389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赋能决策：构建园区数字大脑，实现一屏统览、一图统管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40916C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政府领导层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三步走创建路径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智慧园区项目贯穿始终的核心支撑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18872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2D6A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188720"/>
            <a:ext cx="54864" cy="96012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1371600"/>
            <a:ext cx="731520" cy="594360"/>
          </a:xfrm>
          <a:prstGeom prst="roundRect">
            <a:avLst>
              <a:gd name="adj" fmla="val 9231"/>
            </a:avLst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13716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91640" y="1261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省级经济开发区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16002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以‘智慧管理’为亮点，亩均论英雄评价体系、安全环保监控网络提供数据佐证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6968" y="2148840"/>
            <a:ext cx="0" cy="228600"/>
          </a:xfrm>
          <a:prstGeom prst="line">
            <a:avLst/>
          </a:prstGeom>
          <a:noFill/>
          <a:ln w="25400">
            <a:solidFill>
              <a:srgbClr val="409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37744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2D6A4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377440"/>
            <a:ext cx="54864" cy="9601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2560320"/>
            <a:ext cx="731520" cy="594360"/>
          </a:xfrm>
          <a:prstGeom prst="roundRect">
            <a:avLst>
              <a:gd name="adj" fmla="val 9231"/>
            </a:avLst>
          </a:prstGeom>
          <a:solidFill>
            <a:srgbClr val="2D8CF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5603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691640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省级/国家级绿色工业园区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91640" y="27889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以‘绿色数据’为实证，全覆盖能耗与污染源监测体系自动生成绿色绩效报告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968" y="3337560"/>
            <a:ext cx="0" cy="228600"/>
          </a:xfrm>
          <a:prstGeom prst="line">
            <a:avLst/>
          </a:prstGeom>
          <a:noFill/>
          <a:ln w="25400">
            <a:solidFill>
              <a:srgbClr val="2D8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56616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2D6A4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56616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3749040"/>
            <a:ext cx="731520" cy="59436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7490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691640" y="3639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国家级经济技术开发区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91640" y="39776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以‘创新生态’为驱动，智慧招商系统精准补强外资、外贸、研发等短板指标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七大建设工程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覆盖招商、企业、运营、管理全业务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097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097280"/>
            <a:ext cx="256032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1234440"/>
            <a:ext cx="320040" cy="3200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道路交通安全与地灾监控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1691640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1691640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1691640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2" name="Shape 20"/>
          <p:cNvSpPr/>
          <p:nvPr/>
        </p:nvSpPr>
        <p:spPr>
          <a:xfrm>
            <a:off x="3291840" y="1097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097280"/>
            <a:ext cx="256032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1234440"/>
            <a:ext cx="320040" cy="32004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重点口子环保监控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1691640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8" name="Shape 26"/>
          <p:cNvSpPr/>
          <p:nvPr/>
        </p:nvSpPr>
        <p:spPr>
          <a:xfrm>
            <a:off x="3703320" y="1691640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9" name="Shape 27"/>
          <p:cNvSpPr/>
          <p:nvPr/>
        </p:nvSpPr>
        <p:spPr>
          <a:xfrm>
            <a:off x="3840480" y="1691640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1097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09728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263640" y="12344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园区形象展示与AI招商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169164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537960" y="169164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6675120" y="169164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22860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2286000"/>
            <a:ext cx="2560320" cy="36576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40" name="Shape 38"/>
          <p:cNvSpPr/>
          <p:nvPr/>
        </p:nvSpPr>
        <p:spPr>
          <a:xfrm>
            <a:off x="594360" y="2423160"/>
            <a:ext cx="320040" cy="320040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1520" y="2880360"/>
            <a:ext cx="36576" cy="36576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44" name="Shape 42"/>
          <p:cNvSpPr/>
          <p:nvPr/>
        </p:nvSpPr>
        <p:spPr>
          <a:xfrm>
            <a:off x="868680" y="2880360"/>
            <a:ext cx="36576" cy="36576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5840" y="2880360"/>
            <a:ext cx="36576" cy="36576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46" name="Shape 44"/>
          <p:cNvSpPr/>
          <p:nvPr/>
        </p:nvSpPr>
        <p:spPr>
          <a:xfrm>
            <a:off x="3291840" y="22860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91840" y="2286000"/>
            <a:ext cx="2560320" cy="36576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48" name="Shape 46"/>
          <p:cNvSpPr/>
          <p:nvPr/>
        </p:nvSpPr>
        <p:spPr>
          <a:xfrm>
            <a:off x="3429000" y="2423160"/>
            <a:ext cx="320040" cy="320040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49" name="Text 47"/>
          <p:cNvSpPr/>
          <p:nvPr/>
        </p:nvSpPr>
        <p:spPr>
          <a:xfrm>
            <a:off x="34290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84048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智改数转企业赋能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566160" y="2880360"/>
            <a:ext cx="36576" cy="36576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52" name="Shape 50"/>
          <p:cNvSpPr/>
          <p:nvPr/>
        </p:nvSpPr>
        <p:spPr>
          <a:xfrm>
            <a:off x="3703320" y="2880360"/>
            <a:ext cx="36576" cy="36576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53" name="Shape 51"/>
          <p:cNvSpPr/>
          <p:nvPr/>
        </p:nvSpPr>
        <p:spPr>
          <a:xfrm>
            <a:off x="3840480" y="2880360"/>
            <a:ext cx="36576" cy="36576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54" name="Shape 52"/>
          <p:cNvSpPr/>
          <p:nvPr/>
        </p:nvSpPr>
        <p:spPr>
          <a:xfrm>
            <a:off x="6126480" y="22860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26480" y="2286000"/>
            <a:ext cx="2560320" cy="36576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56" name="Shape 54"/>
          <p:cNvSpPr/>
          <p:nvPr/>
        </p:nvSpPr>
        <p:spPr>
          <a:xfrm>
            <a:off x="6263640" y="2423160"/>
            <a:ext cx="320040" cy="320040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57" name="Text 55"/>
          <p:cNvSpPr/>
          <p:nvPr/>
        </p:nvSpPr>
        <p:spPr>
          <a:xfrm>
            <a:off x="626364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67512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一体化数字平台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0" y="2880360"/>
            <a:ext cx="36576" cy="36576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60" name="Shape 58"/>
          <p:cNvSpPr/>
          <p:nvPr/>
        </p:nvSpPr>
        <p:spPr>
          <a:xfrm>
            <a:off x="6537960" y="2880360"/>
            <a:ext cx="36576" cy="36576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61" name="Shape 59"/>
          <p:cNvSpPr/>
          <p:nvPr/>
        </p:nvSpPr>
        <p:spPr>
          <a:xfrm>
            <a:off x="6675120" y="2880360"/>
            <a:ext cx="36576" cy="36576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62" name="Shape 60"/>
          <p:cNvSpPr/>
          <p:nvPr/>
        </p:nvSpPr>
        <p:spPr>
          <a:xfrm>
            <a:off x="457200" y="34747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57200" y="3474720"/>
            <a:ext cx="2560320" cy="36576"/>
          </a:xfrm>
          <a:prstGeom prst="rect">
            <a:avLst/>
          </a:prstGeom>
          <a:solidFill>
            <a:srgbClr val="219653"/>
          </a:solidFill>
          <a:ln/>
        </p:spPr>
      </p:sp>
      <p:sp>
        <p:nvSpPr>
          <p:cNvPr id="64" name="Shape 62"/>
          <p:cNvSpPr/>
          <p:nvPr/>
        </p:nvSpPr>
        <p:spPr>
          <a:xfrm>
            <a:off x="594360" y="3611880"/>
            <a:ext cx="320040" cy="320040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65" name="Text 63"/>
          <p:cNvSpPr/>
          <p:nvPr/>
        </p:nvSpPr>
        <p:spPr>
          <a:xfrm>
            <a:off x="59436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00584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运营服务中心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31520" y="4069080"/>
            <a:ext cx="36576" cy="36576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68" name="Shape 66"/>
          <p:cNvSpPr/>
          <p:nvPr/>
        </p:nvSpPr>
        <p:spPr>
          <a:xfrm>
            <a:off x="868680" y="4069080"/>
            <a:ext cx="36576" cy="36576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69" name="Shape 67"/>
          <p:cNvSpPr/>
          <p:nvPr/>
        </p:nvSpPr>
        <p:spPr>
          <a:xfrm>
            <a:off x="1005840" y="4069080"/>
            <a:ext cx="36576" cy="36576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70" name="Shape 6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1" name="Text 6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一体化数字平台架构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 · 数据中台 · AI中台 · 数字孪生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09728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097280"/>
            <a:ext cx="196596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企业服务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169164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诉求直达（随手拍）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24028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服务直达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园企交互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33756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供需对接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109728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14600" y="1097280"/>
            <a:ext cx="196596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7" name="Text 25"/>
          <p:cNvSpPr/>
          <p:nvPr/>
        </p:nvSpPr>
        <p:spPr>
          <a:xfrm>
            <a:off x="2514600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园区运营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97480" y="1691640"/>
            <a:ext cx="54864" cy="54864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数字化审批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2240280"/>
            <a:ext cx="54864" cy="54864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日常巡检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97480" y="2788920"/>
            <a:ext cx="54864" cy="54864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3" name="Text 31"/>
          <p:cNvSpPr/>
          <p:nvPr/>
        </p:nvSpPr>
        <p:spPr>
          <a:xfrm>
            <a:off x="283464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资产管理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97480" y="3337560"/>
            <a:ext cx="54864" cy="54864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5" name="Text 33"/>
          <p:cNvSpPr/>
          <p:nvPr/>
        </p:nvSpPr>
        <p:spPr>
          <a:xfrm>
            <a:off x="283464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档案管理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109728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097280"/>
            <a:ext cx="19659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信息发布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169164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983480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用工·物流·特色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224028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政策·餐饮·停车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278892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场馆·活动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33756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园区公告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12280" y="109728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12280" y="1097280"/>
            <a:ext cx="1965960" cy="36576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49" name="Text 47"/>
          <p:cNvSpPr/>
          <p:nvPr/>
        </p:nvSpPr>
        <p:spPr>
          <a:xfrm>
            <a:off x="6812280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数据支撑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995160" y="1691640"/>
            <a:ext cx="54864" cy="54864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51" name="Text 49"/>
          <p:cNvSpPr/>
          <p:nvPr/>
        </p:nvSpPr>
        <p:spPr>
          <a:xfrm>
            <a:off x="7132320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12大三方系统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95160" y="2240280"/>
            <a:ext cx="54864" cy="54864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53" name="Text 51"/>
          <p:cNvSpPr/>
          <p:nvPr/>
        </p:nvSpPr>
        <p:spPr>
          <a:xfrm>
            <a:off x="713232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统一数据标准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95160" y="2788920"/>
            <a:ext cx="54864" cy="54864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55" name="Text 53"/>
          <p:cNvSpPr/>
          <p:nvPr/>
        </p:nvSpPr>
        <p:spPr>
          <a:xfrm>
            <a:off x="713232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统一认证中心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95160" y="3337560"/>
            <a:ext cx="54864" cy="54864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57" name="Text 55"/>
          <p:cNvSpPr/>
          <p:nvPr/>
        </p:nvSpPr>
        <p:spPr>
          <a:xfrm>
            <a:off x="713232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统一消息推送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389120"/>
            <a:ext cx="8412480" cy="0"/>
          </a:xfrm>
          <a:prstGeom prst="line">
            <a:avLst/>
          </a:prstGeom>
          <a:noFill/>
          <a:ln w="12700">
            <a:solidFill>
              <a:srgbClr val="F8FAF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60" name="Text 5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 · 智能招商大脑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AI精准匹配目标企业，基于产业链图谱智能推荐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3D数字沙盘展示园区规划与土地资源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全生命周期企业档案管理与画像分析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招商项目全流程数字化跟踪（线索→签约）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云展馆与电子名片，提升对外招商形象</a:t>
            </a:r>
            <a:endParaRPr lang="en-US" sz="1100" dirty="0"/>
          </a:p>
        </p:txBody>
      </p:sp>
      <p:pic>
        <p:nvPicPr>
          <p:cNvPr id="25" name="Image 0" descr="/Users/wangcaihua/WorkBuddy/20260427142154/slides/imgs/featured_su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40916C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政府领导层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全域安全监控 · 天眼+哨兵+慧眼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天眼：道路交通安全监控，智能摄像机全时覆盖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哨兵：地灾安全监测，滑坡、沉降实时预警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慧眼：环保监控检测，废气废水排放在线监测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视频监控总览：统一视频平台，16宫格智能排列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应急指挥联动：一键调度、预案管理、实时通讯</a:t>
            </a:r>
            <a:endParaRPr lang="en-US" sz="1100" dirty="0"/>
          </a:p>
        </p:txBody>
      </p:sp>
      <p:pic>
        <p:nvPicPr>
          <p:cNvPr id="25" name="Image 0" descr="/Users/wangcaihua/WorkBuddy/20260427142154/slides/imgs/info_publ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2D8CF0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园区管理层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企业服务 · 诉求直达与服务直达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诉求直达（随手拍）：文字+图片+定位快速提交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服务直达：天然气/水/电费在线缴纳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园企交互：在线沟通、通知公告、政策推送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供需对接：物流供需、特色供需智能匹配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全程透明：诉求进度实时可查、结果可评价</a:t>
            </a:r>
            <a:endParaRPr lang="en-US" sz="1100" dirty="0"/>
          </a:p>
        </p:txBody>
      </p:sp>
      <p:pic>
        <p:nvPicPr>
          <p:cNvPr id="25" name="Image 0" descr="/Users/wangcaihua/WorkBuddy/20260427142154/slides/imgs/info_publ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40916C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入驻企业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物流供需 · 货源+车源+返程空车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园区货源：企业货物运输需求发布与对接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返程空车：返程车辆信息展示，提高配货率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车辆资源：物流企业运力资源发布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每张卡片带联系方式、有效期、路线信息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三种类型卡片：园区货源/返程空车/车辆资源</a:t>
            </a:r>
            <a:endParaRPr lang="en-US" sz="1100" dirty="0"/>
          </a:p>
        </p:txBody>
      </p:sp>
      <p:pic>
        <p:nvPicPr>
          <p:cNvPr id="25" name="Image 0" descr="/Users/wangcaihua/WorkBuddy/20260427142154/slides/imgs/logistics_su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入驻企业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特色供需 · 青川山珍展示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9种青川特色农产品（黑木耳/天麻/竹荪等）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水平自动轮播画廊，hover暂停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每张卡片：联系方式、价格、标签、有效期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青川黑木耳为国家地理标志产品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支持分类筛选与关键词搜索</a:t>
            </a:r>
            <a:endParaRPr lang="en-US" sz="1100" dirty="0"/>
          </a:p>
        </p:txBody>
      </p:sp>
      <p:pic>
        <p:nvPicPr>
          <p:cNvPr id="25" name="Image 0" descr="/Users/wangcaihua/WorkBuddy/20260427142154/slides/imgs/featured_su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9B51E0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公众用户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园区政策 · 惠企精准推送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政策分类：补贴申报/收费减免/人才引进/税务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精准推送：根据企业类型自动匹配政策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15+条政策数据，支持搜索与筛选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热度标签（热门/新/执行中）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对接省级'智改数转'专项资金超20亿</a:t>
            </a:r>
            <a:endParaRPr lang="en-US" sz="1100" dirty="0"/>
          </a:p>
        </p:txBody>
      </p:sp>
      <p:pic>
        <p:nvPicPr>
          <p:cNvPr id="25" name="Image 0" descr="/Users/wangcaihua/WorkBuddy/20260427142154/slides/imgs/policy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40916C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入驻企业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园区餐饮 · 餐厅展示+今日菜单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6家园区餐厅水平滑动卡片展示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每家餐厅带SVG建筑背景和招牌标签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20+道菜品，4列网格展示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支持按套餐/面食/小炒/汤品/饮品分类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左侧边栏菜品分类快速筛选</a:t>
            </a:r>
            <a:endParaRPr lang="en-US" sz="1100" dirty="0"/>
          </a:p>
        </p:txBody>
      </p:sp>
      <p:pic>
        <p:nvPicPr>
          <p:cNvPr id="25" name="Image 0" descr="/Users/wangcaihua/WorkBuddy/20260427142154/slides/imgs/cat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EB5757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公众用户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停车服务 · 地图导航+实时余位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高德地图可视化展示停车位分布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实时余位数据，绿/黄/红状态标识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多个停车场切换查看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在线缴费与充值功能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青川县竹园镇本地停车场数据</a:t>
            </a:r>
            <a:endParaRPr lang="en-US" sz="1100" dirty="0"/>
          </a:p>
        </p:txBody>
      </p:sp>
      <p:pic>
        <p:nvPicPr>
          <p:cNvPr id="25" name="Image 0" descr="/Users/wangcaihua/WorkBuddy/20260427142154/slides/imgs/parking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入驻企业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965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场馆服务 · 会议/体育/培训/展示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8个场馆卡片，2列网格展示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每个场馆：图标+名称+位置+设施+价格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支持按会议/体育/培训/展示分类筛选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'立即预约'一键操作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C区综合楼、B区运动中心等本地场馆</a:t>
            </a:r>
            <a:endParaRPr lang="en-US" sz="1100" dirty="0"/>
          </a:p>
        </p:txBody>
      </p:sp>
      <p:pic>
        <p:nvPicPr>
          <p:cNvPr id="25" name="Image 0" descr="/Users/wangcaihua/WorkBuddy/20260427142154/slides/imgs/venue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219653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入驻企业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园区活动 · 文体/培训/公益/交流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8个活动卡片，渐变背景+emoji图标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状态标签：进行中/即将开始/筹备中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活动名+描述+地点+时间+标签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支持按类别筛选与关键词搜索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篮球联赛、安全竞赛、植树公益等活动</a:t>
            </a:r>
            <a:endParaRPr lang="en-US" sz="1100" dirty="0"/>
          </a:p>
        </p:txBody>
      </p:sp>
      <p:pic>
        <p:nvPicPr>
          <p:cNvPr id="25" name="Image 0" descr="/Users/wangcaihua/WorkBuddy/20260427142154/slides/imgs/activities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9B51E0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公众用户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B51E0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园区公告 · 实时通知发布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10条公告数据，支持分类筛选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标签：置顶/安全/新/通知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每条公告带标题+描述+日期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支持关键词搜索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主干道施工、消防检查、网络升级等实时通知</a:t>
            </a:r>
            <a:endParaRPr lang="en-US" sz="1100" dirty="0"/>
          </a:p>
        </p:txBody>
      </p:sp>
      <p:pic>
        <p:nvPicPr>
          <p:cNvPr id="25" name="Image 0" descr="/Users/wangcaihua/WorkBuddy/20260427142154/slides/imgs/notice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2D8CF0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公众用户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用工信息 · 招聘+岗位匹配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2471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8张岗位卡片，4列网格展示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41732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每张卡片：岗位名+状态+公司+薪资+招聘人数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2880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状态标签：招聘中/已招满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24028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岗位：研发工程师/操作工/品质主管等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7063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651760"/>
            <a:ext cx="43891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阜成新材、虹禾晶、中能建等园区企业</a:t>
            </a:r>
            <a:endParaRPr lang="en-US" sz="1100" dirty="0"/>
          </a:p>
        </p:txBody>
      </p:sp>
      <p:pic>
        <p:nvPicPr>
          <p:cNvPr id="25" name="Image 0" descr="/Users/wangcaihua/WorkBuddy/20260427142154/slides/imgs/employment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3840480" cy="4114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120640" y="457200"/>
            <a:ext cx="3840480" cy="4114800"/>
          </a:xfrm>
          <a:prstGeom prst="rect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40916C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公众用户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四类角色功能矩阵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每个角色可获取的功能全景图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00584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0058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57400" y="100584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1005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100584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2D8CF0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005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100584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1005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0" y="1005840"/>
            <a:ext cx="1691640" cy="320040"/>
          </a:xfrm>
          <a:prstGeom prst="roundRect">
            <a:avLst>
              <a:gd name="adj" fmla="val 11429"/>
            </a:avLst>
          </a:prstGeom>
          <a:solidFill>
            <a:srgbClr val="EB5757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005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1417320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4173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AI招商·数字沙盘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74520" y="1417320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011680" y="1508760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7" name="Text 25"/>
          <p:cNvSpPr/>
          <p:nvPr/>
        </p:nvSpPr>
        <p:spPr>
          <a:xfrm>
            <a:off x="2194560" y="14173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●决策支撑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1417320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703320" y="1508760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0" name="Text 28"/>
          <p:cNvSpPr/>
          <p:nvPr/>
        </p:nvSpPr>
        <p:spPr>
          <a:xfrm>
            <a:off x="3886200" y="14173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●数据管理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57800" y="1417320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394960" y="1508760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14173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○信息查看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49440" y="1417320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14173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1728216"/>
            <a:ext cx="150876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17282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安全监控·应急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74520" y="1728216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Shape 37"/>
          <p:cNvSpPr/>
          <p:nvPr/>
        </p:nvSpPr>
        <p:spPr>
          <a:xfrm>
            <a:off x="2011680" y="1819656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0" name="Text 38"/>
          <p:cNvSpPr/>
          <p:nvPr/>
        </p:nvSpPr>
        <p:spPr>
          <a:xfrm>
            <a:off x="2194560" y="17282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●监管总览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66160" y="1728216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3703320" y="1819656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3" name="Text 41"/>
          <p:cNvSpPr/>
          <p:nvPr/>
        </p:nvSpPr>
        <p:spPr>
          <a:xfrm>
            <a:off x="3886200" y="17282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●日常运维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7800" y="1728216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Shape 43"/>
          <p:cNvSpPr/>
          <p:nvPr/>
        </p:nvSpPr>
        <p:spPr>
          <a:xfrm>
            <a:off x="5394960" y="1819656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0" y="17282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○安全服务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49440" y="1728216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6"/>
          <p:cNvSpPr/>
          <p:nvPr/>
        </p:nvSpPr>
        <p:spPr>
          <a:xfrm>
            <a:off x="7086600" y="1819656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9" name="Text 47"/>
          <p:cNvSpPr/>
          <p:nvPr/>
        </p:nvSpPr>
        <p:spPr>
          <a:xfrm>
            <a:off x="7269480" y="17282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●安全信息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2039112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20391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企业服务·诉求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74520" y="2039112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2011680" y="213055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4" name="Text 52"/>
          <p:cNvSpPr/>
          <p:nvPr/>
        </p:nvSpPr>
        <p:spPr>
          <a:xfrm>
            <a:off x="2194560" y="203911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●效能分析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566160" y="2039112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3703320" y="213055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7" name="Text 55"/>
          <p:cNvSpPr/>
          <p:nvPr/>
        </p:nvSpPr>
        <p:spPr>
          <a:xfrm>
            <a:off x="3886200" y="203911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●流程管理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257800" y="2039112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5394960" y="213055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0" name="Text 58"/>
          <p:cNvSpPr/>
          <p:nvPr/>
        </p:nvSpPr>
        <p:spPr>
          <a:xfrm>
            <a:off x="5577840" y="203911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●核心使用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49440" y="2039112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7086600" y="2130552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7269480" y="203911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○投诉建议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2350008"/>
            <a:ext cx="150876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235000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物流供需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874520" y="2350008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Shape 65"/>
          <p:cNvSpPr/>
          <p:nvPr/>
        </p:nvSpPr>
        <p:spPr>
          <a:xfrm>
            <a:off x="2011680" y="2441448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8" name="Text 66"/>
          <p:cNvSpPr/>
          <p:nvPr/>
        </p:nvSpPr>
        <p:spPr>
          <a:xfrm>
            <a:off x="2194560" y="23500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○产业数据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566160" y="2350008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0" name="Shape 68"/>
          <p:cNvSpPr/>
          <p:nvPr/>
        </p:nvSpPr>
        <p:spPr>
          <a:xfrm>
            <a:off x="3703320" y="2441448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1" name="Text 69"/>
          <p:cNvSpPr/>
          <p:nvPr/>
        </p:nvSpPr>
        <p:spPr>
          <a:xfrm>
            <a:off x="3886200" y="23500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●运营调度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257800" y="2350008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3" name="Shape 71"/>
          <p:cNvSpPr/>
          <p:nvPr/>
        </p:nvSpPr>
        <p:spPr>
          <a:xfrm>
            <a:off x="5394960" y="2441448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4" name="Text 72"/>
          <p:cNvSpPr/>
          <p:nvPr/>
        </p:nvSpPr>
        <p:spPr>
          <a:xfrm>
            <a:off x="5577840" y="23500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●发布对接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949440" y="2350008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6" name="Shape 74"/>
          <p:cNvSpPr/>
          <p:nvPr/>
        </p:nvSpPr>
        <p:spPr>
          <a:xfrm>
            <a:off x="7086600" y="2441448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7" name="Text 75"/>
          <p:cNvSpPr/>
          <p:nvPr/>
        </p:nvSpPr>
        <p:spPr>
          <a:xfrm>
            <a:off x="7269480" y="23500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○信息查看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65760" y="2660904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457200" y="26609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特色供需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874520" y="2660904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2011680" y="2752344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2" name="Text 80"/>
          <p:cNvSpPr/>
          <p:nvPr/>
        </p:nvSpPr>
        <p:spPr>
          <a:xfrm>
            <a:off x="2194560" y="26609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●经济展示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566160" y="2660904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3703320" y="2752344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5" name="Text 83"/>
          <p:cNvSpPr/>
          <p:nvPr/>
        </p:nvSpPr>
        <p:spPr>
          <a:xfrm>
            <a:off x="3886200" y="26609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○数据统计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257800" y="2660904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5394960" y="2752344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8" name="Text 86"/>
          <p:cNvSpPr/>
          <p:nvPr/>
        </p:nvSpPr>
        <p:spPr>
          <a:xfrm>
            <a:off x="5577840" y="26609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●产品发布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949440" y="2660904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7086600" y="2752344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1" name="Text 89"/>
          <p:cNvSpPr/>
          <p:nvPr/>
        </p:nvSpPr>
        <p:spPr>
          <a:xfrm>
            <a:off x="7269480" y="26609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●浏览购买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65760" y="2971800"/>
            <a:ext cx="150876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3" name="Text 91"/>
          <p:cNvSpPr/>
          <p:nvPr/>
        </p:nvSpPr>
        <p:spPr>
          <a:xfrm>
            <a:off x="457200" y="29718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园区政策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1874520" y="2971800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5" name="Shape 93"/>
          <p:cNvSpPr/>
          <p:nvPr/>
        </p:nvSpPr>
        <p:spPr>
          <a:xfrm>
            <a:off x="2011680" y="3063240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6" name="Text 94"/>
          <p:cNvSpPr/>
          <p:nvPr/>
        </p:nvSpPr>
        <p:spPr>
          <a:xfrm>
            <a:off x="2194560" y="29718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●制定发布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566160" y="2971800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8" name="Shape 96"/>
          <p:cNvSpPr/>
          <p:nvPr/>
        </p:nvSpPr>
        <p:spPr>
          <a:xfrm>
            <a:off x="3703320" y="3063240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9" name="Text 97"/>
          <p:cNvSpPr/>
          <p:nvPr/>
        </p:nvSpPr>
        <p:spPr>
          <a:xfrm>
            <a:off x="3886200" y="29718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●执行监督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257800" y="2971800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1" name="Shape 99"/>
          <p:cNvSpPr/>
          <p:nvPr/>
        </p:nvSpPr>
        <p:spPr>
          <a:xfrm>
            <a:off x="5394960" y="3063240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2" name="Text 100"/>
          <p:cNvSpPr/>
          <p:nvPr/>
        </p:nvSpPr>
        <p:spPr>
          <a:xfrm>
            <a:off x="5577840" y="29718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●政策申报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949440" y="2971800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086600" y="3063240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5" name="Text 103"/>
          <p:cNvSpPr/>
          <p:nvPr/>
        </p:nvSpPr>
        <p:spPr>
          <a:xfrm>
            <a:off x="7269480" y="29718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○政策查阅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65760" y="3282696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xt 105"/>
          <p:cNvSpPr/>
          <p:nvPr/>
        </p:nvSpPr>
        <p:spPr>
          <a:xfrm>
            <a:off x="457200" y="32826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餐饮·停车·场馆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1874520" y="3282696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Text 107"/>
          <p:cNvSpPr/>
          <p:nvPr/>
        </p:nvSpPr>
        <p:spPr>
          <a:xfrm>
            <a:off x="2194560" y="32826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566160" y="3282696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703320" y="3374136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12" name="Text 110"/>
          <p:cNvSpPr/>
          <p:nvPr/>
        </p:nvSpPr>
        <p:spPr>
          <a:xfrm>
            <a:off x="3886200" y="32826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●运营管理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257800" y="3282696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394960" y="3374136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15" name="Text 113"/>
          <p:cNvSpPr/>
          <p:nvPr/>
        </p:nvSpPr>
        <p:spPr>
          <a:xfrm>
            <a:off x="5577840" y="32826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●在线使用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949440" y="3282696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086600" y="3374136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18" name="Text 116"/>
          <p:cNvSpPr/>
          <p:nvPr/>
        </p:nvSpPr>
        <p:spPr>
          <a:xfrm>
            <a:off x="7269480" y="32826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●预约预订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365760" y="3593592"/>
            <a:ext cx="150876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0" name="Text 118"/>
          <p:cNvSpPr/>
          <p:nvPr/>
        </p:nvSpPr>
        <p:spPr>
          <a:xfrm>
            <a:off x="457200" y="35935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活动·公告·用工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1874520" y="3593592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011680" y="368503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3" name="Text 121"/>
          <p:cNvSpPr/>
          <p:nvPr/>
        </p:nvSpPr>
        <p:spPr>
          <a:xfrm>
            <a:off x="2194560" y="35935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●宏观数据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3566160" y="3593592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3703320" y="368503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6" name="Text 124"/>
          <p:cNvSpPr/>
          <p:nvPr/>
        </p:nvSpPr>
        <p:spPr>
          <a:xfrm>
            <a:off x="3886200" y="35935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●信息审核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5257800" y="3593592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394960" y="368503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9" name="Text 127"/>
          <p:cNvSpPr/>
          <p:nvPr/>
        </p:nvSpPr>
        <p:spPr>
          <a:xfrm>
            <a:off x="5577840" y="35935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●参与发布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6949440" y="3593592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1" name="Shape 129"/>
          <p:cNvSpPr/>
          <p:nvPr/>
        </p:nvSpPr>
        <p:spPr>
          <a:xfrm>
            <a:off x="7086600" y="3685032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32" name="Text 130"/>
          <p:cNvSpPr/>
          <p:nvPr/>
        </p:nvSpPr>
        <p:spPr>
          <a:xfrm>
            <a:off x="7269480" y="35935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●获取信息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365760" y="3904488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4" name="Text 132"/>
          <p:cNvSpPr/>
          <p:nvPr/>
        </p:nvSpPr>
        <p:spPr>
          <a:xfrm>
            <a:off x="457200" y="39044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数据中心·能效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1874520" y="3904488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6" name="Shape 134"/>
          <p:cNvSpPr/>
          <p:nvPr/>
        </p:nvSpPr>
        <p:spPr>
          <a:xfrm>
            <a:off x="2011680" y="3995928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37" name="Text 135"/>
          <p:cNvSpPr/>
          <p:nvPr/>
        </p:nvSpPr>
        <p:spPr>
          <a:xfrm>
            <a:off x="2194560" y="39044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●决策依据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3566160" y="3904488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Shape 137"/>
          <p:cNvSpPr/>
          <p:nvPr/>
        </p:nvSpPr>
        <p:spPr>
          <a:xfrm>
            <a:off x="3703320" y="3995928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0" name="Text 138"/>
          <p:cNvSpPr/>
          <p:nvPr/>
        </p:nvSpPr>
        <p:spPr>
          <a:xfrm>
            <a:off x="3886200" y="39044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●监测预警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5257800" y="3904488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Shape 140"/>
          <p:cNvSpPr/>
          <p:nvPr/>
        </p:nvSpPr>
        <p:spPr>
          <a:xfrm>
            <a:off x="5394960" y="3995928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43" name="Text 141"/>
          <p:cNvSpPr/>
          <p:nvPr/>
        </p:nvSpPr>
        <p:spPr>
          <a:xfrm>
            <a:off x="5577840" y="39044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○用能管理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6949440" y="3904488"/>
            <a:ext cx="1691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Text 143"/>
          <p:cNvSpPr/>
          <p:nvPr/>
        </p:nvSpPr>
        <p:spPr>
          <a:xfrm>
            <a:off x="7269480" y="39044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365760" y="4215384"/>
            <a:ext cx="150876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7" name="Text 145"/>
          <p:cNvSpPr/>
          <p:nvPr/>
        </p:nvSpPr>
        <p:spPr>
          <a:xfrm>
            <a:off x="457200" y="42153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投资概算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1874520" y="4215384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9" name="Shape 147"/>
          <p:cNvSpPr/>
          <p:nvPr/>
        </p:nvSpPr>
        <p:spPr>
          <a:xfrm>
            <a:off x="2011680" y="4306824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50" name="Text 148"/>
          <p:cNvSpPr/>
          <p:nvPr/>
        </p:nvSpPr>
        <p:spPr>
          <a:xfrm>
            <a:off x="2194560" y="42153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●财政审批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3566160" y="4215384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3703320" y="4306824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53" name="Text 151"/>
          <p:cNvSpPr/>
          <p:nvPr/>
        </p:nvSpPr>
        <p:spPr>
          <a:xfrm>
            <a:off x="3886200" y="42153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○预算参考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5257800" y="4215384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5" name="Text 153"/>
          <p:cNvSpPr/>
          <p:nvPr/>
        </p:nvSpPr>
        <p:spPr>
          <a:xfrm>
            <a:off x="5577840" y="42153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6949440" y="4215384"/>
            <a:ext cx="16916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7" name="Text 155"/>
          <p:cNvSpPr/>
          <p:nvPr/>
        </p:nvSpPr>
        <p:spPr>
          <a:xfrm>
            <a:off x="7269480" y="42153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457200" y="457200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594360" y="4626864"/>
            <a:ext cx="73152" cy="7315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60" name="Text 158"/>
          <p:cNvSpPr/>
          <p:nvPr/>
        </p:nvSpPr>
        <p:spPr>
          <a:xfrm>
            <a:off x="77724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主要功能  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2560320" y="4626864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62" name="Text 160"/>
          <p:cNvSpPr/>
          <p:nvPr/>
        </p:nvSpPr>
        <p:spPr>
          <a:xfrm>
            <a:off x="274320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辅助功能  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457200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无直接关联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5" name="Text 16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73152"/>
            <a:ext cx="36576" cy="3657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项目投资概算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100584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1B4332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总投资概算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1371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¥4,178,800.00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371600" y="2615184"/>
            <a:ext cx="64008" cy="640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2560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道路交通安全与地灾监控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2615184"/>
            <a:ext cx="2560320" cy="12801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2615184"/>
            <a:ext cx="365760" cy="128016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2889504"/>
            <a:ext cx="64008" cy="640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1" name="Text 19"/>
          <p:cNvSpPr/>
          <p:nvPr/>
        </p:nvSpPr>
        <p:spPr>
          <a:xfrm>
            <a:off x="1600200" y="2834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重点口子环保监控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2889504"/>
            <a:ext cx="2560320" cy="12801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2889504"/>
            <a:ext cx="731520" cy="128016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</p:sp>
      <p:sp>
        <p:nvSpPr>
          <p:cNvPr id="24" name="Shape 22"/>
          <p:cNvSpPr/>
          <p:nvPr/>
        </p:nvSpPr>
        <p:spPr>
          <a:xfrm>
            <a:off x="1371600" y="3163824"/>
            <a:ext cx="64008" cy="640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3108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园区形象展示与AI招商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3163824"/>
            <a:ext cx="2560320" cy="12801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3163824"/>
            <a:ext cx="1097280" cy="128016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1600" y="3438144"/>
            <a:ext cx="64008" cy="640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9" name="Text 27"/>
          <p:cNvSpPr/>
          <p:nvPr/>
        </p:nvSpPr>
        <p:spPr>
          <a:xfrm>
            <a:off x="1600200" y="3383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3438144"/>
            <a:ext cx="2560320" cy="12801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0" y="3438144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</p:sp>
      <p:sp>
        <p:nvSpPr>
          <p:cNvPr id="32" name="Shape 30"/>
          <p:cNvSpPr/>
          <p:nvPr/>
        </p:nvSpPr>
        <p:spPr>
          <a:xfrm>
            <a:off x="1371600" y="3712464"/>
            <a:ext cx="64008" cy="640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3" name="Text 31"/>
          <p:cNvSpPr/>
          <p:nvPr/>
        </p:nvSpPr>
        <p:spPr>
          <a:xfrm>
            <a:off x="1600200" y="3657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智改数转赋能平台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3712464"/>
            <a:ext cx="2560320" cy="12801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0" y="3712464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</p:sp>
      <p:sp>
        <p:nvSpPr>
          <p:cNvPr id="36" name="Shape 34"/>
          <p:cNvSpPr/>
          <p:nvPr/>
        </p:nvSpPr>
        <p:spPr>
          <a:xfrm>
            <a:off x="1371600" y="3986784"/>
            <a:ext cx="64008" cy="640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7" name="Text 35"/>
          <p:cNvSpPr/>
          <p:nvPr/>
        </p:nvSpPr>
        <p:spPr>
          <a:xfrm>
            <a:off x="1600200" y="3931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一体化数字平台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986784"/>
            <a:ext cx="2560320" cy="12801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/>
        </p:spPr>
      </p:sp>
      <p:sp>
        <p:nvSpPr>
          <p:cNvPr id="39" name="Shape 37"/>
          <p:cNvSpPr/>
          <p:nvPr/>
        </p:nvSpPr>
        <p:spPr>
          <a:xfrm>
            <a:off x="5943600" y="3986784"/>
            <a:ext cx="2194560" cy="128016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</p:sp>
      <p:sp>
        <p:nvSpPr>
          <p:cNvPr id="40" name="Shape 38"/>
          <p:cNvSpPr/>
          <p:nvPr/>
        </p:nvSpPr>
        <p:spPr>
          <a:xfrm>
            <a:off x="1371600" y="4261104"/>
            <a:ext cx="64008" cy="640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1" name="Text 39"/>
          <p:cNvSpPr/>
          <p:nvPr/>
        </p:nvSpPr>
        <p:spPr>
          <a:xfrm>
            <a:off x="1600200" y="4206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运营服务中心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0" y="4261104"/>
            <a:ext cx="2560320" cy="12801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/>
        </p:spPr>
      </p:sp>
      <p:sp>
        <p:nvSpPr>
          <p:cNvPr id="43" name="Shape 41"/>
          <p:cNvSpPr/>
          <p:nvPr/>
        </p:nvSpPr>
        <p:spPr>
          <a:xfrm>
            <a:off x="5943600" y="4261104"/>
            <a:ext cx="2560320" cy="128016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0" y="4297680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40916C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政府领导层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73152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预期效益分析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097280"/>
            <a:ext cx="196596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280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17373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管理效率提升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0604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06040" y="1097280"/>
            <a:ext cx="196596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1280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8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606040" y="17373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应急响应提升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97280"/>
            <a:ext cx="19659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280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¥20亿+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54880" y="17373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专项资金对接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097280"/>
            <a:ext cx="1965960" cy="36576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280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百万级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03720" y="17373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创建奖励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E8F4F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实施策略：急用先行、分步上线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3474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优先完成环保、安防、招商展示等支撑创建申报的核心功能，确保项目成果能快速服务于省级开发区申报。预计综合管理效率提升30%以上，安全环保事件从被动响应转向主动预警，应急响应效率提升60%以上。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73152"/>
            <a:ext cx="36576" cy="36576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以数字为帆，以智慧为桨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685800"/>
            <a:ext cx="54864" cy="5486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1887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1298448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1887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AIoT深度融合：引入物联网传感设备，万物互联、全域感知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783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1892808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17830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数字孪生园区：1:1三维建模，全要素可视化运营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2487168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3774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Agent智能化：智能客服、调度、预警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081528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9718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产业大脑：大数据+AI辅助招商决策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675888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5661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跨园区协同：对接省市智慧平台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182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驱动园区沿着‘省级开发区→绿色园区→国家级经开区培育对象’的航向全速前进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3152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73152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3152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73152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73152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73152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73152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以数字为帆，以智慧为桨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青川县庄子上工业园区管委会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技术支持：青迅科技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地址：四川省广元市青川县竹园镇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2026-05-12T03:27:56Z</dcterms:created>
  <dcterms:modified xsi:type="dcterms:W3CDTF">2026-05-12T03:27:56Z</dcterms:modified>
</cp:coreProperties>
</file>