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6400800" y="91440"/>
            <a:ext cx="457200" cy="228600"/>
          </a:xfrm>
          <a:prstGeom prst="parallelogram">
            <a:avLst/>
          </a:prstGeom>
          <a:solidFill>
            <a:srgbClr val="2563EB">
              <a:alpha val="70000"/>
            </a:srgbClr>
          </a:solidFill>
        </p:spPr>
      </p:sp>
      <p:sp>
        <p:nvSpPr>
          <p:cNvPr id="6" name="Shape 4"/>
          <p:cNvSpPr/>
          <p:nvPr/>
        </p:nvSpPr>
        <p:spPr>
          <a:xfrm>
            <a:off x="6949440" y="91440"/>
            <a:ext cx="457200" cy="228600"/>
          </a:xfrm>
          <a:prstGeom prst="parallelogram">
            <a:avLst/>
          </a:prstGeom>
          <a:solidFill>
            <a:srgbClr val="059669">
              <a:alpha val="70000"/>
            </a:srgbClr>
          </a:solidFill>
        </p:spPr>
      </p:sp>
      <p:sp>
        <p:nvSpPr>
          <p:cNvPr id="7" name="Shape 5"/>
          <p:cNvSpPr/>
          <p:nvPr/>
        </p:nvSpPr>
        <p:spPr>
          <a:xfrm>
            <a:off x="7498080" y="91440"/>
            <a:ext cx="457200" cy="228600"/>
          </a:xfrm>
          <a:prstGeom prst="parallelogram">
            <a:avLst/>
          </a:prstGeom>
          <a:solidFill>
            <a:srgbClr val="D97706">
              <a:alpha val="70000"/>
            </a:srgbClr>
          </a:solidFill>
        </p:spPr>
      </p:sp>
      <p:sp>
        <p:nvSpPr>
          <p:cNvPr id="8" name="Shape 6"/>
          <p:cNvSpPr/>
          <p:nvPr/>
        </p:nvSpPr>
        <p:spPr>
          <a:xfrm>
            <a:off x="8046720" y="91440"/>
            <a:ext cx="457200" cy="228600"/>
          </a:xfrm>
          <a:prstGeom prst="parallelogram">
            <a:avLst/>
          </a:prstGeom>
          <a:solidFill>
            <a:srgbClr val="7C3AED">
              <a:alpha val="70000"/>
            </a:srgbClr>
          </a:solidFill>
        </p:spPr>
      </p:sp>
      <p:sp>
        <p:nvSpPr>
          <p:cNvPr id="9" name="Shape 7"/>
          <p:cNvSpPr/>
          <p:nvPr/>
        </p:nvSpPr>
        <p:spPr>
          <a:xfrm>
            <a:off x="457200" y="457200"/>
            <a:ext cx="54864" cy="256032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10" name="Text 8"/>
          <p:cNvSpPr/>
          <p:nvPr/>
        </p:nvSpPr>
        <p:spPr>
          <a:xfrm>
            <a:off x="731520" y="45720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青川县庄子上工业园区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777240"/>
            <a:ext cx="64008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智慧</a:t>
            </a:r>
            <a:r>
              <a:rPr lang="zh-CN" altLang="en-US" sz="36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园区</a:t>
            </a:r>
            <a:r>
              <a:rPr lang="en-US" sz="36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平台产品介绍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731520" y="155448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四类角色 · 全模块智慧化 · 数据驱动决策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2103120"/>
            <a:ext cx="1828800" cy="347472"/>
          </a:xfrm>
          <a:prstGeom prst="roundRect">
            <a:avLst>
              <a:gd name="adj" fmla="val 15789"/>
            </a:avLst>
          </a:prstGeom>
          <a:solidFill>
            <a:srgbClr val="2563EB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" y="2103120"/>
            <a:ext cx="1828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政府领导层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0" y="2103120"/>
            <a:ext cx="1828800" cy="347472"/>
          </a:xfrm>
          <a:prstGeom prst="roundRect">
            <a:avLst>
              <a:gd name="adj" fmla="val 15789"/>
            </a:avLst>
          </a:prstGeom>
          <a:solidFill>
            <a:srgbClr val="059669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743200" y="2103120"/>
            <a:ext cx="1828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园区管理层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2103120"/>
            <a:ext cx="1828800" cy="347472"/>
          </a:xfrm>
          <a:prstGeom prst="roundRect">
            <a:avLst>
              <a:gd name="adj" fmla="val 15789"/>
            </a:avLst>
          </a:prstGeom>
          <a:solidFill>
            <a:srgbClr val="D97706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0" y="2103120"/>
            <a:ext cx="1828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入驻企业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766560" y="2103120"/>
            <a:ext cx="1828800" cy="347472"/>
          </a:xfrm>
          <a:prstGeom prst="roundRect">
            <a:avLst>
              <a:gd name="adj" fmla="val 15789"/>
            </a:avLst>
          </a:prstGeom>
          <a:solidFill>
            <a:srgbClr val="7C3AED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766560" y="2103120"/>
            <a:ext cx="1828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公众用户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27406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776980"/>
            <a:ext cx="8229600" cy="13716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23" name="Text 21"/>
          <p:cNvSpPr/>
          <p:nvPr/>
        </p:nvSpPr>
        <p:spPr>
          <a:xfrm>
            <a:off x="731520" y="3365500"/>
            <a:ext cx="25603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四川省广元市青川县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31520" y="3548380"/>
            <a:ext cx="25603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竹园镇庄子上工业园区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474720" y="3365500"/>
            <a:ext cx="25603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89+功能模块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474720" y="3548380"/>
            <a:ext cx="25603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12大数据对接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217920" y="3365500"/>
            <a:ext cx="25603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47家入驻企业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17920" y="3548380"/>
            <a:ext cx="25603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3,000+从业人员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" name="Text 1"/>
          <p:cNvSpPr/>
          <p:nvPr/>
        </p:nvSpPr>
        <p:spPr>
          <a:xfrm>
            <a:off x="457200" y="91440"/>
            <a:ext cx="4572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产品目录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31520"/>
            <a:ext cx="196596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731520"/>
            <a:ext cx="1965960" cy="54864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6" name="Shape 4"/>
          <p:cNvSpPr/>
          <p:nvPr/>
        </p:nvSpPr>
        <p:spPr>
          <a:xfrm>
            <a:off x="548640" y="914400"/>
            <a:ext cx="420624" cy="420624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7" name="Text 5"/>
          <p:cNvSpPr/>
          <p:nvPr/>
        </p:nvSpPr>
        <p:spPr>
          <a:xfrm>
            <a:off x="548640" y="914400"/>
            <a:ext cx="420624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51560" y="896112"/>
            <a:ext cx="12801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产品概述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1124712"/>
            <a:ext cx="12801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背景与架构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463040"/>
            <a:ext cx="1783080" cy="457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11" name="Text 9"/>
          <p:cNvSpPr/>
          <p:nvPr/>
        </p:nvSpPr>
        <p:spPr>
          <a:xfrm>
            <a:off x="566928" y="1554480"/>
            <a:ext cx="1737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▸ 背景与架构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560320" y="731520"/>
            <a:ext cx="196596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60320" y="731520"/>
            <a:ext cx="1965960" cy="54864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14" name="Shape 12"/>
          <p:cNvSpPr/>
          <p:nvPr/>
        </p:nvSpPr>
        <p:spPr>
          <a:xfrm>
            <a:off x="2651760" y="914400"/>
            <a:ext cx="420624" cy="420624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15" name="Text 13"/>
          <p:cNvSpPr/>
          <p:nvPr/>
        </p:nvSpPr>
        <p:spPr>
          <a:xfrm>
            <a:off x="2651760" y="914400"/>
            <a:ext cx="420624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154680" y="896112"/>
            <a:ext cx="12801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产品特点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154680" y="1124712"/>
            <a:ext cx="12801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核心优势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651760" y="1463040"/>
            <a:ext cx="1783080" cy="457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19" name="Text 17"/>
          <p:cNvSpPr/>
          <p:nvPr/>
        </p:nvSpPr>
        <p:spPr>
          <a:xfrm>
            <a:off x="2670048" y="1554480"/>
            <a:ext cx="1737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▸ 核心优势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663440" y="731520"/>
            <a:ext cx="196596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731520"/>
            <a:ext cx="1965960" cy="54864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22" name="Shape 20"/>
          <p:cNvSpPr/>
          <p:nvPr/>
        </p:nvSpPr>
        <p:spPr>
          <a:xfrm>
            <a:off x="4754880" y="914400"/>
            <a:ext cx="420624" cy="420624"/>
          </a:xfrm>
          <a:prstGeom prst="ellipse">
            <a:avLst/>
          </a:prstGeom>
          <a:solidFill>
            <a:srgbClr val="059669"/>
          </a:solidFill>
        </p:spPr>
      </p:sp>
      <p:sp>
        <p:nvSpPr>
          <p:cNvPr id="23" name="Text 21"/>
          <p:cNvSpPr/>
          <p:nvPr/>
        </p:nvSpPr>
        <p:spPr>
          <a:xfrm>
            <a:off x="4754880" y="914400"/>
            <a:ext cx="420624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03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257800" y="896112"/>
            <a:ext cx="12801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产品收益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257800" y="1124712"/>
            <a:ext cx="12801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价值与效益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54880" y="1463040"/>
            <a:ext cx="1783080" cy="457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7" name="Text 25"/>
          <p:cNvSpPr/>
          <p:nvPr/>
        </p:nvSpPr>
        <p:spPr>
          <a:xfrm>
            <a:off x="4773168" y="1554480"/>
            <a:ext cx="1737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▸ 价值与效益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766560" y="731520"/>
            <a:ext cx="196596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766560" y="731520"/>
            <a:ext cx="1965960" cy="54864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30" name="Shape 28"/>
          <p:cNvSpPr/>
          <p:nvPr/>
        </p:nvSpPr>
        <p:spPr>
          <a:xfrm>
            <a:off x="6858000" y="914400"/>
            <a:ext cx="420624" cy="420624"/>
          </a:xfrm>
          <a:prstGeom prst="ellipse">
            <a:avLst/>
          </a:prstGeom>
          <a:solidFill>
            <a:srgbClr val="7C3AED"/>
          </a:solidFill>
        </p:spPr>
      </p:sp>
      <p:sp>
        <p:nvSpPr>
          <p:cNvPr id="31" name="Text 29"/>
          <p:cNvSpPr/>
          <p:nvPr/>
        </p:nvSpPr>
        <p:spPr>
          <a:xfrm>
            <a:off x="6858000" y="914400"/>
            <a:ext cx="420624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04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360920" y="896112"/>
            <a:ext cx="12801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角色功能总览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360920" y="1124712"/>
            <a:ext cx="12801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四类角色定位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858000" y="1463040"/>
            <a:ext cx="1783080" cy="457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5" name="Text 33"/>
          <p:cNvSpPr/>
          <p:nvPr/>
        </p:nvSpPr>
        <p:spPr>
          <a:xfrm>
            <a:off x="6876288" y="1554480"/>
            <a:ext cx="1737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▸ 四类角色定位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57200" y="2560320"/>
            <a:ext cx="196596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57200" y="2560320"/>
            <a:ext cx="1965960" cy="54864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8" name="Shape 36"/>
          <p:cNvSpPr/>
          <p:nvPr/>
        </p:nvSpPr>
        <p:spPr>
          <a:xfrm>
            <a:off x="548640" y="2743200"/>
            <a:ext cx="420624" cy="420624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39" name="Text 37"/>
          <p:cNvSpPr/>
          <p:nvPr/>
        </p:nvSpPr>
        <p:spPr>
          <a:xfrm>
            <a:off x="548640" y="2743200"/>
            <a:ext cx="420624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05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1051560" y="2724912"/>
            <a:ext cx="12801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政府领导层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1051560" y="2953512"/>
            <a:ext cx="12801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数据决策 · AI招商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48640" y="3291840"/>
            <a:ext cx="1783080" cy="457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3" name="Text 41"/>
          <p:cNvSpPr/>
          <p:nvPr/>
        </p:nvSpPr>
        <p:spPr>
          <a:xfrm>
            <a:off x="566928" y="3383280"/>
            <a:ext cx="1737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▸ 数据决策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66928" y="3968496"/>
            <a:ext cx="1737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▸ AI招商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2560320" y="2560320"/>
            <a:ext cx="196596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2560320" y="2560320"/>
            <a:ext cx="1965960" cy="54864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48" name="Shape 46"/>
          <p:cNvSpPr/>
          <p:nvPr/>
        </p:nvSpPr>
        <p:spPr>
          <a:xfrm>
            <a:off x="2651760" y="2743200"/>
            <a:ext cx="420624" cy="420624"/>
          </a:xfrm>
          <a:prstGeom prst="ellipse">
            <a:avLst/>
          </a:prstGeom>
          <a:solidFill>
            <a:srgbClr val="059669"/>
          </a:solidFill>
        </p:spPr>
      </p:sp>
      <p:sp>
        <p:nvSpPr>
          <p:cNvPr id="49" name="Text 47"/>
          <p:cNvSpPr/>
          <p:nvPr/>
        </p:nvSpPr>
        <p:spPr>
          <a:xfrm>
            <a:off x="2651760" y="2743200"/>
            <a:ext cx="420624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06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3154680" y="2724912"/>
            <a:ext cx="12801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园区管理层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3154680" y="2953512"/>
            <a:ext cx="12801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智慧运营 · 全域监控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2651760" y="3291840"/>
            <a:ext cx="1783080" cy="457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3" name="Text 51"/>
          <p:cNvSpPr/>
          <p:nvPr/>
        </p:nvSpPr>
        <p:spPr>
          <a:xfrm>
            <a:off x="2670048" y="3383280"/>
            <a:ext cx="1737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▸ 智慧运营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2670048" y="3968496"/>
            <a:ext cx="1737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▸ 全域监控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4663440" y="2560320"/>
            <a:ext cx="196596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4663440" y="2560320"/>
            <a:ext cx="1965960" cy="54864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58" name="Shape 56"/>
          <p:cNvSpPr/>
          <p:nvPr/>
        </p:nvSpPr>
        <p:spPr>
          <a:xfrm>
            <a:off x="4754880" y="2743200"/>
            <a:ext cx="420624" cy="420624"/>
          </a:xfrm>
          <a:prstGeom prst="ellipse">
            <a:avLst/>
          </a:prstGeom>
          <a:solidFill>
            <a:srgbClr val="D97706"/>
          </a:solidFill>
        </p:spPr>
      </p:sp>
      <p:sp>
        <p:nvSpPr>
          <p:cNvPr id="59" name="Text 57"/>
          <p:cNvSpPr/>
          <p:nvPr/>
        </p:nvSpPr>
        <p:spPr>
          <a:xfrm>
            <a:off x="4754880" y="2743200"/>
            <a:ext cx="420624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07</a:t>
            </a:r>
            <a:endParaRPr lang="en-US" sz="1500" dirty="0"/>
          </a:p>
        </p:txBody>
      </p:sp>
      <p:sp>
        <p:nvSpPr>
          <p:cNvPr id="60" name="Text 58"/>
          <p:cNvSpPr/>
          <p:nvPr/>
        </p:nvSpPr>
        <p:spPr>
          <a:xfrm>
            <a:off x="5257800" y="2724912"/>
            <a:ext cx="12801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入驻企业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5257800" y="2953512"/>
            <a:ext cx="12801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一站式服务 · 资源对接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4754880" y="3291840"/>
            <a:ext cx="1783080" cy="457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3" name="Text 61"/>
          <p:cNvSpPr/>
          <p:nvPr/>
        </p:nvSpPr>
        <p:spPr>
          <a:xfrm>
            <a:off x="4773168" y="3383280"/>
            <a:ext cx="1737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▸ 一站式服务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4773168" y="3968496"/>
            <a:ext cx="1737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▸ 资源对接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6766560" y="2560320"/>
            <a:ext cx="196596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6766560" y="2560320"/>
            <a:ext cx="1965960" cy="54864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68" name="Shape 66"/>
          <p:cNvSpPr/>
          <p:nvPr/>
        </p:nvSpPr>
        <p:spPr>
          <a:xfrm>
            <a:off x="6858000" y="2743200"/>
            <a:ext cx="420624" cy="420624"/>
          </a:xfrm>
          <a:prstGeom prst="ellipse">
            <a:avLst/>
          </a:prstGeom>
          <a:solidFill>
            <a:srgbClr val="7C3AED"/>
          </a:solidFill>
        </p:spPr>
      </p:sp>
      <p:sp>
        <p:nvSpPr>
          <p:cNvPr id="69" name="Text 67"/>
          <p:cNvSpPr/>
          <p:nvPr/>
        </p:nvSpPr>
        <p:spPr>
          <a:xfrm>
            <a:off x="6858000" y="2743200"/>
            <a:ext cx="420624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08</a:t>
            </a:r>
            <a:endParaRPr lang="en-US" sz="1500" dirty="0"/>
          </a:p>
        </p:txBody>
      </p:sp>
      <p:sp>
        <p:nvSpPr>
          <p:cNvPr id="70" name="Text 68"/>
          <p:cNvSpPr/>
          <p:nvPr/>
        </p:nvSpPr>
        <p:spPr>
          <a:xfrm>
            <a:off x="7360920" y="2724912"/>
            <a:ext cx="12801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公众用户</a:t>
            </a:r>
            <a:endParaRPr lang="en-US" sz="1300" dirty="0"/>
          </a:p>
        </p:txBody>
      </p:sp>
      <p:sp>
        <p:nvSpPr>
          <p:cNvPr id="71" name="Text 69"/>
          <p:cNvSpPr/>
          <p:nvPr/>
        </p:nvSpPr>
        <p:spPr>
          <a:xfrm>
            <a:off x="7360920" y="2953512"/>
            <a:ext cx="12801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便民服务 · 园区参与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6858000" y="3291840"/>
            <a:ext cx="1783080" cy="457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3" name="Text 71"/>
          <p:cNvSpPr/>
          <p:nvPr/>
        </p:nvSpPr>
        <p:spPr>
          <a:xfrm>
            <a:off x="6876288" y="3383280"/>
            <a:ext cx="1737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▸ 便民服务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6876288" y="3968496"/>
            <a:ext cx="1737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▸ 园区参与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8503920" y="4663440"/>
            <a:ext cx="320040" cy="320040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77" name="Text 75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产品概述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548640"/>
            <a:ext cx="640080" cy="2286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457200" y="603504"/>
            <a:ext cx="77724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青川县庄子上工业园区智慧平台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498080" y="73152"/>
            <a:ext cx="457200" cy="201168"/>
          </a:xfrm>
          <a:prstGeom prst="parallelogram">
            <a:avLst/>
          </a:prstGeom>
          <a:solidFill>
            <a:srgbClr val="2563EB">
              <a:alpha val="75000"/>
            </a:srgbClr>
          </a:solidFill>
        </p:spPr>
      </p:sp>
      <p:sp>
        <p:nvSpPr>
          <p:cNvPr id="7" name="Shape 5"/>
          <p:cNvSpPr/>
          <p:nvPr/>
        </p:nvSpPr>
        <p:spPr>
          <a:xfrm>
            <a:off x="8046720" y="73152"/>
            <a:ext cx="457200" cy="201168"/>
          </a:xfrm>
          <a:prstGeom prst="parallelogram">
            <a:avLst/>
          </a:prstGeom>
          <a:solidFill>
            <a:srgbClr val="2563EB">
              <a:alpha val="55000"/>
            </a:srgbClr>
          </a:solidFill>
        </p:spPr>
      </p:sp>
      <p:sp>
        <p:nvSpPr>
          <p:cNvPr id="8" name="Shape 6"/>
          <p:cNvSpPr/>
          <p:nvPr/>
        </p:nvSpPr>
        <p:spPr>
          <a:xfrm>
            <a:off x="457200" y="868680"/>
            <a:ext cx="8229600" cy="365760"/>
          </a:xfrm>
          <a:prstGeom prst="roundRect">
            <a:avLst>
              <a:gd name="adj" fmla="val 15000"/>
            </a:avLst>
          </a:prstGeom>
          <a:solidFill>
            <a:srgbClr val="EFF6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877824"/>
            <a:ext cx="78638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青川县位于四川省北部边缘，川甘陕三省结合部，素有“</a:t>
            </a:r>
            <a:r>
              <a:rPr lang="zh-CN" alt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鸡鸣三省</a:t>
            </a: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”之称。庄子上工业园区规划面积2.1㎡，已开发1.6㎡。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463040"/>
            <a:ext cx="19202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1536192"/>
            <a:ext cx="1920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563E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57.68亿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7200" y="1901952"/>
            <a:ext cx="19202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全县GDP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121408"/>
            <a:ext cx="19202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前三季同比增长15%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40080" y="2423160"/>
            <a:ext cx="1554480" cy="1828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15" name="Shape 13"/>
          <p:cNvSpPr/>
          <p:nvPr/>
        </p:nvSpPr>
        <p:spPr>
          <a:xfrm>
            <a:off x="2560320" y="1463040"/>
            <a:ext cx="19202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560320" y="1536192"/>
            <a:ext cx="1920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5966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137亿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560320" y="1901952"/>
            <a:ext cx="19202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国企资产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560320" y="2121408"/>
            <a:ext cx="19202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县属国企营收3.44亿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743200" y="2423160"/>
            <a:ext cx="1554480" cy="18288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20" name="Shape 18"/>
          <p:cNvSpPr/>
          <p:nvPr/>
        </p:nvSpPr>
        <p:spPr>
          <a:xfrm>
            <a:off x="4663440" y="1463040"/>
            <a:ext cx="19202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663440" y="1536192"/>
            <a:ext cx="1920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9770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45家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663440" y="1901952"/>
            <a:ext cx="19202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科技中小企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663440" y="2121408"/>
            <a:ext cx="19202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新增高新技术企8家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846320" y="2423160"/>
            <a:ext cx="1554480" cy="18288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25" name="Shape 23"/>
          <p:cNvSpPr/>
          <p:nvPr/>
        </p:nvSpPr>
        <p:spPr>
          <a:xfrm>
            <a:off x="6766560" y="1463040"/>
            <a:ext cx="19202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766560" y="1536192"/>
            <a:ext cx="1920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C3AED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47家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766560" y="1901952"/>
            <a:ext cx="19202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园区入驻企业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766560" y="2121408"/>
            <a:ext cx="19202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从业人员3,000+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949440" y="2423160"/>
            <a:ext cx="1554480" cy="18288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30" name="Text 28"/>
          <p:cNvSpPr/>
          <p:nvPr/>
        </p:nvSpPr>
        <p:spPr>
          <a:xfrm>
            <a:off x="457200" y="2743200"/>
            <a:ext cx="45720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平台架构：五层一体化设计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3063240"/>
            <a:ext cx="8229600" cy="292608"/>
          </a:xfrm>
          <a:prstGeom prst="roundRect">
            <a:avLst>
              <a:gd name="adj" fmla="val 12500"/>
            </a:avLst>
          </a:prstGeom>
          <a:solidFill>
            <a:srgbClr val="2563EB"/>
          </a:solidFill>
          <a:effectLst>
            <a:outerShdw blurRad="25400" dist="12700" dir="16200000" algn="bl" rotWithShape="0">
              <a:srgbClr val="000000">
                <a:alpha val="3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48640" y="3063240"/>
            <a:ext cx="1371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C端展示层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011680" y="3063240"/>
            <a:ext cx="64922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大屏数据驾驶舱 | 园区官网 | 向导页 | H5移动端 | 微信小程序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1783080" y="3081528"/>
            <a:ext cx="27432" cy="256032"/>
          </a:xfrm>
          <a:prstGeom prst="roundRect">
            <a:avLst>
              <a:gd name="adj" fmla="val 33333"/>
            </a:avLst>
          </a:prstGeom>
          <a:solidFill>
            <a:srgbClr val="FFFFFF">
              <a:alpha val="50000"/>
            </a:srgbClr>
          </a:solidFill>
        </p:spPr>
      </p:sp>
      <p:sp>
        <p:nvSpPr>
          <p:cNvPr id="35" name="Shape 33"/>
          <p:cNvSpPr/>
          <p:nvPr/>
        </p:nvSpPr>
        <p:spPr>
          <a:xfrm>
            <a:off x="457200" y="3410712"/>
            <a:ext cx="8229600" cy="292608"/>
          </a:xfrm>
          <a:prstGeom prst="roundRect">
            <a:avLst>
              <a:gd name="adj" fmla="val 12500"/>
            </a:avLst>
          </a:prstGeom>
          <a:solidFill>
            <a:srgbClr val="059669"/>
          </a:solidFill>
          <a:effectLst>
            <a:outerShdw blurRad="25400" dist="12700" dir="16200000" algn="bl" rotWithShape="0">
              <a:srgbClr val="000000">
                <a:alpha val="3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48640" y="3410712"/>
            <a:ext cx="1371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应用服务层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2011680" y="3410712"/>
            <a:ext cx="64922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AI招商 | 安全监控 | 企业服务 | 运营管理 | 能效监测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1783080" y="3429000"/>
            <a:ext cx="27432" cy="256032"/>
          </a:xfrm>
          <a:prstGeom prst="roundRect">
            <a:avLst>
              <a:gd name="adj" fmla="val 33333"/>
            </a:avLst>
          </a:prstGeom>
          <a:solidFill>
            <a:srgbClr val="FFFFFF">
              <a:alpha val="50000"/>
            </a:srgbClr>
          </a:solidFill>
        </p:spPr>
      </p:sp>
      <p:sp>
        <p:nvSpPr>
          <p:cNvPr id="39" name="Shape 37"/>
          <p:cNvSpPr/>
          <p:nvPr/>
        </p:nvSpPr>
        <p:spPr>
          <a:xfrm>
            <a:off x="457200" y="3758184"/>
            <a:ext cx="8229600" cy="292608"/>
          </a:xfrm>
          <a:prstGeom prst="roundRect">
            <a:avLst>
              <a:gd name="adj" fmla="val 12500"/>
            </a:avLst>
          </a:prstGeom>
          <a:solidFill>
            <a:srgbClr val="D97706"/>
          </a:solidFill>
          <a:effectLst>
            <a:outerShdw blurRad="25400" dist="12700" dir="16200000" algn="bl" rotWithShape="0">
              <a:srgbClr val="000000">
                <a:alpha val="3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548640" y="3758184"/>
            <a:ext cx="1371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数据服务层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2011680" y="3758184"/>
            <a:ext cx="64922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数据湖 | 分析引擎 | AI算法 | GIS平台 | 实时计算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1783080" y="3776472"/>
            <a:ext cx="27432" cy="256032"/>
          </a:xfrm>
          <a:prstGeom prst="roundRect">
            <a:avLst>
              <a:gd name="adj" fmla="val 33333"/>
            </a:avLst>
          </a:prstGeom>
          <a:solidFill>
            <a:srgbClr val="FFFFFF">
              <a:alpha val="50000"/>
            </a:srgbClr>
          </a:solidFill>
        </p:spPr>
      </p:sp>
      <p:sp>
        <p:nvSpPr>
          <p:cNvPr id="43" name="Shape 41"/>
          <p:cNvSpPr/>
          <p:nvPr/>
        </p:nvSpPr>
        <p:spPr>
          <a:xfrm>
            <a:off x="457200" y="4105656"/>
            <a:ext cx="8229600" cy="292608"/>
          </a:xfrm>
          <a:prstGeom prst="roundRect">
            <a:avLst>
              <a:gd name="adj" fmla="val 12500"/>
            </a:avLst>
          </a:prstGeom>
          <a:solidFill>
            <a:srgbClr val="7C3AED"/>
          </a:solidFill>
          <a:effectLst>
            <a:outerShdw blurRad="25400" dist="12700" dir="16200000" algn="bl" rotWithShape="0">
              <a:srgbClr val="000000">
                <a:alpha val="3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548640" y="4105656"/>
            <a:ext cx="1371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设施物联层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011680" y="4105656"/>
            <a:ext cx="64922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视频监控 | 传感器网络 | 智能表计 | GPS定位 | 环境监测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1783080" y="4123944"/>
            <a:ext cx="27432" cy="256032"/>
          </a:xfrm>
          <a:prstGeom prst="roundRect">
            <a:avLst>
              <a:gd name="adj" fmla="val 33333"/>
            </a:avLst>
          </a:prstGeom>
          <a:solidFill>
            <a:srgbClr val="FFFFFF">
              <a:alpha val="50000"/>
            </a:srgbClr>
          </a:solidFill>
        </p:spPr>
      </p:sp>
      <p:sp>
        <p:nvSpPr>
          <p:cNvPr id="47" name="Shape 45"/>
          <p:cNvSpPr/>
          <p:nvPr/>
        </p:nvSpPr>
        <p:spPr>
          <a:xfrm>
            <a:off x="457200" y="4453128"/>
            <a:ext cx="8229600" cy="292608"/>
          </a:xfrm>
          <a:prstGeom prst="roundRect">
            <a:avLst>
              <a:gd name="adj" fmla="val 12500"/>
            </a:avLst>
          </a:prstGeom>
          <a:solidFill>
            <a:srgbClr val="475569"/>
          </a:solidFill>
          <a:effectLst>
            <a:outerShdw blurRad="25400" dist="12700" dir="16200000" algn="bl" rotWithShape="0">
              <a:srgbClr val="000000">
                <a:alpha val="3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548640" y="4453128"/>
            <a:ext cx="1371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数据对接层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011680" y="4453128"/>
            <a:ext cx="64922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天然气·电力·水·综合执法·环保·应急·交通·公安·自然资源·气象·人社·运营商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1783080" y="4471416"/>
            <a:ext cx="27432" cy="256032"/>
          </a:xfrm>
          <a:prstGeom prst="roundRect">
            <a:avLst>
              <a:gd name="adj" fmla="val 33333"/>
            </a:avLst>
          </a:prstGeom>
          <a:solidFill>
            <a:srgbClr val="FFFFFF">
              <a:alpha val="50000"/>
            </a:srgbClr>
          </a:solidFill>
        </p:spPr>
      </p:sp>
      <p:sp>
        <p:nvSpPr>
          <p:cNvPr id="51" name="Shape 49"/>
          <p:cNvSpPr/>
          <p:nvPr/>
        </p:nvSpPr>
        <p:spPr>
          <a:xfrm>
            <a:off x="8503920" y="4663440"/>
            <a:ext cx="320040" cy="320040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52" name="Text 50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产品特点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548640"/>
            <a:ext cx="640080" cy="2286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5" name="Text 3"/>
          <p:cNvSpPr/>
          <p:nvPr/>
        </p:nvSpPr>
        <p:spPr>
          <a:xfrm>
            <a:off x="457200" y="603504"/>
            <a:ext cx="77724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四大核心优势驱动园区智慧化升级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498080" y="73152"/>
            <a:ext cx="457200" cy="201168"/>
          </a:xfrm>
          <a:prstGeom prst="parallelogram">
            <a:avLst/>
          </a:prstGeom>
          <a:solidFill>
            <a:srgbClr val="F59E0B">
              <a:alpha val="75000"/>
            </a:srgbClr>
          </a:solidFill>
        </p:spPr>
      </p:sp>
      <p:sp>
        <p:nvSpPr>
          <p:cNvPr id="7" name="Shape 5"/>
          <p:cNvSpPr/>
          <p:nvPr/>
        </p:nvSpPr>
        <p:spPr>
          <a:xfrm>
            <a:off x="8046720" y="73152"/>
            <a:ext cx="457200" cy="201168"/>
          </a:xfrm>
          <a:prstGeom prst="parallelogram">
            <a:avLst/>
          </a:prstGeom>
          <a:solidFill>
            <a:srgbClr val="F59E0B">
              <a:alpha val="55000"/>
            </a:srgbClr>
          </a:solidFill>
        </p:spPr>
      </p:sp>
      <p:sp>
        <p:nvSpPr>
          <p:cNvPr id="8" name="Shape 6"/>
          <p:cNvSpPr/>
          <p:nvPr/>
        </p:nvSpPr>
        <p:spPr>
          <a:xfrm>
            <a:off x="457200" y="868680"/>
            <a:ext cx="397764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868680"/>
            <a:ext cx="3977640" cy="4572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10" name="Shape 8"/>
          <p:cNvSpPr/>
          <p:nvPr/>
        </p:nvSpPr>
        <p:spPr>
          <a:xfrm>
            <a:off x="594360" y="1051560"/>
            <a:ext cx="457200" cy="457200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11" name="Text 9"/>
          <p:cNvSpPr/>
          <p:nvPr/>
        </p:nvSpPr>
        <p:spPr>
          <a:xfrm>
            <a:off x="594360" y="105156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43000" y="1033272"/>
            <a:ext cx="31089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多角色覆盖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" y="1252728"/>
            <a:ext cx="31089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全功能服务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94360" y="1554480"/>
            <a:ext cx="3703320" cy="457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15" name="Text 13"/>
          <p:cNvSpPr/>
          <p:nvPr/>
        </p:nvSpPr>
        <p:spPr>
          <a:xfrm>
            <a:off x="594360" y="1645920"/>
            <a:ext cx="370332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为园区政府、管理方、企业、公众四类角色提供定制化功能与界面，每个角色独立权限体系，一个平台满足所有园区人员需求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94360" y="2286000"/>
            <a:ext cx="1188720" cy="164592"/>
          </a:xfrm>
          <a:prstGeom prst="roundRect">
            <a:avLst>
              <a:gd name="adj" fmla="val 11111"/>
            </a:avLst>
          </a:prstGeom>
          <a:solidFill>
            <a:srgbClr val="2563EB"/>
          </a:solidFill>
        </p:spPr>
      </p:sp>
      <p:sp>
        <p:nvSpPr>
          <p:cNvPr id="17" name="Text 15"/>
          <p:cNvSpPr/>
          <p:nvPr/>
        </p:nvSpPr>
        <p:spPr>
          <a:xfrm>
            <a:off x="594360" y="2286000"/>
            <a:ext cx="118872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核心优势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4709160" y="868680"/>
            <a:ext cx="397764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868680"/>
            <a:ext cx="3977640" cy="45720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20" name="Shape 18"/>
          <p:cNvSpPr/>
          <p:nvPr/>
        </p:nvSpPr>
        <p:spPr>
          <a:xfrm>
            <a:off x="4846320" y="1051560"/>
            <a:ext cx="457200" cy="457200"/>
          </a:xfrm>
          <a:prstGeom prst="ellipse">
            <a:avLst/>
          </a:prstGeom>
          <a:solidFill>
            <a:srgbClr val="059669"/>
          </a:solidFill>
        </p:spPr>
      </p:sp>
      <p:sp>
        <p:nvSpPr>
          <p:cNvPr id="21" name="Text 19"/>
          <p:cNvSpPr/>
          <p:nvPr/>
        </p:nvSpPr>
        <p:spPr>
          <a:xfrm>
            <a:off x="4846320" y="105156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394960" y="1033272"/>
            <a:ext cx="31089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数据驱动决策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94960" y="1252728"/>
            <a:ext cx="31089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全景数据可视化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46320" y="1554480"/>
            <a:ext cx="3703320" cy="457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5" name="Text 23"/>
          <p:cNvSpPr/>
          <p:nvPr/>
        </p:nvSpPr>
        <p:spPr>
          <a:xfrm>
            <a:off x="4846320" y="1645920"/>
            <a:ext cx="370332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汇聚园区全量数据，提供实时数据分析与可视化呈现，赋能管理者做出科学决策，让数据说话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846320" y="2286000"/>
            <a:ext cx="1188720" cy="164592"/>
          </a:xfrm>
          <a:prstGeom prst="roundRect">
            <a:avLst>
              <a:gd name="adj" fmla="val 11111"/>
            </a:avLst>
          </a:prstGeom>
          <a:solidFill>
            <a:srgbClr val="059669"/>
          </a:solidFill>
        </p:spPr>
      </p:sp>
      <p:sp>
        <p:nvSpPr>
          <p:cNvPr id="27" name="Text 25"/>
          <p:cNvSpPr/>
          <p:nvPr/>
        </p:nvSpPr>
        <p:spPr>
          <a:xfrm>
            <a:off x="4846320" y="2286000"/>
            <a:ext cx="118872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核心优势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457200" y="2697480"/>
            <a:ext cx="397764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2697480"/>
            <a:ext cx="3977640" cy="45720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30" name="Shape 28"/>
          <p:cNvSpPr/>
          <p:nvPr/>
        </p:nvSpPr>
        <p:spPr>
          <a:xfrm>
            <a:off x="594360" y="2880360"/>
            <a:ext cx="457200" cy="457200"/>
          </a:xfrm>
          <a:prstGeom prst="ellipse">
            <a:avLst/>
          </a:prstGeom>
          <a:solidFill>
            <a:srgbClr val="D97706"/>
          </a:solidFill>
        </p:spPr>
      </p:sp>
      <p:sp>
        <p:nvSpPr>
          <p:cNvPr id="31" name="Text 29"/>
          <p:cNvSpPr/>
          <p:nvPr/>
        </p:nvSpPr>
        <p:spPr>
          <a:xfrm>
            <a:off x="594360" y="288036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3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143000" y="2862072"/>
            <a:ext cx="31089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全模块集成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143000" y="3081528"/>
            <a:ext cx="31089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一体化智慧平台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94360" y="3383280"/>
            <a:ext cx="3703320" cy="457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5" name="Text 33"/>
          <p:cNvSpPr/>
          <p:nvPr/>
        </p:nvSpPr>
        <p:spPr>
          <a:xfrm>
            <a:off x="594360" y="3474720"/>
            <a:ext cx="370332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涵盖AI招商、全域安全监控、企业服务、能效监测、数字化办公等89+功能模块，一个平台完成所有工作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94360" y="4114800"/>
            <a:ext cx="1188720" cy="164592"/>
          </a:xfrm>
          <a:prstGeom prst="roundRect">
            <a:avLst>
              <a:gd name="adj" fmla="val 11111"/>
            </a:avLst>
          </a:prstGeom>
          <a:solidFill>
            <a:srgbClr val="D97706"/>
          </a:solidFill>
        </p:spPr>
      </p:sp>
      <p:sp>
        <p:nvSpPr>
          <p:cNvPr id="37" name="Text 35"/>
          <p:cNvSpPr/>
          <p:nvPr/>
        </p:nvSpPr>
        <p:spPr>
          <a:xfrm>
            <a:off x="594360" y="4114800"/>
            <a:ext cx="118872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核心优势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4709160" y="2697480"/>
            <a:ext cx="397764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709160" y="2697480"/>
            <a:ext cx="3977640" cy="45720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40" name="Shape 38"/>
          <p:cNvSpPr/>
          <p:nvPr/>
        </p:nvSpPr>
        <p:spPr>
          <a:xfrm>
            <a:off x="4846320" y="2880360"/>
            <a:ext cx="457200" cy="457200"/>
          </a:xfrm>
          <a:prstGeom prst="ellipse">
            <a:avLst/>
          </a:prstGeom>
          <a:solidFill>
            <a:srgbClr val="7C3AED"/>
          </a:solidFill>
        </p:spPr>
      </p:sp>
      <p:sp>
        <p:nvSpPr>
          <p:cNvPr id="41" name="Text 39"/>
          <p:cNvSpPr/>
          <p:nvPr/>
        </p:nvSpPr>
        <p:spPr>
          <a:xfrm>
            <a:off x="4846320" y="288036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4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5394960" y="2862072"/>
            <a:ext cx="31089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多数据源对接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394960" y="3081528"/>
            <a:ext cx="31089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统一数据标准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846320" y="3383280"/>
            <a:ext cx="3703320" cy="457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5" name="Text 43"/>
          <p:cNvSpPr/>
          <p:nvPr/>
        </p:nvSpPr>
        <p:spPr>
          <a:xfrm>
            <a:off x="4846320" y="3474720"/>
            <a:ext cx="370332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对接12大系统数据源（气、电、水、综合执法、环保、应急、交通、公安、自然资源、气象、人社、运营商），打破数据孤岛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846320" y="4114800"/>
            <a:ext cx="1188720" cy="164592"/>
          </a:xfrm>
          <a:prstGeom prst="roundRect">
            <a:avLst>
              <a:gd name="adj" fmla="val 11111"/>
            </a:avLst>
          </a:prstGeom>
          <a:solidFill>
            <a:srgbClr val="7C3AED"/>
          </a:solidFill>
        </p:spPr>
      </p:sp>
      <p:sp>
        <p:nvSpPr>
          <p:cNvPr id="47" name="Text 45"/>
          <p:cNvSpPr/>
          <p:nvPr/>
        </p:nvSpPr>
        <p:spPr>
          <a:xfrm>
            <a:off x="4846320" y="4114800"/>
            <a:ext cx="118872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核心优势</a:t>
            </a: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>
            <a:off x="8503920" y="4663440"/>
            <a:ext cx="320040" cy="320040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49" name="Text 47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产品收益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548640"/>
            <a:ext cx="640080" cy="22860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5" name="Text 3"/>
          <p:cNvSpPr/>
          <p:nvPr/>
        </p:nvSpPr>
        <p:spPr>
          <a:xfrm>
            <a:off x="457200" y="603504"/>
            <a:ext cx="77724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智慧平台带来的多维度价值与效益提升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498080" y="73152"/>
            <a:ext cx="457200" cy="201168"/>
          </a:xfrm>
          <a:prstGeom prst="parallelogram">
            <a:avLst/>
          </a:prstGeom>
          <a:solidFill>
            <a:srgbClr val="059669">
              <a:alpha val="75000"/>
            </a:srgbClr>
          </a:solidFill>
        </p:spPr>
      </p:sp>
      <p:sp>
        <p:nvSpPr>
          <p:cNvPr id="7" name="Shape 5"/>
          <p:cNvSpPr/>
          <p:nvPr/>
        </p:nvSpPr>
        <p:spPr>
          <a:xfrm>
            <a:off x="8046720" y="73152"/>
            <a:ext cx="457200" cy="201168"/>
          </a:xfrm>
          <a:prstGeom prst="parallelogram">
            <a:avLst/>
          </a:prstGeom>
          <a:solidFill>
            <a:srgbClr val="059669">
              <a:alpha val="55000"/>
            </a:srgbClr>
          </a:solidFill>
        </p:spPr>
      </p:sp>
      <p:sp>
        <p:nvSpPr>
          <p:cNvPr id="10" name="Shape 8"/>
          <p:cNvSpPr/>
          <p:nvPr/>
        </p:nvSpPr>
        <p:spPr>
          <a:xfrm>
            <a:off x="457200" y="868680"/>
            <a:ext cx="2651760" cy="365760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868680"/>
            <a:ext cx="2651760" cy="6400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12" name="Shape 10"/>
          <p:cNvSpPr/>
          <p:nvPr/>
        </p:nvSpPr>
        <p:spPr>
          <a:xfrm>
            <a:off x="1463040" y="1051560"/>
            <a:ext cx="640080" cy="640080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13" name="Text 11"/>
          <p:cNvSpPr/>
          <p:nvPr/>
        </p:nvSpPr>
        <p:spPr>
          <a:xfrm>
            <a:off x="1463040" y="1051560"/>
            <a:ext cx="640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+30~60%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" y="1737360"/>
            <a:ext cx="23774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管理效率提升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14400" y="2011680"/>
            <a:ext cx="1737360" cy="1828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16" name="Shape 14"/>
          <p:cNvSpPr/>
          <p:nvPr/>
        </p:nvSpPr>
        <p:spPr>
          <a:xfrm>
            <a:off x="640080" y="2185416"/>
            <a:ext cx="45720" cy="45720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17" name="Text 15"/>
          <p:cNvSpPr/>
          <p:nvPr/>
        </p:nvSpPr>
        <p:spPr>
          <a:xfrm>
            <a:off x="777240" y="2148840"/>
            <a:ext cx="2194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应急响应时间缩短60%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40080" y="2551176"/>
            <a:ext cx="45720" cy="45720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19" name="Text 17"/>
          <p:cNvSpPr/>
          <p:nvPr/>
        </p:nvSpPr>
        <p:spPr>
          <a:xfrm>
            <a:off x="777240" y="2514600"/>
            <a:ext cx="2194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日常审批流程线上化，节省50%+时间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40080" y="2916936"/>
            <a:ext cx="45720" cy="45720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21" name="Text 19"/>
          <p:cNvSpPr/>
          <p:nvPr/>
        </p:nvSpPr>
        <p:spPr>
          <a:xfrm>
            <a:off x="777240" y="2880360"/>
            <a:ext cx="2194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设备远程管控，维护成本降低40%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40080" y="3282696"/>
            <a:ext cx="45720" cy="45720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23" name="Text 21"/>
          <p:cNvSpPr/>
          <p:nvPr/>
        </p:nvSpPr>
        <p:spPr>
          <a:xfrm>
            <a:off x="777240" y="3246120"/>
            <a:ext cx="2194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数据自动汇报，减少人工统计工作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337560" y="868680"/>
            <a:ext cx="2651760" cy="365760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337560" y="868680"/>
            <a:ext cx="2651760" cy="64008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26" name="Shape 24"/>
          <p:cNvSpPr/>
          <p:nvPr/>
        </p:nvSpPr>
        <p:spPr>
          <a:xfrm>
            <a:off x="4343400" y="1051560"/>
            <a:ext cx="640080" cy="640080"/>
          </a:xfrm>
          <a:prstGeom prst="ellipse">
            <a:avLst/>
          </a:prstGeom>
          <a:solidFill>
            <a:srgbClr val="059669"/>
          </a:solidFill>
        </p:spPr>
      </p:sp>
      <p:sp>
        <p:nvSpPr>
          <p:cNvPr id="27" name="Text 25"/>
          <p:cNvSpPr/>
          <p:nvPr/>
        </p:nvSpPr>
        <p:spPr>
          <a:xfrm>
            <a:off x="4343400" y="1051560"/>
            <a:ext cx="640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¥约29%节省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474720" y="1737360"/>
            <a:ext cx="23774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596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运营成本优化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794760" y="2011680"/>
            <a:ext cx="1737360" cy="18288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30" name="Shape 28"/>
          <p:cNvSpPr/>
          <p:nvPr/>
        </p:nvSpPr>
        <p:spPr>
          <a:xfrm>
            <a:off x="3520440" y="2185416"/>
            <a:ext cx="45720" cy="45720"/>
          </a:xfrm>
          <a:prstGeom prst="ellipse">
            <a:avLst/>
          </a:prstGeom>
          <a:solidFill>
            <a:srgbClr val="059669"/>
          </a:solidFill>
        </p:spPr>
      </p:sp>
      <p:sp>
        <p:nvSpPr>
          <p:cNvPr id="31" name="Text 29"/>
          <p:cNvSpPr/>
          <p:nvPr/>
        </p:nvSpPr>
        <p:spPr>
          <a:xfrm>
            <a:off x="3657600" y="2148840"/>
            <a:ext cx="2194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能耗监控减少能源浪费支出25~35%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520440" y="2551176"/>
            <a:ext cx="45720" cy="45720"/>
          </a:xfrm>
          <a:prstGeom prst="ellipse">
            <a:avLst/>
          </a:prstGeom>
          <a:solidFill>
            <a:srgbClr val="059669"/>
          </a:solidFill>
        </p:spPr>
      </p:sp>
      <p:sp>
        <p:nvSpPr>
          <p:cNvPr id="33" name="Text 31"/>
          <p:cNvSpPr/>
          <p:nvPr/>
        </p:nvSpPr>
        <p:spPr>
          <a:xfrm>
            <a:off x="3657600" y="2514600"/>
            <a:ext cx="2194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在线服务减少人工线下服务成本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520440" y="2916936"/>
            <a:ext cx="45720" cy="45720"/>
          </a:xfrm>
          <a:prstGeom prst="ellipse">
            <a:avLst/>
          </a:prstGeom>
          <a:solidFill>
            <a:srgbClr val="059669"/>
          </a:solidFill>
        </p:spPr>
      </p:sp>
      <p:sp>
        <p:nvSpPr>
          <p:cNvPr id="35" name="Text 33"/>
          <p:cNvSpPr/>
          <p:nvPr/>
        </p:nvSpPr>
        <p:spPr>
          <a:xfrm>
            <a:off x="3657600" y="2880360"/>
            <a:ext cx="2194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供需对接提升物流运作效率，降低空驶率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520440" y="3282696"/>
            <a:ext cx="45720" cy="45720"/>
          </a:xfrm>
          <a:prstGeom prst="ellipse">
            <a:avLst/>
          </a:prstGeom>
          <a:solidFill>
            <a:srgbClr val="059669"/>
          </a:solidFill>
        </p:spPr>
      </p:sp>
      <p:sp>
        <p:nvSpPr>
          <p:cNvPr id="37" name="Text 35"/>
          <p:cNvSpPr/>
          <p:nvPr/>
        </p:nvSpPr>
        <p:spPr>
          <a:xfrm>
            <a:off x="3657600" y="3246120"/>
            <a:ext cx="2194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数字化办公减少纸张消耗300%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217920" y="868680"/>
            <a:ext cx="2651760" cy="365760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217920" y="868680"/>
            <a:ext cx="2651760" cy="64008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40" name="Shape 38"/>
          <p:cNvSpPr/>
          <p:nvPr/>
        </p:nvSpPr>
        <p:spPr>
          <a:xfrm>
            <a:off x="7223760" y="1051560"/>
            <a:ext cx="640080" cy="640080"/>
          </a:xfrm>
          <a:prstGeom prst="ellipse">
            <a:avLst/>
          </a:prstGeom>
          <a:solidFill>
            <a:srgbClr val="D97706"/>
          </a:solidFill>
        </p:spPr>
      </p:sp>
      <p:sp>
        <p:nvSpPr>
          <p:cNvPr id="41" name="Text 39"/>
          <p:cNvSpPr/>
          <p:nvPr/>
        </p:nvSpPr>
        <p:spPr>
          <a:xfrm>
            <a:off x="7223760" y="1051560"/>
            <a:ext cx="640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¥20亿+年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355080" y="1737360"/>
            <a:ext cx="23774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770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商业价值提升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675120" y="2011680"/>
            <a:ext cx="1737360" cy="18288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44" name="Shape 42"/>
          <p:cNvSpPr/>
          <p:nvPr/>
        </p:nvSpPr>
        <p:spPr>
          <a:xfrm>
            <a:off x="6400800" y="2185416"/>
            <a:ext cx="45720" cy="45720"/>
          </a:xfrm>
          <a:prstGeom prst="ellipse">
            <a:avLst/>
          </a:prstGeom>
          <a:solidFill>
            <a:srgbClr val="D97706"/>
          </a:solidFill>
        </p:spPr>
      </p:sp>
      <p:sp>
        <p:nvSpPr>
          <p:cNvPr id="45" name="Text 43"/>
          <p:cNvSpPr/>
          <p:nvPr/>
        </p:nvSpPr>
        <p:spPr>
          <a:xfrm>
            <a:off x="6537960" y="2148840"/>
            <a:ext cx="2194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对接省市每年超20亿智改数转专项资金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6400800" y="2551176"/>
            <a:ext cx="45720" cy="45720"/>
          </a:xfrm>
          <a:prstGeom prst="ellipse">
            <a:avLst/>
          </a:prstGeom>
          <a:solidFill>
            <a:srgbClr val="D97706"/>
          </a:solidFill>
        </p:spPr>
      </p:sp>
      <p:sp>
        <p:nvSpPr>
          <p:cNvPr id="47" name="Text 45"/>
          <p:cNvSpPr/>
          <p:nvPr/>
        </p:nvSpPr>
        <p:spPr>
          <a:xfrm>
            <a:off x="6537960" y="2514600"/>
            <a:ext cx="2194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AI精准招商引资提升项目扮气率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400800" y="2916936"/>
            <a:ext cx="45720" cy="45720"/>
          </a:xfrm>
          <a:prstGeom prst="ellipse">
            <a:avLst/>
          </a:prstGeom>
          <a:solidFill>
            <a:srgbClr val="D97706"/>
          </a:solidFill>
        </p:spPr>
      </p:sp>
      <p:sp>
        <p:nvSpPr>
          <p:cNvPr id="49" name="Text 47"/>
          <p:cNvSpPr/>
          <p:nvPr/>
        </p:nvSpPr>
        <p:spPr>
          <a:xfrm>
            <a:off x="6537960" y="2880360"/>
            <a:ext cx="2194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物流供需对接降低运输成本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6400800" y="3282696"/>
            <a:ext cx="45720" cy="45720"/>
          </a:xfrm>
          <a:prstGeom prst="ellipse">
            <a:avLst/>
          </a:prstGeom>
          <a:solidFill>
            <a:srgbClr val="D97706"/>
          </a:solidFill>
        </p:spPr>
      </p:sp>
      <p:sp>
        <p:nvSpPr>
          <p:cNvPr id="51" name="Text 49"/>
          <p:cNvSpPr/>
          <p:nvPr/>
        </p:nvSpPr>
        <p:spPr>
          <a:xfrm>
            <a:off x="6537960" y="3246120"/>
            <a:ext cx="2194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政策精准推送确保补贴不漏拿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457200" y="4663440"/>
            <a:ext cx="8229600" cy="228600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640080" y="4681728"/>
            <a:ext cx="78638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综合效益：园区智慧化建设带来管理效率、运营成本、商业价值三维度提升，短期投入长期回报，持续赋能园区发展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8503920" y="4663440"/>
            <a:ext cx="320040" cy="320040"/>
          </a:xfrm>
          <a:prstGeom prst="ellipse">
            <a:avLst/>
          </a:prstGeom>
          <a:solidFill>
            <a:srgbClr val="059669"/>
          </a:solidFill>
        </p:spPr>
      </p:sp>
      <p:sp>
        <p:nvSpPr>
          <p:cNvPr id="55" name="Text 53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3" name="Text 1"/>
          <p:cNvSpPr/>
          <p:nvPr/>
        </p:nvSpPr>
        <p:spPr>
          <a:xfrm>
            <a:off x="457200" y="109728"/>
            <a:ext cx="7315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四类角色功能总览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7315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平台为园区四类核心用户提供定制化智慧服务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777240"/>
            <a:ext cx="1920240" cy="3566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777240"/>
            <a:ext cx="1920240" cy="54864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9" name="Text 7"/>
          <p:cNvSpPr/>
          <p:nvPr/>
        </p:nvSpPr>
        <p:spPr>
          <a:xfrm>
            <a:off x="457200" y="914400"/>
            <a:ext cx="1920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政府领导层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1234440"/>
            <a:ext cx="1371600" cy="1828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11" name="Text 9"/>
          <p:cNvSpPr/>
          <p:nvPr/>
        </p:nvSpPr>
        <p:spPr>
          <a:xfrm>
            <a:off x="457200" y="1325880"/>
            <a:ext cx="19202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数据驱动决策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1645920"/>
            <a:ext cx="1737360" cy="320040"/>
          </a:xfrm>
          <a:prstGeom prst="roundRect">
            <a:avLst>
              <a:gd name="adj" fmla="val 11429"/>
            </a:avLst>
          </a:prstGeom>
          <a:solidFill>
            <a:srgbClr val="EFF6FF"/>
          </a:solidFill>
        </p:spPr>
      </p:sp>
      <p:sp>
        <p:nvSpPr>
          <p:cNvPr id="13" name="Shape 11"/>
          <p:cNvSpPr/>
          <p:nvPr/>
        </p:nvSpPr>
        <p:spPr>
          <a:xfrm>
            <a:off x="640080" y="1719072"/>
            <a:ext cx="54864" cy="54864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14" name="Text 12"/>
          <p:cNvSpPr/>
          <p:nvPr/>
        </p:nvSpPr>
        <p:spPr>
          <a:xfrm>
            <a:off x="777240" y="1645920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AI招商服务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48640" y="2029968"/>
            <a:ext cx="1737360" cy="320040"/>
          </a:xfrm>
          <a:prstGeom prst="roundRect">
            <a:avLst>
              <a:gd name="adj" fmla="val 11429"/>
            </a:avLst>
          </a:prstGeom>
          <a:solidFill>
            <a:srgbClr val="EFF6FF"/>
          </a:solidFill>
        </p:spPr>
      </p:sp>
      <p:sp>
        <p:nvSpPr>
          <p:cNvPr id="16" name="Shape 14"/>
          <p:cNvSpPr/>
          <p:nvPr/>
        </p:nvSpPr>
        <p:spPr>
          <a:xfrm>
            <a:off x="640080" y="2103120"/>
            <a:ext cx="54864" cy="54864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17" name="Text 15"/>
          <p:cNvSpPr/>
          <p:nvPr/>
        </p:nvSpPr>
        <p:spPr>
          <a:xfrm>
            <a:off x="777240" y="2029968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数字沙盘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48640" y="2414016"/>
            <a:ext cx="1737360" cy="320040"/>
          </a:xfrm>
          <a:prstGeom prst="roundRect">
            <a:avLst>
              <a:gd name="adj" fmla="val 11429"/>
            </a:avLst>
          </a:prstGeom>
          <a:solidFill>
            <a:srgbClr val="EFF6FF"/>
          </a:solidFill>
        </p:spPr>
      </p:sp>
      <p:sp>
        <p:nvSpPr>
          <p:cNvPr id="19" name="Shape 17"/>
          <p:cNvSpPr/>
          <p:nvPr/>
        </p:nvSpPr>
        <p:spPr>
          <a:xfrm>
            <a:off x="640080" y="2487168"/>
            <a:ext cx="54864" cy="54864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20" name="Text 18"/>
          <p:cNvSpPr/>
          <p:nvPr/>
        </p:nvSpPr>
        <p:spPr>
          <a:xfrm>
            <a:off x="777240" y="2414016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产业链图谱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48640" y="2798064"/>
            <a:ext cx="1737360" cy="320040"/>
          </a:xfrm>
          <a:prstGeom prst="roundRect">
            <a:avLst>
              <a:gd name="adj" fmla="val 11429"/>
            </a:avLst>
          </a:prstGeom>
          <a:solidFill>
            <a:srgbClr val="EFF6FF"/>
          </a:solidFill>
        </p:spPr>
      </p:sp>
      <p:sp>
        <p:nvSpPr>
          <p:cNvPr id="22" name="Shape 20"/>
          <p:cNvSpPr/>
          <p:nvPr/>
        </p:nvSpPr>
        <p:spPr>
          <a:xfrm>
            <a:off x="640080" y="2871216"/>
            <a:ext cx="54864" cy="54864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23" name="Text 21"/>
          <p:cNvSpPr/>
          <p:nvPr/>
        </p:nvSpPr>
        <p:spPr>
          <a:xfrm>
            <a:off x="777240" y="2798064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投资概算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48640" y="3182112"/>
            <a:ext cx="1737360" cy="320040"/>
          </a:xfrm>
          <a:prstGeom prst="roundRect">
            <a:avLst>
              <a:gd name="adj" fmla="val 11429"/>
            </a:avLst>
          </a:prstGeom>
          <a:solidFill>
            <a:srgbClr val="EFF6FF"/>
          </a:solidFill>
        </p:spPr>
      </p:sp>
      <p:sp>
        <p:nvSpPr>
          <p:cNvPr id="25" name="Shape 23"/>
          <p:cNvSpPr/>
          <p:nvPr/>
        </p:nvSpPr>
        <p:spPr>
          <a:xfrm>
            <a:off x="640080" y="3255264"/>
            <a:ext cx="54864" cy="54864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26" name="Text 24"/>
          <p:cNvSpPr/>
          <p:nvPr/>
        </p:nvSpPr>
        <p:spPr>
          <a:xfrm>
            <a:off x="777240" y="318211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监督统计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48640" y="3566160"/>
            <a:ext cx="1737360" cy="320040"/>
          </a:xfrm>
          <a:prstGeom prst="roundRect">
            <a:avLst>
              <a:gd name="adj" fmla="val 11429"/>
            </a:avLst>
          </a:prstGeom>
          <a:solidFill>
            <a:srgbClr val="EFF6FF"/>
          </a:solidFill>
        </p:spPr>
      </p:sp>
      <p:sp>
        <p:nvSpPr>
          <p:cNvPr id="28" name="Shape 26"/>
          <p:cNvSpPr/>
          <p:nvPr/>
        </p:nvSpPr>
        <p:spPr>
          <a:xfrm>
            <a:off x="640080" y="3639312"/>
            <a:ext cx="54864" cy="54864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29" name="Text 27"/>
          <p:cNvSpPr/>
          <p:nvPr/>
        </p:nvSpPr>
        <p:spPr>
          <a:xfrm>
            <a:off x="777240" y="3566160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全域安全监控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731520" y="4024630"/>
            <a:ext cx="1371600" cy="201168"/>
          </a:xfrm>
          <a:prstGeom prst="roundRect">
            <a:avLst>
              <a:gd name="adj" fmla="val 13636"/>
            </a:avLst>
          </a:prstGeom>
          <a:solidFill>
            <a:srgbClr val="0F172A"/>
          </a:solidFill>
        </p:spPr>
      </p:sp>
      <p:sp>
        <p:nvSpPr>
          <p:cNvPr id="31" name="Text 29"/>
          <p:cNvSpPr/>
          <p:nvPr/>
        </p:nvSpPr>
        <p:spPr>
          <a:xfrm>
            <a:off x="731520" y="4024630"/>
            <a:ext cx="13716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25+功能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2560320" y="777240"/>
            <a:ext cx="1920240" cy="3566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560320" y="777240"/>
            <a:ext cx="1920240" cy="54864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34" name="Text 32"/>
          <p:cNvSpPr/>
          <p:nvPr/>
        </p:nvSpPr>
        <p:spPr>
          <a:xfrm>
            <a:off x="2560320" y="914400"/>
            <a:ext cx="1920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596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园区管理层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2834640" y="1234440"/>
            <a:ext cx="1371600" cy="18288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36" name="Text 34"/>
          <p:cNvSpPr/>
          <p:nvPr/>
        </p:nvSpPr>
        <p:spPr>
          <a:xfrm>
            <a:off x="2560320" y="1325880"/>
            <a:ext cx="19202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智慧运营管控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651760" y="1645920"/>
            <a:ext cx="1737360" cy="320040"/>
          </a:xfrm>
          <a:prstGeom prst="roundRect">
            <a:avLst>
              <a:gd name="adj" fmla="val 11429"/>
            </a:avLst>
          </a:prstGeom>
          <a:solidFill>
            <a:srgbClr val="ECFDF5"/>
          </a:solidFill>
        </p:spPr>
      </p:sp>
      <p:sp>
        <p:nvSpPr>
          <p:cNvPr id="38" name="Shape 36"/>
          <p:cNvSpPr/>
          <p:nvPr/>
        </p:nvSpPr>
        <p:spPr>
          <a:xfrm>
            <a:off x="2743200" y="1719072"/>
            <a:ext cx="54864" cy="54864"/>
          </a:xfrm>
          <a:prstGeom prst="ellipse">
            <a:avLst/>
          </a:prstGeom>
          <a:solidFill>
            <a:srgbClr val="059669"/>
          </a:solidFill>
        </p:spPr>
      </p:sp>
      <p:sp>
        <p:nvSpPr>
          <p:cNvPr id="39" name="Text 37"/>
          <p:cNvSpPr/>
          <p:nvPr/>
        </p:nvSpPr>
        <p:spPr>
          <a:xfrm>
            <a:off x="2880360" y="1645920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道路交通监控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651760" y="2029968"/>
            <a:ext cx="1737360" cy="320040"/>
          </a:xfrm>
          <a:prstGeom prst="roundRect">
            <a:avLst>
              <a:gd name="adj" fmla="val 11429"/>
            </a:avLst>
          </a:prstGeom>
          <a:solidFill>
            <a:srgbClr val="ECFDF5"/>
          </a:solidFill>
        </p:spPr>
      </p:sp>
      <p:sp>
        <p:nvSpPr>
          <p:cNvPr id="41" name="Shape 39"/>
          <p:cNvSpPr/>
          <p:nvPr/>
        </p:nvSpPr>
        <p:spPr>
          <a:xfrm>
            <a:off x="2743200" y="2103120"/>
            <a:ext cx="54864" cy="54864"/>
          </a:xfrm>
          <a:prstGeom prst="ellipse">
            <a:avLst/>
          </a:prstGeom>
          <a:solidFill>
            <a:srgbClr val="059669"/>
          </a:solidFill>
        </p:spPr>
      </p:sp>
      <p:sp>
        <p:nvSpPr>
          <p:cNvPr id="42" name="Text 40"/>
          <p:cNvSpPr/>
          <p:nvPr/>
        </p:nvSpPr>
        <p:spPr>
          <a:xfrm>
            <a:off x="2880360" y="2029968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地灾安全监测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2651760" y="2414016"/>
            <a:ext cx="1737360" cy="320040"/>
          </a:xfrm>
          <a:prstGeom prst="roundRect">
            <a:avLst>
              <a:gd name="adj" fmla="val 11429"/>
            </a:avLst>
          </a:prstGeom>
          <a:solidFill>
            <a:srgbClr val="ECFDF5"/>
          </a:solidFill>
        </p:spPr>
      </p:sp>
      <p:sp>
        <p:nvSpPr>
          <p:cNvPr id="44" name="Shape 42"/>
          <p:cNvSpPr/>
          <p:nvPr/>
        </p:nvSpPr>
        <p:spPr>
          <a:xfrm>
            <a:off x="2743200" y="2487168"/>
            <a:ext cx="54864" cy="54864"/>
          </a:xfrm>
          <a:prstGeom prst="ellipse">
            <a:avLst/>
          </a:prstGeom>
          <a:solidFill>
            <a:srgbClr val="059669"/>
          </a:solidFill>
        </p:spPr>
      </p:sp>
      <p:sp>
        <p:nvSpPr>
          <p:cNvPr id="45" name="Text 43"/>
          <p:cNvSpPr/>
          <p:nvPr/>
        </p:nvSpPr>
        <p:spPr>
          <a:xfrm>
            <a:off x="2880360" y="2414016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环保监控检测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2651760" y="2798064"/>
            <a:ext cx="1737360" cy="320040"/>
          </a:xfrm>
          <a:prstGeom prst="roundRect">
            <a:avLst>
              <a:gd name="adj" fmla="val 11429"/>
            </a:avLst>
          </a:prstGeom>
          <a:solidFill>
            <a:srgbClr val="ECFDF5"/>
          </a:solidFill>
        </p:spPr>
      </p:sp>
      <p:sp>
        <p:nvSpPr>
          <p:cNvPr id="47" name="Shape 45"/>
          <p:cNvSpPr/>
          <p:nvPr/>
        </p:nvSpPr>
        <p:spPr>
          <a:xfrm>
            <a:off x="2743200" y="2871216"/>
            <a:ext cx="54864" cy="54864"/>
          </a:xfrm>
          <a:prstGeom prst="ellipse">
            <a:avLst/>
          </a:prstGeom>
          <a:solidFill>
            <a:srgbClr val="059669"/>
          </a:solidFill>
        </p:spPr>
      </p:sp>
      <p:sp>
        <p:nvSpPr>
          <p:cNvPr id="48" name="Text 46"/>
          <p:cNvSpPr/>
          <p:nvPr/>
        </p:nvSpPr>
        <p:spPr>
          <a:xfrm>
            <a:off x="2880360" y="2798064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视频监控总览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2651760" y="3182112"/>
            <a:ext cx="1737360" cy="320040"/>
          </a:xfrm>
          <a:prstGeom prst="roundRect">
            <a:avLst>
              <a:gd name="adj" fmla="val 11429"/>
            </a:avLst>
          </a:prstGeom>
          <a:solidFill>
            <a:srgbClr val="ECFDF5"/>
          </a:solidFill>
        </p:spPr>
      </p:sp>
      <p:sp>
        <p:nvSpPr>
          <p:cNvPr id="50" name="Shape 48"/>
          <p:cNvSpPr/>
          <p:nvPr/>
        </p:nvSpPr>
        <p:spPr>
          <a:xfrm>
            <a:off x="2743200" y="3255264"/>
            <a:ext cx="54864" cy="54864"/>
          </a:xfrm>
          <a:prstGeom prst="ellipse">
            <a:avLst/>
          </a:prstGeom>
          <a:solidFill>
            <a:srgbClr val="059669"/>
          </a:solidFill>
        </p:spPr>
      </p:sp>
      <p:sp>
        <p:nvSpPr>
          <p:cNvPr id="51" name="Text 49"/>
          <p:cNvSpPr/>
          <p:nvPr/>
        </p:nvSpPr>
        <p:spPr>
          <a:xfrm>
            <a:off x="2880360" y="318211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应急指挥联动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2651760" y="3566160"/>
            <a:ext cx="1737360" cy="320040"/>
          </a:xfrm>
          <a:prstGeom prst="roundRect">
            <a:avLst>
              <a:gd name="adj" fmla="val 11429"/>
            </a:avLst>
          </a:prstGeom>
          <a:solidFill>
            <a:srgbClr val="ECFDF5"/>
          </a:solidFill>
        </p:spPr>
      </p:sp>
      <p:sp>
        <p:nvSpPr>
          <p:cNvPr id="53" name="Shape 51"/>
          <p:cNvSpPr/>
          <p:nvPr/>
        </p:nvSpPr>
        <p:spPr>
          <a:xfrm>
            <a:off x="2743200" y="3639312"/>
            <a:ext cx="54864" cy="54864"/>
          </a:xfrm>
          <a:prstGeom prst="ellipse">
            <a:avLst/>
          </a:prstGeom>
          <a:solidFill>
            <a:srgbClr val="059669"/>
          </a:solidFill>
        </p:spPr>
      </p:sp>
      <p:sp>
        <p:nvSpPr>
          <p:cNvPr id="54" name="Text 52"/>
          <p:cNvSpPr/>
          <p:nvPr/>
        </p:nvSpPr>
        <p:spPr>
          <a:xfrm>
            <a:off x="2880360" y="3566160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能效监测分析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2834640" y="4024630"/>
            <a:ext cx="1371600" cy="201168"/>
          </a:xfrm>
          <a:prstGeom prst="roundRect">
            <a:avLst>
              <a:gd name="adj" fmla="val 13636"/>
            </a:avLst>
          </a:prstGeom>
          <a:solidFill>
            <a:srgbClr val="064E3B"/>
          </a:solidFill>
        </p:spPr>
      </p:sp>
      <p:sp>
        <p:nvSpPr>
          <p:cNvPr id="56" name="Text 54"/>
          <p:cNvSpPr/>
          <p:nvPr/>
        </p:nvSpPr>
        <p:spPr>
          <a:xfrm>
            <a:off x="2834640" y="4024630"/>
            <a:ext cx="13716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25+功能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4663440" y="777240"/>
            <a:ext cx="1920240" cy="3566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4663440" y="777240"/>
            <a:ext cx="1920240" cy="54864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59" name="Text 57"/>
          <p:cNvSpPr/>
          <p:nvPr/>
        </p:nvSpPr>
        <p:spPr>
          <a:xfrm>
            <a:off x="4663440" y="914400"/>
            <a:ext cx="1920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770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入驻企业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4937760" y="1234440"/>
            <a:ext cx="1371600" cy="18288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61" name="Text 59"/>
          <p:cNvSpPr/>
          <p:nvPr/>
        </p:nvSpPr>
        <p:spPr>
          <a:xfrm>
            <a:off x="4663440" y="1325880"/>
            <a:ext cx="19202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一站式企业服务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754880" y="1645920"/>
            <a:ext cx="1737360" cy="320040"/>
          </a:xfrm>
          <a:prstGeom prst="roundRect">
            <a:avLst>
              <a:gd name="adj" fmla="val 11429"/>
            </a:avLst>
          </a:prstGeom>
          <a:solidFill>
            <a:srgbClr val="FFFBEB"/>
          </a:solidFill>
        </p:spPr>
      </p:sp>
      <p:sp>
        <p:nvSpPr>
          <p:cNvPr id="63" name="Shape 61"/>
          <p:cNvSpPr/>
          <p:nvPr/>
        </p:nvSpPr>
        <p:spPr>
          <a:xfrm>
            <a:off x="4846320" y="1719072"/>
            <a:ext cx="54864" cy="54864"/>
          </a:xfrm>
          <a:prstGeom prst="ellipse">
            <a:avLst/>
          </a:prstGeom>
          <a:solidFill>
            <a:srgbClr val="D97706"/>
          </a:solidFill>
        </p:spPr>
      </p:sp>
      <p:sp>
        <p:nvSpPr>
          <p:cNvPr id="64" name="Text 62"/>
          <p:cNvSpPr/>
          <p:nvPr/>
        </p:nvSpPr>
        <p:spPr>
          <a:xfrm>
            <a:off x="4983480" y="1645920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诉求直达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4754880" y="2029968"/>
            <a:ext cx="1737360" cy="320040"/>
          </a:xfrm>
          <a:prstGeom prst="roundRect">
            <a:avLst>
              <a:gd name="adj" fmla="val 11429"/>
            </a:avLst>
          </a:prstGeom>
          <a:solidFill>
            <a:srgbClr val="FFFBEB"/>
          </a:solidFill>
        </p:spPr>
      </p:sp>
      <p:sp>
        <p:nvSpPr>
          <p:cNvPr id="66" name="Shape 64"/>
          <p:cNvSpPr/>
          <p:nvPr/>
        </p:nvSpPr>
        <p:spPr>
          <a:xfrm>
            <a:off x="4846320" y="2103120"/>
            <a:ext cx="54864" cy="54864"/>
          </a:xfrm>
          <a:prstGeom prst="ellipse">
            <a:avLst/>
          </a:prstGeom>
          <a:solidFill>
            <a:srgbClr val="D97706"/>
          </a:solidFill>
        </p:spPr>
      </p:sp>
      <p:sp>
        <p:nvSpPr>
          <p:cNvPr id="67" name="Text 65"/>
          <p:cNvSpPr/>
          <p:nvPr/>
        </p:nvSpPr>
        <p:spPr>
          <a:xfrm>
            <a:off x="4983480" y="2029968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服务直达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4754880" y="2414016"/>
            <a:ext cx="1737360" cy="320040"/>
          </a:xfrm>
          <a:prstGeom prst="roundRect">
            <a:avLst>
              <a:gd name="adj" fmla="val 11429"/>
            </a:avLst>
          </a:prstGeom>
          <a:solidFill>
            <a:srgbClr val="FFFBEB"/>
          </a:solidFill>
        </p:spPr>
      </p:sp>
      <p:sp>
        <p:nvSpPr>
          <p:cNvPr id="69" name="Shape 67"/>
          <p:cNvSpPr/>
          <p:nvPr/>
        </p:nvSpPr>
        <p:spPr>
          <a:xfrm>
            <a:off x="4846320" y="2487168"/>
            <a:ext cx="54864" cy="54864"/>
          </a:xfrm>
          <a:prstGeom prst="ellipse">
            <a:avLst/>
          </a:prstGeom>
          <a:solidFill>
            <a:srgbClr val="D97706"/>
          </a:solidFill>
        </p:spPr>
      </p:sp>
      <p:sp>
        <p:nvSpPr>
          <p:cNvPr id="70" name="Text 68"/>
          <p:cNvSpPr/>
          <p:nvPr/>
        </p:nvSpPr>
        <p:spPr>
          <a:xfrm>
            <a:off x="4983480" y="2414016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供需对接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4754880" y="2798064"/>
            <a:ext cx="1737360" cy="320040"/>
          </a:xfrm>
          <a:prstGeom prst="roundRect">
            <a:avLst>
              <a:gd name="adj" fmla="val 11429"/>
            </a:avLst>
          </a:prstGeom>
          <a:solidFill>
            <a:srgbClr val="FFFBEB"/>
          </a:solidFill>
        </p:spPr>
      </p:sp>
      <p:sp>
        <p:nvSpPr>
          <p:cNvPr id="72" name="Shape 70"/>
          <p:cNvSpPr/>
          <p:nvPr/>
        </p:nvSpPr>
        <p:spPr>
          <a:xfrm>
            <a:off x="4846320" y="2871216"/>
            <a:ext cx="54864" cy="54864"/>
          </a:xfrm>
          <a:prstGeom prst="ellipse">
            <a:avLst/>
          </a:prstGeom>
          <a:solidFill>
            <a:srgbClr val="D97706"/>
          </a:solidFill>
        </p:spPr>
      </p:sp>
      <p:sp>
        <p:nvSpPr>
          <p:cNvPr id="73" name="Text 71"/>
          <p:cNvSpPr/>
          <p:nvPr/>
        </p:nvSpPr>
        <p:spPr>
          <a:xfrm>
            <a:off x="4983480" y="2798064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缴费服务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4754880" y="3182112"/>
            <a:ext cx="1737360" cy="320040"/>
          </a:xfrm>
          <a:prstGeom prst="roundRect">
            <a:avLst>
              <a:gd name="adj" fmla="val 11429"/>
            </a:avLst>
          </a:prstGeom>
          <a:solidFill>
            <a:srgbClr val="FFFBEB"/>
          </a:solidFill>
        </p:spPr>
      </p:sp>
      <p:sp>
        <p:nvSpPr>
          <p:cNvPr id="75" name="Shape 73"/>
          <p:cNvSpPr/>
          <p:nvPr/>
        </p:nvSpPr>
        <p:spPr>
          <a:xfrm>
            <a:off x="4846320" y="3255264"/>
            <a:ext cx="54864" cy="54864"/>
          </a:xfrm>
          <a:prstGeom prst="ellipse">
            <a:avLst/>
          </a:prstGeom>
          <a:solidFill>
            <a:srgbClr val="D97706"/>
          </a:solidFill>
        </p:spPr>
      </p:sp>
      <p:sp>
        <p:nvSpPr>
          <p:cNvPr id="76" name="Text 74"/>
          <p:cNvSpPr/>
          <p:nvPr/>
        </p:nvSpPr>
        <p:spPr>
          <a:xfrm>
            <a:off x="4983480" y="318211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场馆餐饮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4754880" y="3566160"/>
            <a:ext cx="1737360" cy="320040"/>
          </a:xfrm>
          <a:prstGeom prst="roundRect">
            <a:avLst>
              <a:gd name="adj" fmla="val 11429"/>
            </a:avLst>
          </a:prstGeom>
          <a:solidFill>
            <a:srgbClr val="FFFBEB"/>
          </a:solidFill>
        </p:spPr>
      </p:sp>
      <p:sp>
        <p:nvSpPr>
          <p:cNvPr id="78" name="Shape 76"/>
          <p:cNvSpPr/>
          <p:nvPr/>
        </p:nvSpPr>
        <p:spPr>
          <a:xfrm>
            <a:off x="4846320" y="3639312"/>
            <a:ext cx="54864" cy="54864"/>
          </a:xfrm>
          <a:prstGeom prst="ellipse">
            <a:avLst/>
          </a:prstGeom>
          <a:solidFill>
            <a:srgbClr val="D97706"/>
          </a:solidFill>
        </p:spPr>
      </p:sp>
      <p:sp>
        <p:nvSpPr>
          <p:cNvPr id="79" name="Text 77"/>
          <p:cNvSpPr/>
          <p:nvPr/>
        </p:nvSpPr>
        <p:spPr>
          <a:xfrm>
            <a:off x="4983480" y="3566160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停车用工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4937760" y="4024630"/>
            <a:ext cx="1371600" cy="201168"/>
          </a:xfrm>
          <a:prstGeom prst="roundRect">
            <a:avLst>
              <a:gd name="adj" fmla="val 13636"/>
            </a:avLst>
          </a:prstGeom>
          <a:solidFill>
            <a:srgbClr val="78350F"/>
          </a:solidFill>
        </p:spPr>
      </p:sp>
      <p:sp>
        <p:nvSpPr>
          <p:cNvPr id="81" name="Text 79"/>
          <p:cNvSpPr/>
          <p:nvPr/>
        </p:nvSpPr>
        <p:spPr>
          <a:xfrm>
            <a:off x="4937760" y="4024630"/>
            <a:ext cx="13716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25+功能</a:t>
            </a:r>
            <a:endParaRPr lang="en-US" sz="700" dirty="0"/>
          </a:p>
        </p:txBody>
      </p:sp>
      <p:sp>
        <p:nvSpPr>
          <p:cNvPr id="82" name="Shape 80"/>
          <p:cNvSpPr/>
          <p:nvPr/>
        </p:nvSpPr>
        <p:spPr>
          <a:xfrm>
            <a:off x="6766560" y="777240"/>
            <a:ext cx="1920240" cy="3566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83" name="Shape 81"/>
          <p:cNvSpPr/>
          <p:nvPr/>
        </p:nvSpPr>
        <p:spPr>
          <a:xfrm>
            <a:off x="6766560" y="777240"/>
            <a:ext cx="1920240" cy="54864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84" name="Text 82"/>
          <p:cNvSpPr/>
          <p:nvPr/>
        </p:nvSpPr>
        <p:spPr>
          <a:xfrm>
            <a:off x="6766560" y="914400"/>
            <a:ext cx="1920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3AE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公众用户</a:t>
            </a:r>
            <a:endParaRPr lang="en-US" sz="1300" dirty="0"/>
          </a:p>
        </p:txBody>
      </p:sp>
      <p:sp>
        <p:nvSpPr>
          <p:cNvPr id="85" name="Shape 83"/>
          <p:cNvSpPr/>
          <p:nvPr/>
        </p:nvSpPr>
        <p:spPr>
          <a:xfrm>
            <a:off x="7040880" y="1234440"/>
            <a:ext cx="1371600" cy="18288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86" name="Text 84"/>
          <p:cNvSpPr/>
          <p:nvPr/>
        </p:nvSpPr>
        <p:spPr>
          <a:xfrm>
            <a:off x="6766560" y="1325880"/>
            <a:ext cx="19202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便民信息服务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6858000" y="1645920"/>
            <a:ext cx="1737360" cy="320040"/>
          </a:xfrm>
          <a:prstGeom prst="roundRect">
            <a:avLst>
              <a:gd name="adj" fmla="val 11429"/>
            </a:avLst>
          </a:prstGeom>
          <a:solidFill>
            <a:srgbClr val="F5F3FF"/>
          </a:solidFill>
        </p:spPr>
      </p:sp>
      <p:sp>
        <p:nvSpPr>
          <p:cNvPr id="88" name="Shape 86"/>
          <p:cNvSpPr/>
          <p:nvPr/>
        </p:nvSpPr>
        <p:spPr>
          <a:xfrm>
            <a:off x="6949440" y="1719072"/>
            <a:ext cx="54864" cy="54864"/>
          </a:xfrm>
          <a:prstGeom prst="ellipse">
            <a:avLst/>
          </a:prstGeom>
          <a:solidFill>
            <a:srgbClr val="7C3AED"/>
          </a:solidFill>
        </p:spPr>
      </p:sp>
      <p:sp>
        <p:nvSpPr>
          <p:cNvPr id="89" name="Text 87"/>
          <p:cNvSpPr/>
          <p:nvPr/>
        </p:nvSpPr>
        <p:spPr>
          <a:xfrm>
            <a:off x="7086600" y="1645920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园区公告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6858000" y="2029968"/>
            <a:ext cx="1737360" cy="320040"/>
          </a:xfrm>
          <a:prstGeom prst="roundRect">
            <a:avLst>
              <a:gd name="adj" fmla="val 11429"/>
            </a:avLst>
          </a:prstGeom>
          <a:solidFill>
            <a:srgbClr val="F5F3FF"/>
          </a:solidFill>
        </p:spPr>
      </p:sp>
      <p:sp>
        <p:nvSpPr>
          <p:cNvPr id="91" name="Shape 89"/>
          <p:cNvSpPr/>
          <p:nvPr/>
        </p:nvSpPr>
        <p:spPr>
          <a:xfrm>
            <a:off x="6949440" y="2103120"/>
            <a:ext cx="54864" cy="54864"/>
          </a:xfrm>
          <a:prstGeom prst="ellipse">
            <a:avLst/>
          </a:prstGeom>
          <a:solidFill>
            <a:srgbClr val="7C3AED"/>
          </a:solidFill>
        </p:spPr>
      </p:sp>
      <p:sp>
        <p:nvSpPr>
          <p:cNvPr id="92" name="Text 90"/>
          <p:cNvSpPr/>
          <p:nvPr/>
        </p:nvSpPr>
        <p:spPr>
          <a:xfrm>
            <a:off x="7086600" y="2029968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园区活动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6858000" y="2414016"/>
            <a:ext cx="1737360" cy="320040"/>
          </a:xfrm>
          <a:prstGeom prst="roundRect">
            <a:avLst>
              <a:gd name="adj" fmla="val 11429"/>
            </a:avLst>
          </a:prstGeom>
          <a:solidFill>
            <a:srgbClr val="F5F3FF"/>
          </a:solidFill>
        </p:spPr>
      </p:sp>
      <p:sp>
        <p:nvSpPr>
          <p:cNvPr id="94" name="Shape 92"/>
          <p:cNvSpPr/>
          <p:nvPr/>
        </p:nvSpPr>
        <p:spPr>
          <a:xfrm>
            <a:off x="6949440" y="2487168"/>
            <a:ext cx="54864" cy="54864"/>
          </a:xfrm>
          <a:prstGeom prst="ellipse">
            <a:avLst/>
          </a:prstGeom>
          <a:solidFill>
            <a:srgbClr val="7C3AED"/>
          </a:solidFill>
        </p:spPr>
      </p:sp>
      <p:sp>
        <p:nvSpPr>
          <p:cNvPr id="95" name="Text 93"/>
          <p:cNvSpPr/>
          <p:nvPr/>
        </p:nvSpPr>
        <p:spPr>
          <a:xfrm>
            <a:off x="7086600" y="2414016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特色供需</a:t>
            </a:r>
            <a:endParaRPr lang="en-US" sz="800" dirty="0"/>
          </a:p>
        </p:txBody>
      </p:sp>
      <p:sp>
        <p:nvSpPr>
          <p:cNvPr id="96" name="Shape 94"/>
          <p:cNvSpPr/>
          <p:nvPr/>
        </p:nvSpPr>
        <p:spPr>
          <a:xfrm>
            <a:off x="6858000" y="2798064"/>
            <a:ext cx="1737360" cy="320040"/>
          </a:xfrm>
          <a:prstGeom prst="roundRect">
            <a:avLst>
              <a:gd name="adj" fmla="val 11429"/>
            </a:avLst>
          </a:prstGeom>
          <a:solidFill>
            <a:srgbClr val="F5F3FF"/>
          </a:solidFill>
        </p:spPr>
      </p:sp>
      <p:sp>
        <p:nvSpPr>
          <p:cNvPr id="97" name="Shape 95"/>
          <p:cNvSpPr/>
          <p:nvPr/>
        </p:nvSpPr>
        <p:spPr>
          <a:xfrm>
            <a:off x="6949440" y="2871216"/>
            <a:ext cx="54864" cy="54864"/>
          </a:xfrm>
          <a:prstGeom prst="ellipse">
            <a:avLst/>
          </a:prstGeom>
          <a:solidFill>
            <a:srgbClr val="7C3AED"/>
          </a:solidFill>
        </p:spPr>
      </p:sp>
      <p:sp>
        <p:nvSpPr>
          <p:cNvPr id="98" name="Text 96"/>
          <p:cNvSpPr/>
          <p:nvPr/>
        </p:nvSpPr>
        <p:spPr>
          <a:xfrm>
            <a:off x="7086600" y="2798064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园区餐饮</a:t>
            </a:r>
            <a:endParaRPr lang="en-US" sz="800" dirty="0"/>
          </a:p>
        </p:txBody>
      </p:sp>
      <p:sp>
        <p:nvSpPr>
          <p:cNvPr id="99" name="Shape 97"/>
          <p:cNvSpPr/>
          <p:nvPr/>
        </p:nvSpPr>
        <p:spPr>
          <a:xfrm>
            <a:off x="6858000" y="3182112"/>
            <a:ext cx="1737360" cy="320040"/>
          </a:xfrm>
          <a:prstGeom prst="roundRect">
            <a:avLst>
              <a:gd name="adj" fmla="val 11429"/>
            </a:avLst>
          </a:prstGeom>
          <a:solidFill>
            <a:srgbClr val="F5F3FF"/>
          </a:solidFill>
        </p:spPr>
      </p:sp>
      <p:sp>
        <p:nvSpPr>
          <p:cNvPr id="100" name="Shape 98"/>
          <p:cNvSpPr/>
          <p:nvPr/>
        </p:nvSpPr>
        <p:spPr>
          <a:xfrm>
            <a:off x="6949440" y="3255264"/>
            <a:ext cx="54864" cy="54864"/>
          </a:xfrm>
          <a:prstGeom prst="ellipse">
            <a:avLst/>
          </a:prstGeom>
          <a:solidFill>
            <a:srgbClr val="7C3AED"/>
          </a:solidFill>
        </p:spPr>
      </p:sp>
      <p:sp>
        <p:nvSpPr>
          <p:cNvPr id="101" name="Text 99"/>
          <p:cNvSpPr/>
          <p:nvPr/>
        </p:nvSpPr>
        <p:spPr>
          <a:xfrm>
            <a:off x="7086600" y="318211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停车服务</a:t>
            </a:r>
            <a:endParaRPr lang="en-US" sz="800" dirty="0"/>
          </a:p>
        </p:txBody>
      </p:sp>
      <p:sp>
        <p:nvSpPr>
          <p:cNvPr id="102" name="Shape 100"/>
          <p:cNvSpPr/>
          <p:nvPr/>
        </p:nvSpPr>
        <p:spPr>
          <a:xfrm>
            <a:off x="6858000" y="3566160"/>
            <a:ext cx="1737360" cy="320040"/>
          </a:xfrm>
          <a:prstGeom prst="roundRect">
            <a:avLst>
              <a:gd name="adj" fmla="val 11429"/>
            </a:avLst>
          </a:prstGeom>
          <a:solidFill>
            <a:srgbClr val="F5F3FF"/>
          </a:solidFill>
        </p:spPr>
      </p:sp>
      <p:sp>
        <p:nvSpPr>
          <p:cNvPr id="103" name="Shape 101"/>
          <p:cNvSpPr/>
          <p:nvPr/>
        </p:nvSpPr>
        <p:spPr>
          <a:xfrm>
            <a:off x="6949440" y="3639312"/>
            <a:ext cx="54864" cy="54864"/>
          </a:xfrm>
          <a:prstGeom prst="ellipse">
            <a:avLst/>
          </a:prstGeom>
          <a:solidFill>
            <a:srgbClr val="7C3AED"/>
          </a:solidFill>
        </p:spPr>
      </p:sp>
      <p:sp>
        <p:nvSpPr>
          <p:cNvPr id="104" name="Text 102"/>
          <p:cNvSpPr/>
          <p:nvPr/>
        </p:nvSpPr>
        <p:spPr>
          <a:xfrm>
            <a:off x="7086600" y="3566160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微信小程序</a:t>
            </a:r>
            <a:endParaRPr lang="en-US" sz="800" dirty="0"/>
          </a:p>
        </p:txBody>
      </p:sp>
      <p:sp>
        <p:nvSpPr>
          <p:cNvPr id="105" name="Shape 103"/>
          <p:cNvSpPr/>
          <p:nvPr/>
        </p:nvSpPr>
        <p:spPr>
          <a:xfrm>
            <a:off x="7040880" y="4024630"/>
            <a:ext cx="1371600" cy="201168"/>
          </a:xfrm>
          <a:prstGeom prst="roundRect">
            <a:avLst>
              <a:gd name="adj" fmla="val 13636"/>
            </a:avLst>
          </a:prstGeom>
          <a:solidFill>
            <a:srgbClr val="4C1D95"/>
          </a:solidFill>
        </p:spPr>
      </p:sp>
      <p:sp>
        <p:nvSpPr>
          <p:cNvPr id="106" name="Text 104"/>
          <p:cNvSpPr/>
          <p:nvPr/>
        </p:nvSpPr>
        <p:spPr>
          <a:xfrm>
            <a:off x="7040880" y="4024630"/>
            <a:ext cx="13716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25+功能</a:t>
            </a:r>
            <a:endParaRPr lang="en-US" sz="700" dirty="0"/>
          </a:p>
        </p:txBody>
      </p:sp>
      <p:sp>
        <p:nvSpPr>
          <p:cNvPr id="107" name="Shape 105"/>
          <p:cNvSpPr/>
          <p:nvPr/>
        </p:nvSpPr>
        <p:spPr>
          <a:xfrm>
            <a:off x="8503920" y="4663440"/>
            <a:ext cx="320040" cy="320040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108" name="Text 106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政府领导层 — 数据驾驶舱与决策支持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548640"/>
            <a:ext cx="640080" cy="2286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5" name="Shape 3"/>
          <p:cNvSpPr/>
          <p:nvPr/>
        </p:nvSpPr>
        <p:spPr>
          <a:xfrm>
            <a:off x="7498080" y="73152"/>
            <a:ext cx="457200" cy="201168"/>
          </a:xfrm>
          <a:prstGeom prst="parallelogram">
            <a:avLst/>
          </a:prstGeom>
          <a:solidFill>
            <a:srgbClr val="2563EB">
              <a:alpha val="75000"/>
            </a:srgbClr>
          </a:solidFill>
        </p:spPr>
      </p:sp>
      <p:sp>
        <p:nvSpPr>
          <p:cNvPr id="6" name="Shape 4"/>
          <p:cNvSpPr/>
          <p:nvPr/>
        </p:nvSpPr>
        <p:spPr>
          <a:xfrm>
            <a:off x="8046720" y="73152"/>
            <a:ext cx="457200" cy="201168"/>
          </a:xfrm>
          <a:prstGeom prst="parallelogram">
            <a:avLst/>
          </a:prstGeom>
          <a:solidFill>
            <a:srgbClr val="2563EB">
              <a:alpha val="55000"/>
            </a:srgbClr>
          </a:solidFill>
        </p:spPr>
      </p:sp>
      <p:sp>
        <p:nvSpPr>
          <p:cNvPr id="7" name="Shape 5"/>
          <p:cNvSpPr/>
          <p:nvPr/>
        </p:nvSpPr>
        <p:spPr>
          <a:xfrm>
            <a:off x="7315200" y="91440"/>
            <a:ext cx="548640" cy="274320"/>
          </a:xfrm>
          <a:prstGeom prst="parallelogram">
            <a:avLst/>
          </a:prstGeom>
          <a:solidFill>
            <a:srgbClr val="2563EB">
              <a:alpha val="70000"/>
            </a:srgbClr>
          </a:solidFill>
        </p:spPr>
      </p:sp>
      <p:sp>
        <p:nvSpPr>
          <p:cNvPr id="8" name="Shape 6"/>
          <p:cNvSpPr/>
          <p:nvPr/>
        </p:nvSpPr>
        <p:spPr>
          <a:xfrm>
            <a:off x="7955280" y="91440"/>
            <a:ext cx="548640" cy="274320"/>
          </a:xfrm>
          <a:prstGeom prst="parallelogram">
            <a:avLst/>
          </a:prstGeom>
          <a:solidFill>
            <a:srgbClr val="2563EB">
              <a:alpha val="50000"/>
            </a:srgbClr>
          </a:solidFill>
        </p:spPr>
      </p:sp>
      <p:sp>
        <p:nvSpPr>
          <p:cNvPr id="10" name="Shape 8"/>
          <p:cNvSpPr/>
          <p:nvPr/>
        </p:nvSpPr>
        <p:spPr>
          <a:xfrm>
            <a:off x="457200" y="777240"/>
            <a:ext cx="25603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66928" y="795528"/>
            <a:ext cx="11887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563E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57.68亿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828800" y="795528"/>
            <a:ext cx="10972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全县GDP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91840" y="777240"/>
            <a:ext cx="25603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401568" y="795528"/>
            <a:ext cx="11887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563E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47家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663440" y="795528"/>
            <a:ext cx="10972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园区企业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26480" y="777240"/>
            <a:ext cx="25603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36208" y="795528"/>
            <a:ext cx="11887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4E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137亿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498080" y="795528"/>
            <a:ext cx="10972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国企资产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1554480"/>
            <a:ext cx="26517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1554480"/>
            <a:ext cx="2651760" cy="36576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1" name="Text 19"/>
          <p:cNvSpPr/>
          <p:nvPr/>
        </p:nvSpPr>
        <p:spPr>
          <a:xfrm>
            <a:off x="566928" y="1645920"/>
            <a:ext cx="24688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AI招商服务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66928" y="1874520"/>
            <a:ext cx="24688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大数据+AI精准匹配目标企业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566928" y="2304288"/>
            <a:ext cx="1097280" cy="164592"/>
          </a:xfrm>
          <a:prstGeom prst="roundRect">
            <a:avLst>
              <a:gd name="adj" fmla="val 11111"/>
            </a:avLst>
          </a:prstGeom>
          <a:solidFill>
            <a:srgbClr val="EFF6FF"/>
          </a:solidFill>
        </p:spPr>
      </p:sp>
      <p:sp>
        <p:nvSpPr>
          <p:cNvPr id="24" name="Text 22"/>
          <p:cNvSpPr/>
          <p:nvPr/>
        </p:nvSpPr>
        <p:spPr>
          <a:xfrm>
            <a:off x="566928" y="2304288"/>
            <a:ext cx="109728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2563E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多维数据分析</a:t>
            </a:r>
            <a:endParaRPr lang="en-US" sz="650" dirty="0"/>
          </a:p>
        </p:txBody>
      </p:sp>
      <p:sp>
        <p:nvSpPr>
          <p:cNvPr id="25" name="Shape 23"/>
          <p:cNvSpPr/>
          <p:nvPr/>
        </p:nvSpPr>
        <p:spPr>
          <a:xfrm>
            <a:off x="3291840" y="1554480"/>
            <a:ext cx="26517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91840" y="1554480"/>
            <a:ext cx="2651760" cy="36576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7" name="Text 25"/>
          <p:cNvSpPr/>
          <p:nvPr/>
        </p:nvSpPr>
        <p:spPr>
          <a:xfrm>
            <a:off x="3401568" y="1645920"/>
            <a:ext cx="24688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数字沙盘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01568" y="1874520"/>
            <a:ext cx="24688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3D可视化展示园区规划与土地资源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3401568" y="2304288"/>
            <a:ext cx="1097280" cy="164592"/>
          </a:xfrm>
          <a:prstGeom prst="roundRect">
            <a:avLst>
              <a:gd name="adj" fmla="val 11111"/>
            </a:avLst>
          </a:prstGeom>
          <a:solidFill>
            <a:srgbClr val="EFF6FF"/>
          </a:solidFill>
        </p:spPr>
      </p:sp>
      <p:sp>
        <p:nvSpPr>
          <p:cNvPr id="30" name="Text 28"/>
          <p:cNvSpPr/>
          <p:nvPr/>
        </p:nvSpPr>
        <p:spPr>
          <a:xfrm>
            <a:off x="3401568" y="2304288"/>
            <a:ext cx="109728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2563E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沉浸式招商</a:t>
            </a:r>
            <a:endParaRPr lang="en-US" sz="650" dirty="0"/>
          </a:p>
        </p:txBody>
      </p:sp>
      <p:sp>
        <p:nvSpPr>
          <p:cNvPr id="31" name="Shape 29"/>
          <p:cNvSpPr/>
          <p:nvPr/>
        </p:nvSpPr>
        <p:spPr>
          <a:xfrm>
            <a:off x="6126480" y="1554480"/>
            <a:ext cx="26517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26480" y="1554480"/>
            <a:ext cx="2651760" cy="36576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3" name="Text 31"/>
          <p:cNvSpPr/>
          <p:nvPr/>
        </p:nvSpPr>
        <p:spPr>
          <a:xfrm>
            <a:off x="6236208" y="1645920"/>
            <a:ext cx="24688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产业链图谱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36208" y="1874520"/>
            <a:ext cx="24688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可视化展示产业链上下游关系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6236208" y="2304288"/>
            <a:ext cx="1097280" cy="164592"/>
          </a:xfrm>
          <a:prstGeom prst="roundRect">
            <a:avLst>
              <a:gd name="adj" fmla="val 11111"/>
            </a:avLst>
          </a:prstGeom>
          <a:solidFill>
            <a:srgbClr val="EFF6FF"/>
          </a:solidFill>
        </p:spPr>
      </p:sp>
      <p:sp>
        <p:nvSpPr>
          <p:cNvPr id="36" name="Text 34"/>
          <p:cNvSpPr/>
          <p:nvPr/>
        </p:nvSpPr>
        <p:spPr>
          <a:xfrm>
            <a:off x="6236208" y="2304288"/>
            <a:ext cx="109728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2563E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强链补链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457200" y="2743200"/>
            <a:ext cx="26517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57200" y="2743200"/>
            <a:ext cx="2651760" cy="36576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9" name="Text 37"/>
          <p:cNvSpPr/>
          <p:nvPr/>
        </p:nvSpPr>
        <p:spPr>
          <a:xfrm>
            <a:off x="566928" y="2834640"/>
            <a:ext cx="24688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投资概算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66928" y="3063240"/>
            <a:ext cx="24688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三步走创建路径+12大专项投资详算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566928" y="3493008"/>
            <a:ext cx="1097280" cy="164592"/>
          </a:xfrm>
          <a:prstGeom prst="roundRect">
            <a:avLst>
              <a:gd name="adj" fmla="val 11111"/>
            </a:avLst>
          </a:prstGeom>
          <a:solidFill>
            <a:srgbClr val="EFF6FF"/>
          </a:solidFill>
        </p:spPr>
      </p:sp>
      <p:sp>
        <p:nvSpPr>
          <p:cNvPr id="42" name="Text 40"/>
          <p:cNvSpPr/>
          <p:nvPr/>
        </p:nvSpPr>
        <p:spPr>
          <a:xfrm>
            <a:off x="566928" y="3493008"/>
            <a:ext cx="109728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2563E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科学规划</a:t>
            </a:r>
            <a:endParaRPr lang="en-US" sz="650" dirty="0"/>
          </a:p>
        </p:txBody>
      </p:sp>
      <p:sp>
        <p:nvSpPr>
          <p:cNvPr id="43" name="Shape 41"/>
          <p:cNvSpPr/>
          <p:nvPr/>
        </p:nvSpPr>
        <p:spPr>
          <a:xfrm>
            <a:off x="3291840" y="2743200"/>
            <a:ext cx="26517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3291840" y="2743200"/>
            <a:ext cx="2651760" cy="36576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45" name="Text 43"/>
          <p:cNvSpPr/>
          <p:nvPr/>
        </p:nvSpPr>
        <p:spPr>
          <a:xfrm>
            <a:off x="3401568" y="2834640"/>
            <a:ext cx="24688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监督统计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401568" y="3063240"/>
            <a:ext cx="24688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统一数据出口，支持多种格式导出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3401568" y="3493008"/>
            <a:ext cx="1097280" cy="164592"/>
          </a:xfrm>
          <a:prstGeom prst="roundRect">
            <a:avLst>
              <a:gd name="adj" fmla="val 11111"/>
            </a:avLst>
          </a:prstGeom>
          <a:solidFill>
            <a:srgbClr val="EFF6FF"/>
          </a:solidFill>
        </p:spPr>
      </p:sp>
      <p:sp>
        <p:nvSpPr>
          <p:cNvPr id="48" name="Text 46"/>
          <p:cNvSpPr/>
          <p:nvPr/>
        </p:nvSpPr>
        <p:spPr>
          <a:xfrm>
            <a:off x="3401568" y="3493008"/>
            <a:ext cx="109728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2563E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数据汇报</a:t>
            </a:r>
            <a:endParaRPr lang="en-US" sz="650" dirty="0"/>
          </a:p>
        </p:txBody>
      </p:sp>
      <p:sp>
        <p:nvSpPr>
          <p:cNvPr id="49" name="Shape 47"/>
          <p:cNvSpPr/>
          <p:nvPr/>
        </p:nvSpPr>
        <p:spPr>
          <a:xfrm>
            <a:off x="6126480" y="2743200"/>
            <a:ext cx="26517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126480" y="2743200"/>
            <a:ext cx="2651760" cy="36576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51" name="Text 49"/>
          <p:cNvSpPr/>
          <p:nvPr/>
        </p:nvSpPr>
        <p:spPr>
          <a:xfrm>
            <a:off x="6236208" y="2834640"/>
            <a:ext cx="24688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绿色园区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236208" y="3063240"/>
            <a:ext cx="24688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环保监控数据可追溯，助力绿色创建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6236208" y="3493008"/>
            <a:ext cx="1097280" cy="164592"/>
          </a:xfrm>
          <a:prstGeom prst="roundRect">
            <a:avLst>
              <a:gd name="adj" fmla="val 11111"/>
            </a:avLst>
          </a:prstGeom>
          <a:solidFill>
            <a:srgbClr val="EFF6FF"/>
          </a:solidFill>
        </p:spPr>
      </p:sp>
      <p:sp>
        <p:nvSpPr>
          <p:cNvPr id="54" name="Text 52"/>
          <p:cNvSpPr/>
          <p:nvPr/>
        </p:nvSpPr>
        <p:spPr>
          <a:xfrm>
            <a:off x="6236208" y="3493008"/>
            <a:ext cx="109728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2563E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绿色创建</a:t>
            </a:r>
            <a:endParaRPr lang="en-US" sz="650" dirty="0"/>
          </a:p>
        </p:txBody>
      </p:sp>
      <p:sp>
        <p:nvSpPr>
          <p:cNvPr id="55" name="Shape 53"/>
          <p:cNvSpPr/>
          <p:nvPr/>
        </p:nvSpPr>
        <p:spPr>
          <a:xfrm>
            <a:off x="8503920" y="4663440"/>
            <a:ext cx="320040" cy="320040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56" name="Text 54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政府领导层 — AI招商全流程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548640"/>
            <a:ext cx="640080" cy="2286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5" name="Shape 3"/>
          <p:cNvSpPr/>
          <p:nvPr/>
        </p:nvSpPr>
        <p:spPr>
          <a:xfrm>
            <a:off x="7498080" y="73152"/>
            <a:ext cx="457200" cy="201168"/>
          </a:xfrm>
          <a:prstGeom prst="parallelogram">
            <a:avLst/>
          </a:prstGeom>
          <a:solidFill>
            <a:srgbClr val="2563EB">
              <a:alpha val="75000"/>
            </a:srgbClr>
          </a:solidFill>
        </p:spPr>
      </p:sp>
      <p:sp>
        <p:nvSpPr>
          <p:cNvPr id="6" name="Shape 4"/>
          <p:cNvSpPr/>
          <p:nvPr/>
        </p:nvSpPr>
        <p:spPr>
          <a:xfrm>
            <a:off x="8046720" y="73152"/>
            <a:ext cx="457200" cy="201168"/>
          </a:xfrm>
          <a:prstGeom prst="parallelogram">
            <a:avLst/>
          </a:prstGeom>
          <a:solidFill>
            <a:srgbClr val="2563EB">
              <a:alpha val="55000"/>
            </a:srgbClr>
          </a:solidFill>
        </p:spPr>
      </p:sp>
      <p:sp>
        <p:nvSpPr>
          <p:cNvPr id="7" name="Shape 5"/>
          <p:cNvSpPr/>
          <p:nvPr/>
        </p:nvSpPr>
        <p:spPr>
          <a:xfrm>
            <a:off x="7315200" y="91440"/>
            <a:ext cx="548640" cy="274320"/>
          </a:xfrm>
          <a:prstGeom prst="parallelogram">
            <a:avLst/>
          </a:prstGeom>
          <a:solidFill>
            <a:srgbClr val="2563EB">
              <a:alpha val="70000"/>
            </a:srgbClr>
          </a:solidFill>
        </p:spPr>
      </p:sp>
      <p:sp>
        <p:nvSpPr>
          <p:cNvPr id="8" name="Shape 6"/>
          <p:cNvSpPr/>
          <p:nvPr/>
        </p:nvSpPr>
        <p:spPr>
          <a:xfrm>
            <a:off x="7955280" y="91440"/>
            <a:ext cx="548640" cy="274320"/>
          </a:xfrm>
          <a:prstGeom prst="parallelogram">
            <a:avLst/>
          </a:prstGeom>
          <a:solidFill>
            <a:srgbClr val="2563EB">
              <a:alpha val="50000"/>
            </a:srgbClr>
          </a:solidFill>
        </p:spPr>
      </p:sp>
      <p:sp>
        <p:nvSpPr>
          <p:cNvPr id="10" name="Shape 8"/>
          <p:cNvSpPr/>
          <p:nvPr/>
        </p:nvSpPr>
        <p:spPr>
          <a:xfrm>
            <a:off x="457200" y="850392"/>
            <a:ext cx="402336" cy="402336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11" name="Text 9"/>
          <p:cNvSpPr/>
          <p:nvPr/>
        </p:nvSpPr>
        <p:spPr>
          <a:xfrm>
            <a:off x="457200" y="850392"/>
            <a:ext cx="40233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05840" y="777240"/>
            <a:ext cx="75895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143000" y="813816"/>
            <a:ext cx="2743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目标企业挖掘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43000" y="1069848"/>
            <a:ext cx="71323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多维数据源+智能算法，自动推荐与园区产业高度匹配的目标企业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40080" y="1252728"/>
            <a:ext cx="27432" cy="30175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16" name="Shape 14"/>
          <p:cNvSpPr/>
          <p:nvPr/>
        </p:nvSpPr>
        <p:spPr>
          <a:xfrm>
            <a:off x="7498080" y="850392"/>
            <a:ext cx="914400" cy="155448"/>
          </a:xfrm>
          <a:prstGeom prst="roundRect">
            <a:avLst>
              <a:gd name="adj" fmla="val 11765"/>
            </a:avLst>
          </a:prstGeom>
          <a:solidFill>
            <a:srgbClr val="EFF6FF"/>
          </a:solidFill>
        </p:spPr>
      </p:sp>
      <p:sp>
        <p:nvSpPr>
          <p:cNvPr id="17" name="Text 15"/>
          <p:cNvSpPr/>
          <p:nvPr/>
        </p:nvSpPr>
        <p:spPr>
          <a:xfrm>
            <a:off x="7498080" y="850392"/>
            <a:ext cx="914400" cy="1554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2563E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数据驱动</a:t>
            </a:r>
            <a:endParaRPr lang="en-US" sz="600" dirty="0"/>
          </a:p>
        </p:txBody>
      </p:sp>
      <p:sp>
        <p:nvSpPr>
          <p:cNvPr id="18" name="Shape 16"/>
          <p:cNvSpPr/>
          <p:nvPr/>
        </p:nvSpPr>
        <p:spPr>
          <a:xfrm>
            <a:off x="457200" y="1627632"/>
            <a:ext cx="402336" cy="402336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19" name="Text 17"/>
          <p:cNvSpPr/>
          <p:nvPr/>
        </p:nvSpPr>
        <p:spPr>
          <a:xfrm>
            <a:off x="457200" y="1627632"/>
            <a:ext cx="40233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005840" y="1554480"/>
            <a:ext cx="75895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143000" y="1591056"/>
            <a:ext cx="2743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AI智能匹配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43000" y="1847088"/>
            <a:ext cx="71323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基于产业链、资金、技术、地理多维度算法匹配，智能评分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40080" y="2029968"/>
            <a:ext cx="27432" cy="30175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4" name="Shape 22"/>
          <p:cNvSpPr/>
          <p:nvPr/>
        </p:nvSpPr>
        <p:spPr>
          <a:xfrm>
            <a:off x="7498080" y="1627632"/>
            <a:ext cx="914400" cy="155448"/>
          </a:xfrm>
          <a:prstGeom prst="roundRect">
            <a:avLst>
              <a:gd name="adj" fmla="val 11765"/>
            </a:avLst>
          </a:prstGeom>
          <a:solidFill>
            <a:srgbClr val="EFF6FF"/>
          </a:solidFill>
        </p:spPr>
      </p:sp>
      <p:sp>
        <p:nvSpPr>
          <p:cNvPr id="25" name="Text 23"/>
          <p:cNvSpPr/>
          <p:nvPr/>
        </p:nvSpPr>
        <p:spPr>
          <a:xfrm>
            <a:off x="7498080" y="1627632"/>
            <a:ext cx="914400" cy="1554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2563E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智能算法</a:t>
            </a:r>
            <a:endParaRPr lang="en-US" sz="600" dirty="0"/>
          </a:p>
        </p:txBody>
      </p:sp>
      <p:sp>
        <p:nvSpPr>
          <p:cNvPr id="26" name="Shape 24"/>
          <p:cNvSpPr/>
          <p:nvPr/>
        </p:nvSpPr>
        <p:spPr>
          <a:xfrm>
            <a:off x="457200" y="2404872"/>
            <a:ext cx="402336" cy="402336"/>
          </a:xfrm>
          <a:prstGeom prst="ellipse">
            <a:avLst/>
          </a:prstGeom>
          <a:solidFill>
            <a:srgbClr val="1D4ED8"/>
          </a:solidFill>
        </p:spPr>
      </p:sp>
      <p:sp>
        <p:nvSpPr>
          <p:cNvPr id="27" name="Text 25"/>
          <p:cNvSpPr/>
          <p:nvPr/>
        </p:nvSpPr>
        <p:spPr>
          <a:xfrm>
            <a:off x="457200" y="2404872"/>
            <a:ext cx="40233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3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1005840" y="2331720"/>
            <a:ext cx="75895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143000" y="2368296"/>
            <a:ext cx="2743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智能推荐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143000" y="2624328"/>
            <a:ext cx="71323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自动生成招商策略与接触方案，智能推荐接触时机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40080" y="2807208"/>
            <a:ext cx="27432" cy="30175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2" name="Shape 30"/>
          <p:cNvSpPr/>
          <p:nvPr/>
        </p:nvSpPr>
        <p:spPr>
          <a:xfrm>
            <a:off x="7498080" y="2404872"/>
            <a:ext cx="914400" cy="155448"/>
          </a:xfrm>
          <a:prstGeom prst="roundRect">
            <a:avLst>
              <a:gd name="adj" fmla="val 11765"/>
            </a:avLst>
          </a:prstGeom>
          <a:solidFill>
            <a:srgbClr val="EFF6FF"/>
          </a:solidFill>
        </p:spPr>
      </p:sp>
      <p:sp>
        <p:nvSpPr>
          <p:cNvPr id="33" name="Text 31"/>
          <p:cNvSpPr/>
          <p:nvPr/>
        </p:nvSpPr>
        <p:spPr>
          <a:xfrm>
            <a:off x="7498080" y="2404872"/>
            <a:ext cx="914400" cy="1554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2563E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自动化</a:t>
            </a:r>
            <a:endParaRPr lang="en-US" sz="600" dirty="0"/>
          </a:p>
        </p:txBody>
      </p:sp>
      <p:sp>
        <p:nvSpPr>
          <p:cNvPr id="34" name="Shape 32"/>
          <p:cNvSpPr/>
          <p:nvPr/>
        </p:nvSpPr>
        <p:spPr>
          <a:xfrm>
            <a:off x="457200" y="3182112"/>
            <a:ext cx="402336" cy="402336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35" name="Text 33"/>
          <p:cNvSpPr/>
          <p:nvPr/>
        </p:nvSpPr>
        <p:spPr>
          <a:xfrm>
            <a:off x="457200" y="3182112"/>
            <a:ext cx="40233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4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1005840" y="3108960"/>
            <a:ext cx="75895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1143000" y="3145536"/>
            <a:ext cx="2743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全程跟踪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143000" y="3401568"/>
            <a:ext cx="71323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招商项目全生命周期管理，从接触到签约全流程线上化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40080" y="3584448"/>
            <a:ext cx="27432" cy="30175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0" name="Shape 38"/>
          <p:cNvSpPr/>
          <p:nvPr/>
        </p:nvSpPr>
        <p:spPr>
          <a:xfrm>
            <a:off x="7498080" y="3182112"/>
            <a:ext cx="914400" cy="155448"/>
          </a:xfrm>
          <a:prstGeom prst="roundRect">
            <a:avLst>
              <a:gd name="adj" fmla="val 11765"/>
            </a:avLst>
          </a:prstGeom>
          <a:solidFill>
            <a:srgbClr val="EFF6FF"/>
          </a:solidFill>
        </p:spPr>
      </p:sp>
      <p:sp>
        <p:nvSpPr>
          <p:cNvPr id="41" name="Text 39"/>
          <p:cNvSpPr/>
          <p:nvPr/>
        </p:nvSpPr>
        <p:spPr>
          <a:xfrm>
            <a:off x="7498080" y="3182112"/>
            <a:ext cx="914400" cy="1554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2563E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全流程</a:t>
            </a:r>
            <a:endParaRPr lang="en-US" sz="600" dirty="0"/>
          </a:p>
        </p:txBody>
      </p:sp>
      <p:sp>
        <p:nvSpPr>
          <p:cNvPr id="42" name="Shape 40"/>
          <p:cNvSpPr/>
          <p:nvPr/>
        </p:nvSpPr>
        <p:spPr>
          <a:xfrm>
            <a:off x="457200" y="3959352"/>
            <a:ext cx="402336" cy="402336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43" name="Text 41"/>
          <p:cNvSpPr/>
          <p:nvPr/>
        </p:nvSpPr>
        <p:spPr>
          <a:xfrm>
            <a:off x="457200" y="3959352"/>
            <a:ext cx="40233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5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1005840" y="3886200"/>
            <a:ext cx="75895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1143000" y="3922776"/>
            <a:ext cx="2743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数据报告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143000" y="4178808"/>
            <a:ext cx="71323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招商转化率、合约金额、产业聚集度多维度分析报告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7498080" y="3959352"/>
            <a:ext cx="914400" cy="155448"/>
          </a:xfrm>
          <a:prstGeom prst="roundRect">
            <a:avLst>
              <a:gd name="adj" fmla="val 11765"/>
            </a:avLst>
          </a:prstGeom>
          <a:solidFill>
            <a:srgbClr val="EFF6FF"/>
          </a:solidFill>
        </p:spPr>
      </p:sp>
      <p:sp>
        <p:nvSpPr>
          <p:cNvPr id="48" name="Text 46"/>
          <p:cNvSpPr/>
          <p:nvPr/>
        </p:nvSpPr>
        <p:spPr>
          <a:xfrm>
            <a:off x="7498080" y="3959352"/>
            <a:ext cx="914400" cy="1554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2563E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分析报告</a:t>
            </a:r>
            <a:endParaRPr lang="en-US" sz="600" dirty="0"/>
          </a:p>
        </p:txBody>
      </p:sp>
      <p:sp>
        <p:nvSpPr>
          <p:cNvPr id="49" name="Shape 47"/>
          <p:cNvSpPr/>
          <p:nvPr/>
        </p:nvSpPr>
        <p:spPr>
          <a:xfrm>
            <a:off x="8503920" y="4663440"/>
            <a:ext cx="320040" cy="320040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50" name="Text 48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政府领导层 — 投资概算与创建路径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548640"/>
            <a:ext cx="640080" cy="2286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5" name="Shape 3"/>
          <p:cNvSpPr/>
          <p:nvPr/>
        </p:nvSpPr>
        <p:spPr>
          <a:xfrm>
            <a:off x="7498080" y="73152"/>
            <a:ext cx="457200" cy="201168"/>
          </a:xfrm>
          <a:prstGeom prst="parallelogram">
            <a:avLst/>
          </a:prstGeom>
          <a:solidFill>
            <a:srgbClr val="F59E0B">
              <a:alpha val="75000"/>
            </a:srgbClr>
          </a:solidFill>
        </p:spPr>
      </p:sp>
      <p:sp>
        <p:nvSpPr>
          <p:cNvPr id="6" name="Shape 4"/>
          <p:cNvSpPr/>
          <p:nvPr/>
        </p:nvSpPr>
        <p:spPr>
          <a:xfrm>
            <a:off x="8046720" y="73152"/>
            <a:ext cx="457200" cy="201168"/>
          </a:xfrm>
          <a:prstGeom prst="parallelogram">
            <a:avLst/>
          </a:prstGeom>
          <a:solidFill>
            <a:srgbClr val="F59E0B">
              <a:alpha val="55000"/>
            </a:srgbClr>
          </a:solidFill>
        </p:spPr>
      </p:sp>
      <p:sp>
        <p:nvSpPr>
          <p:cNvPr id="7" name="Shape 5"/>
          <p:cNvSpPr/>
          <p:nvPr/>
        </p:nvSpPr>
        <p:spPr>
          <a:xfrm>
            <a:off x="7315200" y="91440"/>
            <a:ext cx="548640" cy="274320"/>
          </a:xfrm>
          <a:prstGeom prst="parallelogram">
            <a:avLst/>
          </a:prstGeom>
          <a:solidFill>
            <a:srgbClr val="F59E0B">
              <a:alpha val="70000"/>
            </a:srgbClr>
          </a:solidFill>
        </p:spPr>
      </p:sp>
      <p:sp>
        <p:nvSpPr>
          <p:cNvPr id="8" name="Shape 6"/>
          <p:cNvSpPr/>
          <p:nvPr/>
        </p:nvSpPr>
        <p:spPr>
          <a:xfrm>
            <a:off x="7955280" y="91440"/>
            <a:ext cx="548640" cy="274320"/>
          </a:xfrm>
          <a:prstGeom prst="parallelogram">
            <a:avLst/>
          </a:prstGeom>
          <a:solidFill>
            <a:srgbClr val="F59E0B">
              <a:alpha val="50000"/>
            </a:srgbClr>
          </a:solidFill>
        </p:spPr>
      </p:sp>
      <p:sp>
        <p:nvSpPr>
          <p:cNvPr id="10" name="Shape 8"/>
          <p:cNvSpPr/>
          <p:nvPr/>
        </p:nvSpPr>
        <p:spPr>
          <a:xfrm>
            <a:off x="457200" y="822960"/>
            <a:ext cx="260604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822960"/>
            <a:ext cx="2606040" cy="54864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12" name="Shape 10"/>
          <p:cNvSpPr/>
          <p:nvPr/>
        </p:nvSpPr>
        <p:spPr>
          <a:xfrm>
            <a:off x="1508760" y="1005840"/>
            <a:ext cx="502920" cy="502920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13" name="Text 11"/>
          <p:cNvSpPr/>
          <p:nvPr/>
        </p:nvSpPr>
        <p:spPr>
          <a:xfrm>
            <a:off x="1508760" y="100584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8640" y="1554480"/>
            <a:ext cx="24231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省级经济开发区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1783080"/>
            <a:ext cx="24231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基于平台数据支撑，系统化整理申报材料，加速创建进程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108960" y="1508760"/>
            <a:ext cx="228600" cy="164592"/>
          </a:xfrm>
          <a:prstGeom prst="rightArrow">
            <a:avLst/>
          </a:prstGeom>
          <a:solidFill>
            <a:srgbClr val="E2E8F0"/>
          </a:solidFill>
        </p:spPr>
      </p:sp>
      <p:sp>
        <p:nvSpPr>
          <p:cNvPr id="17" name="Shape 15"/>
          <p:cNvSpPr/>
          <p:nvPr/>
        </p:nvSpPr>
        <p:spPr>
          <a:xfrm>
            <a:off x="3337560" y="822960"/>
            <a:ext cx="260604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337560" y="822960"/>
            <a:ext cx="2606040" cy="54864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19" name="Shape 17"/>
          <p:cNvSpPr/>
          <p:nvPr/>
        </p:nvSpPr>
        <p:spPr>
          <a:xfrm>
            <a:off x="4389120" y="1005840"/>
            <a:ext cx="502920" cy="502920"/>
          </a:xfrm>
          <a:prstGeom prst="ellipse">
            <a:avLst/>
          </a:prstGeom>
          <a:solidFill>
            <a:srgbClr val="059669"/>
          </a:solidFill>
        </p:spPr>
      </p:sp>
      <p:sp>
        <p:nvSpPr>
          <p:cNvPr id="20" name="Text 18"/>
          <p:cNvSpPr/>
          <p:nvPr/>
        </p:nvSpPr>
        <p:spPr>
          <a:xfrm>
            <a:off x="4389120" y="100584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429000" y="1554480"/>
            <a:ext cx="24231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96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绿色工业园区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29000" y="1783080"/>
            <a:ext cx="24231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环保监控、能耗数据、排放指标全程可追溯，科学证明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989320" y="1508760"/>
            <a:ext cx="228600" cy="164592"/>
          </a:xfrm>
          <a:prstGeom prst="rightArrow">
            <a:avLst/>
          </a:prstGeom>
          <a:solidFill>
            <a:srgbClr val="E2E8F0"/>
          </a:solidFill>
        </p:spPr>
      </p:sp>
      <p:sp>
        <p:nvSpPr>
          <p:cNvPr id="24" name="Shape 22"/>
          <p:cNvSpPr/>
          <p:nvPr/>
        </p:nvSpPr>
        <p:spPr>
          <a:xfrm>
            <a:off x="6217920" y="822960"/>
            <a:ext cx="260604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17920" y="822960"/>
            <a:ext cx="2606040" cy="54864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26" name="Shape 24"/>
          <p:cNvSpPr/>
          <p:nvPr/>
        </p:nvSpPr>
        <p:spPr>
          <a:xfrm>
            <a:off x="7269480" y="1005840"/>
            <a:ext cx="502920" cy="502920"/>
          </a:xfrm>
          <a:prstGeom prst="ellipse">
            <a:avLst/>
          </a:prstGeom>
          <a:solidFill>
            <a:srgbClr val="D97706"/>
          </a:solidFill>
        </p:spPr>
      </p:sp>
      <p:sp>
        <p:nvSpPr>
          <p:cNvPr id="27" name="Text 25"/>
          <p:cNvSpPr/>
          <p:nvPr/>
        </p:nvSpPr>
        <p:spPr>
          <a:xfrm>
            <a:off x="7269480" y="100584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3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309360" y="1554480"/>
            <a:ext cx="24231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770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国家级培育对象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09360" y="1783080"/>
            <a:ext cx="24231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亩均论英雄数据、产业聚集度、科技创新指标综合评估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57200" y="269748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40080" y="2743200"/>
            <a:ext cx="3657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智慧平台投资概算总览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0080" y="3044952"/>
            <a:ext cx="54864" cy="54864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33" name="Text 31"/>
          <p:cNvSpPr/>
          <p:nvPr/>
        </p:nvSpPr>
        <p:spPr>
          <a:xfrm>
            <a:off x="749808" y="3017520"/>
            <a:ext cx="22860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道路交通安全与地灾监控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3108960" y="3017520"/>
            <a:ext cx="11887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F59E0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¥1,580,000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480560" y="3044952"/>
            <a:ext cx="54864" cy="54864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36" name="Text 34"/>
          <p:cNvSpPr/>
          <p:nvPr/>
        </p:nvSpPr>
        <p:spPr>
          <a:xfrm>
            <a:off x="4590288" y="3017520"/>
            <a:ext cx="22860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重点口子环保监控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6949440" y="3017520"/>
            <a:ext cx="11887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F59E0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¥428,600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640080" y="3337560"/>
            <a:ext cx="54864" cy="54864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39" name="Text 37"/>
          <p:cNvSpPr/>
          <p:nvPr/>
        </p:nvSpPr>
        <p:spPr>
          <a:xfrm>
            <a:off x="749808" y="3310128"/>
            <a:ext cx="22860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园区形象展示与AI招商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3108960" y="3310128"/>
            <a:ext cx="11887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F59E0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¥442,200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4480560" y="3337560"/>
            <a:ext cx="54864" cy="54864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42" name="Text 40"/>
          <p:cNvSpPr/>
          <p:nvPr/>
        </p:nvSpPr>
        <p:spPr>
          <a:xfrm>
            <a:off x="4590288" y="3310128"/>
            <a:ext cx="22860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企业用能监测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6949440" y="3310128"/>
            <a:ext cx="11887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F59E0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¥348,000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5760720" y="2697480"/>
            <a:ext cx="2926080" cy="1005840"/>
          </a:xfrm>
          <a:prstGeom prst="roundRect">
            <a:avLst>
              <a:gd name="adj" fmla="val 9091"/>
            </a:avLst>
          </a:prstGeom>
          <a:solidFill>
            <a:srgbClr val="0F172A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5852160" y="2743200"/>
            <a:ext cx="27432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总投资概算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852160" y="2926080"/>
            <a:ext cx="2743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¥4,178,800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5852160" y="3246120"/>
            <a:ext cx="27432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元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57200" y="3931920"/>
            <a:ext cx="8229600" cy="182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9" name="Text 47"/>
          <p:cNvSpPr/>
          <p:nvPr/>
        </p:nvSpPr>
        <p:spPr>
          <a:xfrm>
            <a:off x="731520" y="4023360"/>
            <a:ext cx="20116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30%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731520" y="4251960"/>
            <a:ext cx="20116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管理效率提升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3383280" y="4023360"/>
            <a:ext cx="20116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5966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60%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3383280" y="4251960"/>
            <a:ext cx="20116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应急响应提升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6035040" y="4023360"/>
            <a:ext cx="20116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770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¥20亿+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6035040" y="4251960"/>
            <a:ext cx="20116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年对接专项资金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8503920" y="4663440"/>
            <a:ext cx="320040" cy="320040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56" name="Text 54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政府领导层 — 全域安全监控体系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548640"/>
            <a:ext cx="640080" cy="2286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5" name="Shape 3"/>
          <p:cNvSpPr/>
          <p:nvPr/>
        </p:nvSpPr>
        <p:spPr>
          <a:xfrm>
            <a:off x="7498080" y="73152"/>
            <a:ext cx="457200" cy="201168"/>
          </a:xfrm>
          <a:prstGeom prst="parallelogram">
            <a:avLst/>
          </a:prstGeom>
          <a:solidFill>
            <a:srgbClr val="2563EB">
              <a:alpha val="75000"/>
            </a:srgbClr>
          </a:solidFill>
        </p:spPr>
      </p:sp>
      <p:sp>
        <p:nvSpPr>
          <p:cNvPr id="6" name="Shape 4"/>
          <p:cNvSpPr/>
          <p:nvPr/>
        </p:nvSpPr>
        <p:spPr>
          <a:xfrm>
            <a:off x="8046720" y="73152"/>
            <a:ext cx="457200" cy="201168"/>
          </a:xfrm>
          <a:prstGeom prst="parallelogram">
            <a:avLst/>
          </a:prstGeom>
          <a:solidFill>
            <a:srgbClr val="2563EB">
              <a:alpha val="55000"/>
            </a:srgbClr>
          </a:solidFill>
        </p:spPr>
      </p:sp>
      <p:sp>
        <p:nvSpPr>
          <p:cNvPr id="7" name="Shape 5"/>
          <p:cNvSpPr/>
          <p:nvPr/>
        </p:nvSpPr>
        <p:spPr>
          <a:xfrm>
            <a:off x="7315200" y="91440"/>
            <a:ext cx="548640" cy="274320"/>
          </a:xfrm>
          <a:prstGeom prst="parallelogram">
            <a:avLst/>
          </a:prstGeom>
          <a:solidFill>
            <a:srgbClr val="2563EB">
              <a:alpha val="70000"/>
            </a:srgbClr>
          </a:solidFill>
        </p:spPr>
      </p:sp>
      <p:sp>
        <p:nvSpPr>
          <p:cNvPr id="8" name="Shape 6"/>
          <p:cNvSpPr/>
          <p:nvPr/>
        </p:nvSpPr>
        <p:spPr>
          <a:xfrm>
            <a:off x="7955280" y="91440"/>
            <a:ext cx="548640" cy="274320"/>
          </a:xfrm>
          <a:prstGeom prst="parallelogram">
            <a:avLst/>
          </a:prstGeom>
          <a:solidFill>
            <a:srgbClr val="2563EB">
              <a:alpha val="50000"/>
            </a:srgbClr>
          </a:solidFill>
        </p:spPr>
      </p:sp>
      <p:sp>
        <p:nvSpPr>
          <p:cNvPr id="10" name="Shape 8"/>
          <p:cNvSpPr/>
          <p:nvPr/>
        </p:nvSpPr>
        <p:spPr>
          <a:xfrm>
            <a:off x="457200" y="777240"/>
            <a:ext cx="265176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777240"/>
            <a:ext cx="2651760" cy="4572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12" name="Shape 10"/>
          <p:cNvSpPr/>
          <p:nvPr/>
        </p:nvSpPr>
        <p:spPr>
          <a:xfrm>
            <a:off x="1417320" y="914400"/>
            <a:ext cx="731520" cy="731520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13" name="Text 11"/>
          <p:cNvSpPr/>
          <p:nvPr/>
        </p:nvSpPr>
        <p:spPr>
          <a:xfrm>
            <a:off x="1417320" y="914400"/>
            <a:ext cx="7315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天眼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" y="1737360"/>
            <a:ext cx="24688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道路交通安全监控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2011680"/>
            <a:ext cx="24688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智能交通监控·车辆识别·违章捕捉·交通状态可视化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337560" y="777240"/>
            <a:ext cx="265176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337560" y="777240"/>
            <a:ext cx="2651760" cy="4572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18" name="Shape 16"/>
          <p:cNvSpPr/>
          <p:nvPr/>
        </p:nvSpPr>
        <p:spPr>
          <a:xfrm>
            <a:off x="4297680" y="914400"/>
            <a:ext cx="731520" cy="731520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19" name="Text 17"/>
          <p:cNvSpPr/>
          <p:nvPr/>
        </p:nvSpPr>
        <p:spPr>
          <a:xfrm>
            <a:off x="4297680" y="914400"/>
            <a:ext cx="7315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哨兵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429000" y="1737360"/>
            <a:ext cx="2468880" cy="2286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sz="1100" b="1" dirty="0">
                <a:solidFill>
                  <a:srgbClr val="2563E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地灾安全监测</a:t>
            </a:r>
            <a:endParaRPr lang="en-US" sz="1100" b="1" dirty="0">
              <a:solidFill>
                <a:srgbClr val="2563EB"/>
              </a:solidFill>
              <a:latin typeface="微软雅黑" pitchFamily="34" charset="0"/>
              <a:ea typeface="微软雅黑" pitchFamily="34" charset="-122"/>
              <a:cs typeface="微软雅黑" pitchFamily="34" charset="-120"/>
              <a:sym typeface="+mn-ea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429000" y="2011680"/>
            <a:ext cx="24688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地质灾害实时监测·多传感器联动·预警提前报管控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217920" y="777240"/>
            <a:ext cx="265176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17920" y="777240"/>
            <a:ext cx="2651760" cy="4572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4" name="Shape 22"/>
          <p:cNvSpPr/>
          <p:nvPr/>
        </p:nvSpPr>
        <p:spPr>
          <a:xfrm>
            <a:off x="7178040" y="914400"/>
            <a:ext cx="731520" cy="731520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25" name="Text 23"/>
          <p:cNvSpPr/>
          <p:nvPr/>
        </p:nvSpPr>
        <p:spPr>
          <a:xfrm>
            <a:off x="7178040" y="914400"/>
            <a:ext cx="7315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慧眼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309360" y="1737360"/>
            <a:ext cx="2468880" cy="2286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sz="1100" b="1" dirty="0">
                <a:solidFill>
                  <a:srgbClr val="2563E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环保监控检测</a:t>
            </a:r>
            <a:endParaRPr lang="en-US" sz="1100" b="1" dirty="0">
              <a:solidFill>
                <a:srgbClr val="2563EB"/>
              </a:solidFill>
              <a:latin typeface="微软雅黑" pitchFamily="34" charset="0"/>
              <a:ea typeface="微软雅黑" pitchFamily="34" charset="-122"/>
              <a:cs typeface="微软雅黑" pitchFamily="34" charset="-120"/>
              <a:sym typeface="+mn-ea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309360" y="2011680"/>
            <a:ext cx="24688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环境指标实时监测·排放数据追踪·环保合规分析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57200" y="2926080"/>
            <a:ext cx="41148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8640" y="3017520"/>
            <a:ext cx="54864" cy="54864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30" name="Text 28"/>
          <p:cNvSpPr/>
          <p:nvPr/>
        </p:nvSpPr>
        <p:spPr>
          <a:xfrm>
            <a:off x="658368" y="2926080"/>
            <a:ext cx="3749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视频监控总览：统一视频平台，16宫格智能排列，全园区覆盖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800600" y="2926080"/>
            <a:ext cx="41148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92040" y="3017520"/>
            <a:ext cx="54864" cy="54864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33" name="Text 31"/>
          <p:cNvSpPr/>
          <p:nvPr/>
        </p:nvSpPr>
        <p:spPr>
          <a:xfrm>
            <a:off x="5001768" y="2926080"/>
            <a:ext cx="3749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应急指挥联动：一键调度、预案管理、实时通讯，响应效率提升60%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57200" y="3383280"/>
            <a:ext cx="41148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48640" y="3474720"/>
            <a:ext cx="54864" cy="54864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36" name="Text 34"/>
          <p:cNvSpPr/>
          <p:nvPr/>
        </p:nvSpPr>
        <p:spPr>
          <a:xfrm>
            <a:off x="658368" y="3383280"/>
            <a:ext cx="3749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设备管理：摄像头、传感器、GPS、雷达等全类设备统一管控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800600" y="3383280"/>
            <a:ext cx="41148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892040" y="3474720"/>
            <a:ext cx="54864" cy="54864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39" name="Text 37"/>
          <p:cNvSpPr/>
          <p:nvPr/>
        </p:nvSpPr>
        <p:spPr>
          <a:xfrm>
            <a:off x="5001768" y="3383280"/>
            <a:ext cx="3749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告警中心：异常事件实时告警、趋势分析、处置全流程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8496935" y="4663440"/>
            <a:ext cx="320040" cy="320040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41" name="Text 39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</a:t>
            </a:r>
            <a:endParaRPr lang="en-US" sz="800" b="1" dirty="0">
              <a:solidFill>
                <a:srgbClr val="FFFFFF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园区管理层 — 智慧运营与全域监控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548640"/>
            <a:ext cx="640080" cy="22860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5" name="Shape 3"/>
          <p:cNvSpPr/>
          <p:nvPr/>
        </p:nvSpPr>
        <p:spPr>
          <a:xfrm>
            <a:off x="7498080" y="73152"/>
            <a:ext cx="457200" cy="201168"/>
          </a:xfrm>
          <a:prstGeom prst="parallelogram">
            <a:avLst/>
          </a:prstGeom>
          <a:solidFill>
            <a:srgbClr val="059669">
              <a:alpha val="75000"/>
            </a:srgbClr>
          </a:solidFill>
        </p:spPr>
      </p:sp>
      <p:sp>
        <p:nvSpPr>
          <p:cNvPr id="6" name="Shape 4"/>
          <p:cNvSpPr/>
          <p:nvPr/>
        </p:nvSpPr>
        <p:spPr>
          <a:xfrm>
            <a:off x="8046720" y="73152"/>
            <a:ext cx="457200" cy="201168"/>
          </a:xfrm>
          <a:prstGeom prst="parallelogram">
            <a:avLst/>
          </a:prstGeom>
          <a:solidFill>
            <a:srgbClr val="059669">
              <a:alpha val="55000"/>
            </a:srgbClr>
          </a:solidFill>
        </p:spPr>
      </p:sp>
      <p:sp>
        <p:nvSpPr>
          <p:cNvPr id="7" name="Shape 5"/>
          <p:cNvSpPr/>
          <p:nvPr/>
        </p:nvSpPr>
        <p:spPr>
          <a:xfrm>
            <a:off x="7315200" y="91440"/>
            <a:ext cx="548640" cy="274320"/>
          </a:xfrm>
          <a:prstGeom prst="parallelogram">
            <a:avLst/>
          </a:prstGeom>
          <a:solidFill>
            <a:srgbClr val="059669">
              <a:alpha val="70000"/>
            </a:srgbClr>
          </a:solidFill>
        </p:spPr>
      </p:sp>
      <p:sp>
        <p:nvSpPr>
          <p:cNvPr id="8" name="Shape 6"/>
          <p:cNvSpPr/>
          <p:nvPr/>
        </p:nvSpPr>
        <p:spPr>
          <a:xfrm>
            <a:off x="7955280" y="91440"/>
            <a:ext cx="548640" cy="274320"/>
          </a:xfrm>
          <a:prstGeom prst="parallelogram">
            <a:avLst/>
          </a:prstGeom>
          <a:solidFill>
            <a:srgbClr val="059669">
              <a:alpha val="50000"/>
            </a:srgbClr>
          </a:solidFill>
        </p:spPr>
      </p:sp>
      <p:sp>
        <p:nvSpPr>
          <p:cNvPr id="10" name="Shape 8"/>
          <p:cNvSpPr/>
          <p:nvPr/>
        </p:nvSpPr>
        <p:spPr>
          <a:xfrm>
            <a:off x="457200" y="777240"/>
            <a:ext cx="2560320" cy="502920"/>
          </a:xfrm>
          <a:prstGeom prst="roundRect">
            <a:avLst>
              <a:gd name="adj" fmla="val 14545"/>
            </a:avLst>
          </a:prstGeom>
          <a:solidFill>
            <a:srgbClr val="0F172A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66928" y="795528"/>
            <a:ext cx="10972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5966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60%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737360" y="795528"/>
            <a:ext cx="1188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应急响应提升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91840" y="777240"/>
            <a:ext cx="2560320" cy="502920"/>
          </a:xfrm>
          <a:prstGeom prst="roundRect">
            <a:avLst>
              <a:gd name="adj" fmla="val 14545"/>
            </a:avLst>
          </a:prstGeom>
          <a:solidFill>
            <a:srgbClr val="0F172A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401568" y="795528"/>
            <a:ext cx="10972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47857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95%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572000" y="795528"/>
            <a:ext cx="1188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监控覆盖率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26480" y="777240"/>
            <a:ext cx="2560320" cy="502920"/>
          </a:xfrm>
          <a:prstGeom prst="roundRect">
            <a:avLst>
              <a:gd name="adj" fmla="val 14545"/>
            </a:avLst>
          </a:prstGeom>
          <a:solidFill>
            <a:srgbClr val="0F172A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36208" y="795528"/>
            <a:ext cx="10972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5F4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30%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406640" y="795528"/>
            <a:ext cx="1188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管理效率提升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1463040"/>
            <a:ext cx="19202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1554480"/>
            <a:ext cx="1737360" cy="36576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21" name="Shape 19"/>
          <p:cNvSpPr/>
          <p:nvPr/>
        </p:nvSpPr>
        <p:spPr>
          <a:xfrm>
            <a:off x="1234440" y="1691640"/>
            <a:ext cx="320040" cy="320040"/>
          </a:xfrm>
          <a:prstGeom prst="ellipse">
            <a:avLst/>
          </a:prstGeom>
          <a:solidFill>
            <a:srgbClr val="ECFDF5"/>
          </a:solidFill>
        </p:spPr>
      </p:sp>
      <p:sp>
        <p:nvSpPr>
          <p:cNvPr id="22" name="Text 20"/>
          <p:cNvSpPr/>
          <p:nvPr/>
        </p:nvSpPr>
        <p:spPr>
          <a:xfrm>
            <a:off x="530352" y="2057400"/>
            <a:ext cx="1773936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596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道路交通监控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30352" y="2267712"/>
            <a:ext cx="1773936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车辆识别、违章捕捉、交通状态实时可视化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2560320" y="1463040"/>
            <a:ext cx="19202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651760" y="1554480"/>
            <a:ext cx="1737360" cy="36576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26" name="Shape 24"/>
          <p:cNvSpPr/>
          <p:nvPr/>
        </p:nvSpPr>
        <p:spPr>
          <a:xfrm>
            <a:off x="3337560" y="1691640"/>
            <a:ext cx="320040" cy="320040"/>
          </a:xfrm>
          <a:prstGeom prst="ellipse">
            <a:avLst/>
          </a:prstGeom>
          <a:solidFill>
            <a:srgbClr val="ECFDF5"/>
          </a:solidFill>
        </p:spPr>
      </p:sp>
      <p:sp>
        <p:nvSpPr>
          <p:cNvPr id="27" name="Text 25"/>
          <p:cNvSpPr/>
          <p:nvPr/>
        </p:nvSpPr>
        <p:spPr>
          <a:xfrm>
            <a:off x="2633472" y="2057400"/>
            <a:ext cx="1773936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596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地灾安全监测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633472" y="2267712"/>
            <a:ext cx="1773936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地质灾害实时监测、多传感器联动预警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4663440" y="1463040"/>
            <a:ext cx="19202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1554480"/>
            <a:ext cx="1737360" cy="36576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31" name="Shape 29"/>
          <p:cNvSpPr/>
          <p:nvPr/>
        </p:nvSpPr>
        <p:spPr>
          <a:xfrm>
            <a:off x="5440680" y="1691640"/>
            <a:ext cx="320040" cy="320040"/>
          </a:xfrm>
          <a:prstGeom prst="ellipse">
            <a:avLst/>
          </a:prstGeom>
          <a:solidFill>
            <a:srgbClr val="ECFDF5"/>
          </a:solidFill>
        </p:spPr>
      </p:sp>
      <p:sp>
        <p:nvSpPr>
          <p:cNvPr id="32" name="Text 30"/>
          <p:cNvSpPr/>
          <p:nvPr/>
        </p:nvSpPr>
        <p:spPr>
          <a:xfrm>
            <a:off x="4736592" y="2057400"/>
            <a:ext cx="1773936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596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环保监控检测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736592" y="2267712"/>
            <a:ext cx="1773936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环境指标实时监测、排放数据追踪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6766560" y="1463040"/>
            <a:ext cx="19202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858000" y="1554480"/>
            <a:ext cx="1737360" cy="36576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36" name="Shape 34"/>
          <p:cNvSpPr/>
          <p:nvPr/>
        </p:nvSpPr>
        <p:spPr>
          <a:xfrm>
            <a:off x="7543800" y="1691640"/>
            <a:ext cx="320040" cy="320040"/>
          </a:xfrm>
          <a:prstGeom prst="ellipse">
            <a:avLst/>
          </a:prstGeom>
          <a:solidFill>
            <a:srgbClr val="ECFDF5"/>
          </a:solidFill>
        </p:spPr>
      </p:sp>
      <p:sp>
        <p:nvSpPr>
          <p:cNvPr id="37" name="Text 35"/>
          <p:cNvSpPr/>
          <p:nvPr/>
        </p:nvSpPr>
        <p:spPr>
          <a:xfrm>
            <a:off x="6839712" y="2057400"/>
            <a:ext cx="1773936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596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视频监控总览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839712" y="2267712"/>
            <a:ext cx="1773936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统一视频平台、智能排列、全园区覆盖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457200" y="2788920"/>
            <a:ext cx="19202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48640" y="2880360"/>
            <a:ext cx="1737360" cy="36576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41" name="Shape 39"/>
          <p:cNvSpPr/>
          <p:nvPr/>
        </p:nvSpPr>
        <p:spPr>
          <a:xfrm>
            <a:off x="1234440" y="3017520"/>
            <a:ext cx="320040" cy="320040"/>
          </a:xfrm>
          <a:prstGeom prst="ellipse">
            <a:avLst/>
          </a:prstGeom>
          <a:solidFill>
            <a:srgbClr val="ECFDF5"/>
          </a:solidFill>
        </p:spPr>
      </p:sp>
      <p:sp>
        <p:nvSpPr>
          <p:cNvPr id="42" name="Text 40"/>
          <p:cNvSpPr/>
          <p:nvPr/>
        </p:nvSpPr>
        <p:spPr>
          <a:xfrm>
            <a:off x="530352" y="3383280"/>
            <a:ext cx="1773936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596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应急指挥联动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30352" y="3593592"/>
            <a:ext cx="1773936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一键调度、预案管理、实时通讯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2560320" y="2788920"/>
            <a:ext cx="19202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2651760" y="2880360"/>
            <a:ext cx="1737360" cy="36576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46" name="Shape 44"/>
          <p:cNvSpPr/>
          <p:nvPr/>
        </p:nvSpPr>
        <p:spPr>
          <a:xfrm>
            <a:off x="3337560" y="3017520"/>
            <a:ext cx="320040" cy="320040"/>
          </a:xfrm>
          <a:prstGeom prst="ellipse">
            <a:avLst/>
          </a:prstGeom>
          <a:solidFill>
            <a:srgbClr val="ECFDF5"/>
          </a:solidFill>
        </p:spPr>
      </p:sp>
      <p:sp>
        <p:nvSpPr>
          <p:cNvPr id="47" name="Text 45"/>
          <p:cNvSpPr/>
          <p:nvPr/>
        </p:nvSpPr>
        <p:spPr>
          <a:xfrm>
            <a:off x="2633472" y="3383280"/>
            <a:ext cx="1773936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596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能效监测分析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2633472" y="3593592"/>
            <a:ext cx="1773936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智能计量表实时采集、用能趋势分析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4663440" y="2788920"/>
            <a:ext cx="19202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754880" y="2880360"/>
            <a:ext cx="1737360" cy="36576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51" name="Shape 49"/>
          <p:cNvSpPr/>
          <p:nvPr/>
        </p:nvSpPr>
        <p:spPr>
          <a:xfrm>
            <a:off x="5440680" y="3017520"/>
            <a:ext cx="320040" cy="320040"/>
          </a:xfrm>
          <a:prstGeom prst="ellipse">
            <a:avLst/>
          </a:prstGeom>
          <a:solidFill>
            <a:srgbClr val="ECFDF5"/>
          </a:solidFill>
        </p:spPr>
      </p:sp>
      <p:sp>
        <p:nvSpPr>
          <p:cNvPr id="52" name="Text 50"/>
          <p:cNvSpPr/>
          <p:nvPr/>
        </p:nvSpPr>
        <p:spPr>
          <a:xfrm>
            <a:off x="4736592" y="3383280"/>
            <a:ext cx="1773936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596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亩均论英雄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4736592" y="3593592"/>
            <a:ext cx="1773936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大数据评价体系、资源差异化配置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6766560" y="2788920"/>
            <a:ext cx="19202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6858000" y="2880360"/>
            <a:ext cx="1737360" cy="36576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56" name="Shape 54"/>
          <p:cNvSpPr/>
          <p:nvPr/>
        </p:nvSpPr>
        <p:spPr>
          <a:xfrm>
            <a:off x="7543800" y="3017520"/>
            <a:ext cx="320040" cy="320040"/>
          </a:xfrm>
          <a:prstGeom prst="ellipse">
            <a:avLst/>
          </a:prstGeom>
          <a:solidFill>
            <a:srgbClr val="ECFDF5"/>
          </a:solidFill>
        </p:spPr>
      </p:sp>
      <p:sp>
        <p:nvSpPr>
          <p:cNvPr id="57" name="Text 55"/>
          <p:cNvSpPr/>
          <p:nvPr/>
        </p:nvSpPr>
        <p:spPr>
          <a:xfrm>
            <a:off x="6839712" y="3383280"/>
            <a:ext cx="1773936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596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异常预警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6839712" y="3593592"/>
            <a:ext cx="1773936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用能异常自动告警、碳排管理追踪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8503920" y="4663440"/>
            <a:ext cx="320040" cy="320040"/>
          </a:xfrm>
          <a:prstGeom prst="ellipse">
            <a:avLst/>
          </a:prstGeom>
          <a:solidFill>
            <a:srgbClr val="059669"/>
          </a:solidFill>
        </p:spPr>
      </p:sp>
      <p:sp>
        <p:nvSpPr>
          <p:cNvPr id="60" name="Text 58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园区管理层 — 运营管理与数字化办公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548640"/>
            <a:ext cx="640080" cy="22860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5" name="Shape 3"/>
          <p:cNvSpPr/>
          <p:nvPr/>
        </p:nvSpPr>
        <p:spPr>
          <a:xfrm>
            <a:off x="7498080" y="73152"/>
            <a:ext cx="457200" cy="201168"/>
          </a:xfrm>
          <a:prstGeom prst="parallelogram">
            <a:avLst/>
          </a:prstGeom>
          <a:solidFill>
            <a:srgbClr val="059669">
              <a:alpha val="75000"/>
            </a:srgbClr>
          </a:solidFill>
        </p:spPr>
      </p:sp>
      <p:sp>
        <p:nvSpPr>
          <p:cNvPr id="6" name="Shape 4"/>
          <p:cNvSpPr/>
          <p:nvPr/>
        </p:nvSpPr>
        <p:spPr>
          <a:xfrm>
            <a:off x="8046720" y="73152"/>
            <a:ext cx="457200" cy="201168"/>
          </a:xfrm>
          <a:prstGeom prst="parallelogram">
            <a:avLst/>
          </a:prstGeom>
          <a:solidFill>
            <a:srgbClr val="059669">
              <a:alpha val="55000"/>
            </a:srgbClr>
          </a:solidFill>
        </p:spPr>
      </p:sp>
      <p:sp>
        <p:nvSpPr>
          <p:cNvPr id="7" name="Shape 5"/>
          <p:cNvSpPr/>
          <p:nvPr/>
        </p:nvSpPr>
        <p:spPr>
          <a:xfrm>
            <a:off x="7315200" y="91440"/>
            <a:ext cx="548640" cy="274320"/>
          </a:xfrm>
          <a:prstGeom prst="parallelogram">
            <a:avLst/>
          </a:prstGeom>
          <a:solidFill>
            <a:srgbClr val="059669">
              <a:alpha val="70000"/>
            </a:srgbClr>
          </a:solidFill>
        </p:spPr>
      </p:sp>
      <p:sp>
        <p:nvSpPr>
          <p:cNvPr id="8" name="Shape 6"/>
          <p:cNvSpPr/>
          <p:nvPr/>
        </p:nvSpPr>
        <p:spPr>
          <a:xfrm>
            <a:off x="7955280" y="91440"/>
            <a:ext cx="548640" cy="274320"/>
          </a:xfrm>
          <a:prstGeom prst="parallelogram">
            <a:avLst/>
          </a:prstGeom>
          <a:solidFill>
            <a:srgbClr val="059669">
              <a:alpha val="50000"/>
            </a:srgbClr>
          </a:solidFill>
        </p:spPr>
      </p:sp>
      <p:sp>
        <p:nvSpPr>
          <p:cNvPr id="10" name="Shape 8"/>
          <p:cNvSpPr/>
          <p:nvPr/>
        </p:nvSpPr>
        <p:spPr>
          <a:xfrm>
            <a:off x="457200" y="777240"/>
            <a:ext cx="41148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850392"/>
            <a:ext cx="27432" cy="493776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12" name="Text 10"/>
          <p:cNvSpPr/>
          <p:nvPr/>
        </p:nvSpPr>
        <p:spPr>
          <a:xfrm>
            <a:off x="640080" y="832104"/>
            <a:ext cx="34747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96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运营服务中心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1051560"/>
            <a:ext cx="3474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大屏指挥+园小二团队+3年长效服务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206240" y="1033272"/>
            <a:ext cx="36576" cy="36576"/>
          </a:xfrm>
          <a:prstGeom prst="ellipse">
            <a:avLst/>
          </a:prstGeom>
          <a:solidFill>
            <a:srgbClr val="059669"/>
          </a:solidFill>
        </p:spPr>
      </p:sp>
      <p:sp>
        <p:nvSpPr>
          <p:cNvPr id="15" name="Shape 13"/>
          <p:cNvSpPr/>
          <p:nvPr/>
        </p:nvSpPr>
        <p:spPr>
          <a:xfrm>
            <a:off x="457200" y="1554480"/>
            <a:ext cx="41148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1627632"/>
            <a:ext cx="27432" cy="493776"/>
          </a:xfrm>
          <a:prstGeom prst="rect">
            <a:avLst/>
          </a:prstGeom>
          <a:solidFill>
            <a:srgbClr val="047857"/>
          </a:solidFill>
        </p:spPr>
      </p:sp>
      <p:sp>
        <p:nvSpPr>
          <p:cNvPr id="17" name="Text 15"/>
          <p:cNvSpPr/>
          <p:nvPr/>
        </p:nvSpPr>
        <p:spPr>
          <a:xfrm>
            <a:off x="640080" y="1609344"/>
            <a:ext cx="34747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4785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日常运营管理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1828800"/>
            <a:ext cx="3474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数字化审批、日常巡检、资产管理、档案管理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206240" y="1810512"/>
            <a:ext cx="36576" cy="36576"/>
          </a:xfrm>
          <a:prstGeom prst="ellipse">
            <a:avLst/>
          </a:prstGeom>
          <a:solidFill>
            <a:srgbClr val="047857"/>
          </a:solidFill>
        </p:spPr>
      </p:sp>
      <p:sp>
        <p:nvSpPr>
          <p:cNvPr id="20" name="Shape 18"/>
          <p:cNvSpPr/>
          <p:nvPr/>
        </p:nvSpPr>
        <p:spPr>
          <a:xfrm>
            <a:off x="457200" y="2331720"/>
            <a:ext cx="41148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2920" y="2404872"/>
            <a:ext cx="27432" cy="493776"/>
          </a:xfrm>
          <a:prstGeom prst="rect">
            <a:avLst/>
          </a:prstGeom>
          <a:solidFill>
            <a:srgbClr val="047857"/>
          </a:solidFill>
        </p:spPr>
      </p:sp>
      <p:sp>
        <p:nvSpPr>
          <p:cNvPr id="22" name="Text 20"/>
          <p:cNvSpPr/>
          <p:nvPr/>
        </p:nvSpPr>
        <p:spPr>
          <a:xfrm>
            <a:off x="640080" y="2386584"/>
            <a:ext cx="34747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96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设备与物联网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2606040"/>
            <a:ext cx="3474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摄像头、传感器、智能设备统一管控与远程调度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206240" y="2587752"/>
            <a:ext cx="36576" cy="36576"/>
          </a:xfrm>
          <a:prstGeom prst="ellipse">
            <a:avLst/>
          </a:prstGeom>
          <a:solidFill>
            <a:srgbClr val="065F46"/>
          </a:solidFill>
        </p:spPr>
      </p:sp>
      <p:sp>
        <p:nvSpPr>
          <p:cNvPr id="25" name="Shape 23"/>
          <p:cNvSpPr/>
          <p:nvPr/>
        </p:nvSpPr>
        <p:spPr>
          <a:xfrm>
            <a:off x="457200" y="3108960"/>
            <a:ext cx="41148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02920" y="3182112"/>
            <a:ext cx="27432" cy="493776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27" name="Text 25"/>
          <p:cNvSpPr/>
          <p:nvPr/>
        </p:nvSpPr>
        <p:spPr>
          <a:xfrm>
            <a:off x="640080" y="3163824"/>
            <a:ext cx="34747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96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综合数据管控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" y="3383280"/>
            <a:ext cx="3474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数据中心、数据质量、报表管理、数据备份与安全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4206240" y="3364992"/>
            <a:ext cx="36576" cy="36576"/>
          </a:xfrm>
          <a:prstGeom prst="ellipse">
            <a:avLst/>
          </a:prstGeom>
          <a:solidFill>
            <a:srgbClr val="059669"/>
          </a:solidFill>
        </p:spPr>
      </p:sp>
      <p:sp>
        <p:nvSpPr>
          <p:cNvPr id="30" name="Shape 28"/>
          <p:cNvSpPr/>
          <p:nvPr/>
        </p:nvSpPr>
        <p:spPr>
          <a:xfrm>
            <a:off x="4846320" y="777240"/>
            <a:ext cx="3931920" cy="29718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029200" y="841248"/>
            <a:ext cx="34747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运营数据一览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46320" y="1051560"/>
            <a:ext cx="3931920" cy="13716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33" name="Text 31"/>
          <p:cNvSpPr/>
          <p:nvPr/>
        </p:nvSpPr>
        <p:spPr>
          <a:xfrm>
            <a:off x="5029200" y="1143000"/>
            <a:ext cx="13716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监控设备总数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217920" y="1124712"/>
            <a:ext cx="73152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5966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128台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029200" y="1389888"/>
            <a:ext cx="1920240" cy="457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6" name="Text 34"/>
          <p:cNvSpPr/>
          <p:nvPr/>
        </p:nvSpPr>
        <p:spPr>
          <a:xfrm>
            <a:off x="5029200" y="1737360"/>
            <a:ext cx="13716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日常审批流程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217920" y="1719072"/>
            <a:ext cx="731520" cy="219456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sz="1400" b="1" dirty="0">
                <a:solidFill>
                  <a:srgbClr val="05966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  <a:sym typeface="+mn-ea"/>
              </a:rPr>
              <a:t>15类</a:t>
            </a:r>
            <a:endParaRPr lang="en-US" sz="1400" b="1" dirty="0">
              <a:solidFill>
                <a:srgbClr val="059669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  <a:sym typeface="+mn-ea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5029200" y="1984248"/>
            <a:ext cx="1920240" cy="457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9" name="Text 37"/>
          <p:cNvSpPr/>
          <p:nvPr/>
        </p:nvSpPr>
        <p:spPr>
          <a:xfrm>
            <a:off x="5029200" y="2331720"/>
            <a:ext cx="13716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资产管理总数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217920" y="2313432"/>
            <a:ext cx="731520" cy="219456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sz="1000" b="1" dirty="0">
                <a:solidFill>
                  <a:srgbClr val="05966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  <a:sym typeface="+mn-ea"/>
              </a:rPr>
              <a:t>2,800+件</a:t>
            </a:r>
            <a:endParaRPr lang="en-US" sz="1000" b="1" dirty="0">
              <a:solidFill>
                <a:srgbClr val="059669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  <a:sym typeface="+mn-ea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5029200" y="2578608"/>
            <a:ext cx="1920240" cy="457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2" name="Text 40"/>
          <p:cNvSpPr/>
          <p:nvPr/>
        </p:nvSpPr>
        <p:spPr>
          <a:xfrm>
            <a:off x="6949440" y="1143000"/>
            <a:ext cx="13716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日均处理事件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8138160" y="1124712"/>
            <a:ext cx="73152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5966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50+条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6949440" y="1389888"/>
            <a:ext cx="1920240" cy="457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5" name="Text 43"/>
          <p:cNvSpPr/>
          <p:nvPr/>
        </p:nvSpPr>
        <p:spPr>
          <a:xfrm>
            <a:off x="6949440" y="1737360"/>
            <a:ext cx="13716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数据对接系统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8138160" y="1719072"/>
            <a:ext cx="731520" cy="219456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sz="1400" b="1" dirty="0">
                <a:solidFill>
                  <a:srgbClr val="05966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  <a:sym typeface="+mn-ea"/>
              </a:rPr>
              <a:t>12套</a:t>
            </a:r>
            <a:endParaRPr lang="en-US" sz="1400" b="1" dirty="0">
              <a:solidFill>
                <a:srgbClr val="059669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  <a:sym typeface="+mn-ea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6949440" y="1984248"/>
            <a:ext cx="1920240" cy="457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8" name="Text 46"/>
          <p:cNvSpPr/>
          <p:nvPr/>
        </p:nvSpPr>
        <p:spPr>
          <a:xfrm>
            <a:off x="6949440" y="2331720"/>
            <a:ext cx="13716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在线服务模块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8138160" y="2313432"/>
            <a:ext cx="731520" cy="219456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sz="1400" b="1" dirty="0">
                <a:solidFill>
                  <a:srgbClr val="05966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  <a:sym typeface="+mn-ea"/>
              </a:rPr>
              <a:t>35+个</a:t>
            </a:r>
            <a:endParaRPr lang="en-US" sz="1400" b="1" dirty="0">
              <a:solidFill>
                <a:srgbClr val="059669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  <a:sym typeface="+mn-ea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8503920" y="4663440"/>
            <a:ext cx="320040" cy="320040"/>
          </a:xfrm>
          <a:prstGeom prst="ellipse">
            <a:avLst/>
          </a:prstGeom>
          <a:solidFill>
            <a:srgbClr val="059669"/>
          </a:solidFill>
        </p:spPr>
      </p:sp>
      <p:sp>
        <p:nvSpPr>
          <p:cNvPr id="51" name="Text 49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园区管理层 — 能效监测与亩均论英雄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548640"/>
            <a:ext cx="640080" cy="22860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5" name="Shape 3"/>
          <p:cNvSpPr/>
          <p:nvPr/>
        </p:nvSpPr>
        <p:spPr>
          <a:xfrm>
            <a:off x="7498080" y="73152"/>
            <a:ext cx="457200" cy="201168"/>
          </a:xfrm>
          <a:prstGeom prst="parallelogram">
            <a:avLst/>
          </a:prstGeom>
          <a:solidFill>
            <a:srgbClr val="059669">
              <a:alpha val="75000"/>
            </a:srgbClr>
          </a:solidFill>
        </p:spPr>
      </p:sp>
      <p:sp>
        <p:nvSpPr>
          <p:cNvPr id="6" name="Shape 4"/>
          <p:cNvSpPr/>
          <p:nvPr/>
        </p:nvSpPr>
        <p:spPr>
          <a:xfrm>
            <a:off x="8046720" y="73152"/>
            <a:ext cx="457200" cy="201168"/>
          </a:xfrm>
          <a:prstGeom prst="parallelogram">
            <a:avLst/>
          </a:prstGeom>
          <a:solidFill>
            <a:srgbClr val="059669">
              <a:alpha val="55000"/>
            </a:srgbClr>
          </a:solidFill>
        </p:spPr>
      </p:sp>
      <p:sp>
        <p:nvSpPr>
          <p:cNvPr id="7" name="Shape 5"/>
          <p:cNvSpPr/>
          <p:nvPr/>
        </p:nvSpPr>
        <p:spPr>
          <a:xfrm>
            <a:off x="7315200" y="91440"/>
            <a:ext cx="548640" cy="274320"/>
          </a:xfrm>
          <a:prstGeom prst="parallelogram">
            <a:avLst/>
          </a:prstGeom>
          <a:solidFill>
            <a:srgbClr val="059669">
              <a:alpha val="70000"/>
            </a:srgbClr>
          </a:solidFill>
        </p:spPr>
      </p:sp>
      <p:sp>
        <p:nvSpPr>
          <p:cNvPr id="8" name="Shape 6"/>
          <p:cNvSpPr/>
          <p:nvPr/>
        </p:nvSpPr>
        <p:spPr>
          <a:xfrm>
            <a:off x="7955280" y="91440"/>
            <a:ext cx="548640" cy="274320"/>
          </a:xfrm>
          <a:prstGeom prst="parallelogram">
            <a:avLst/>
          </a:prstGeom>
          <a:solidFill>
            <a:srgbClr val="059669">
              <a:alpha val="50000"/>
            </a:srgbClr>
          </a:solidFill>
        </p:spPr>
      </p:sp>
      <p:sp>
        <p:nvSpPr>
          <p:cNvPr id="10" name="Shape 8"/>
          <p:cNvSpPr/>
          <p:nvPr/>
        </p:nvSpPr>
        <p:spPr>
          <a:xfrm>
            <a:off x="457200" y="777240"/>
            <a:ext cx="39776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777240"/>
            <a:ext cx="3977640" cy="36576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12" name="Shape 10"/>
          <p:cNvSpPr/>
          <p:nvPr/>
        </p:nvSpPr>
        <p:spPr>
          <a:xfrm>
            <a:off x="566928" y="914400"/>
            <a:ext cx="73152" cy="73152"/>
          </a:xfrm>
          <a:prstGeom prst="ellipse">
            <a:avLst/>
          </a:prstGeom>
          <a:solidFill>
            <a:srgbClr val="059669"/>
          </a:solidFill>
        </p:spPr>
      </p:sp>
      <p:sp>
        <p:nvSpPr>
          <p:cNvPr id="13" name="Text 11"/>
          <p:cNvSpPr/>
          <p:nvPr/>
        </p:nvSpPr>
        <p:spPr>
          <a:xfrm>
            <a:off x="731520" y="868680"/>
            <a:ext cx="35661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企业用能监测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6928" y="1124712"/>
            <a:ext cx="37490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智能计量表实时采集能耗数据，支持水、电、气多维度监控，可视化展示能耗趋势与异常告警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709160" y="777240"/>
            <a:ext cx="39776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777240"/>
            <a:ext cx="3977640" cy="36576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17" name="Shape 15"/>
          <p:cNvSpPr/>
          <p:nvPr/>
        </p:nvSpPr>
        <p:spPr>
          <a:xfrm>
            <a:off x="4818888" y="914400"/>
            <a:ext cx="73152" cy="73152"/>
          </a:xfrm>
          <a:prstGeom prst="ellipse">
            <a:avLst/>
          </a:prstGeom>
          <a:solidFill>
            <a:srgbClr val="059669"/>
          </a:solidFill>
        </p:spPr>
      </p:sp>
      <p:sp>
        <p:nvSpPr>
          <p:cNvPr id="18" name="Text 16"/>
          <p:cNvSpPr/>
          <p:nvPr/>
        </p:nvSpPr>
        <p:spPr>
          <a:xfrm>
            <a:off x="4983480" y="868680"/>
            <a:ext cx="3566160" cy="201168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lvl="0" algn="l">
              <a:buClrTx/>
              <a:buSzTx/>
              <a:buFontTx/>
            </a:pPr>
            <a:r>
              <a:rPr lang="en-US" sz="1100" b="1" dirty="0">
                <a:solidFill>
                  <a:srgbClr val="0596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亩均论英雄</a:t>
            </a:r>
            <a:endParaRPr lang="en-US" sz="1100" b="1" dirty="0">
              <a:solidFill>
                <a:srgbClr val="059669"/>
              </a:solidFill>
              <a:latin typeface="微软雅黑" pitchFamily="34" charset="0"/>
              <a:ea typeface="微软雅黑" pitchFamily="34" charset="-122"/>
              <a:cs typeface="微软雅黑" pitchFamily="34" charset="-120"/>
              <a:sym typeface="+mn-ea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818888" y="1124712"/>
            <a:ext cx="37490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大数据评价体系，投入产出、能耗排放等多维度指标综合评价，实现资源要素差异化配置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57200" y="1965960"/>
            <a:ext cx="39776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1965960"/>
            <a:ext cx="3977640" cy="36576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22" name="Shape 20"/>
          <p:cNvSpPr/>
          <p:nvPr/>
        </p:nvSpPr>
        <p:spPr>
          <a:xfrm>
            <a:off x="566928" y="2103120"/>
            <a:ext cx="73152" cy="73152"/>
          </a:xfrm>
          <a:prstGeom prst="ellipse">
            <a:avLst/>
          </a:prstGeom>
          <a:solidFill>
            <a:srgbClr val="059669"/>
          </a:solidFill>
        </p:spPr>
      </p:sp>
      <p:sp>
        <p:nvSpPr>
          <p:cNvPr id="23" name="Text 21"/>
          <p:cNvSpPr/>
          <p:nvPr/>
        </p:nvSpPr>
        <p:spPr>
          <a:xfrm>
            <a:off x="731520" y="2057400"/>
            <a:ext cx="3566160" cy="201168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lvl="0" algn="l">
              <a:buClrTx/>
              <a:buSzTx/>
              <a:buFontTx/>
            </a:pPr>
            <a:r>
              <a:rPr lang="en-US" sz="1100" b="1" dirty="0">
                <a:solidFill>
                  <a:srgbClr val="0596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能效分析</a:t>
            </a:r>
            <a:endParaRPr lang="en-US" sz="1100" b="1" dirty="0">
              <a:solidFill>
                <a:srgbClr val="059669"/>
              </a:solidFill>
              <a:latin typeface="微软雅黑" pitchFamily="34" charset="0"/>
              <a:ea typeface="微软雅黑" pitchFamily="34" charset="-122"/>
              <a:cs typeface="微软雅黑" pitchFamily="34" charset="-120"/>
              <a:sym typeface="+mn-ea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66928" y="2313432"/>
            <a:ext cx="37490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企业能耗效率多维度分析，同比环比趋势可视化，识别能耗浪费点，优化生产过程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709160" y="1965960"/>
            <a:ext cx="39776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1965960"/>
            <a:ext cx="3977640" cy="36576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27" name="Shape 25"/>
          <p:cNvSpPr/>
          <p:nvPr/>
        </p:nvSpPr>
        <p:spPr>
          <a:xfrm>
            <a:off x="4818888" y="2103120"/>
            <a:ext cx="73152" cy="73152"/>
          </a:xfrm>
          <a:prstGeom prst="ellipse">
            <a:avLst/>
          </a:prstGeom>
          <a:solidFill>
            <a:srgbClr val="059669"/>
          </a:solidFill>
        </p:spPr>
      </p:sp>
      <p:sp>
        <p:nvSpPr>
          <p:cNvPr id="28" name="Text 26"/>
          <p:cNvSpPr/>
          <p:nvPr/>
        </p:nvSpPr>
        <p:spPr>
          <a:xfrm>
            <a:off x="4983480" y="2057400"/>
            <a:ext cx="3566160" cy="201168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lvl="0" algn="l">
              <a:buClrTx/>
              <a:buSzTx/>
              <a:buFontTx/>
            </a:pPr>
            <a:r>
              <a:rPr lang="en-US" sz="1100" b="1" dirty="0">
                <a:solidFill>
                  <a:srgbClr val="0596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异常预警</a:t>
            </a:r>
            <a:endParaRPr lang="en-US" sz="1100" b="1" dirty="0">
              <a:solidFill>
                <a:srgbClr val="059669"/>
              </a:solidFill>
              <a:latin typeface="微软雅黑" pitchFamily="34" charset="0"/>
              <a:ea typeface="微软雅黑" pitchFamily="34" charset="-122"/>
              <a:cs typeface="微软雅黑" pitchFamily="34" charset="-120"/>
              <a:sym typeface="+mn-ea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4818888" y="2313432"/>
            <a:ext cx="37490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用能异常自动告警，发现能源浪费问题，碳排放管理追踪，支持企业绿色低碳升级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57200" y="3383280"/>
            <a:ext cx="8229600" cy="27432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40080" y="3401568"/>
            <a:ext cx="78638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563E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数据中心集成：12大三方数据来源（天然气、电力、水、综合执法、环保、应急、交通、公安、自然资源、气象、人社、运营商）统一对接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57200" y="379476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40080" y="3840480"/>
            <a:ext cx="2743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96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设备管理能力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40080" y="4114800"/>
            <a:ext cx="1188720" cy="201168"/>
          </a:xfrm>
          <a:prstGeom prst="roundRect">
            <a:avLst>
              <a:gd name="adj" fmla="val 13636"/>
            </a:avLst>
          </a:prstGeom>
          <a:solidFill>
            <a:srgbClr val="ECFDF5"/>
          </a:solidFill>
        </p:spPr>
      </p:sp>
      <p:sp>
        <p:nvSpPr>
          <p:cNvPr id="35" name="Text 33"/>
          <p:cNvSpPr/>
          <p:nvPr/>
        </p:nvSpPr>
        <p:spPr>
          <a:xfrm>
            <a:off x="640080" y="4114800"/>
            <a:ext cx="11887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596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摄像头管理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2011680" y="4114800"/>
            <a:ext cx="1188720" cy="201168"/>
          </a:xfrm>
          <a:prstGeom prst="roundRect">
            <a:avLst>
              <a:gd name="adj" fmla="val 13636"/>
            </a:avLst>
          </a:prstGeom>
          <a:solidFill>
            <a:srgbClr val="ECFDF5"/>
          </a:solidFill>
        </p:spPr>
      </p:sp>
      <p:sp>
        <p:nvSpPr>
          <p:cNvPr id="37" name="Text 35"/>
          <p:cNvSpPr/>
          <p:nvPr/>
        </p:nvSpPr>
        <p:spPr>
          <a:xfrm>
            <a:off x="2011680" y="4114800"/>
            <a:ext cx="11887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596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GPS设备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3383280" y="4114800"/>
            <a:ext cx="1188720" cy="201168"/>
          </a:xfrm>
          <a:prstGeom prst="roundRect">
            <a:avLst>
              <a:gd name="adj" fmla="val 13636"/>
            </a:avLst>
          </a:prstGeom>
          <a:solidFill>
            <a:srgbClr val="ECFDF5"/>
          </a:solidFill>
        </p:spPr>
      </p:sp>
      <p:sp>
        <p:nvSpPr>
          <p:cNvPr id="39" name="Text 37"/>
          <p:cNvSpPr/>
          <p:nvPr/>
        </p:nvSpPr>
        <p:spPr>
          <a:xfrm>
            <a:off x="3383280" y="4114800"/>
            <a:ext cx="11887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596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雷达监测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4754880" y="4114800"/>
            <a:ext cx="1188720" cy="201168"/>
          </a:xfrm>
          <a:prstGeom prst="roundRect">
            <a:avLst>
              <a:gd name="adj" fmla="val 13636"/>
            </a:avLst>
          </a:prstGeom>
          <a:solidFill>
            <a:srgbClr val="ECFDF5"/>
          </a:solidFill>
        </p:spPr>
      </p:sp>
      <p:sp>
        <p:nvSpPr>
          <p:cNvPr id="41" name="Text 39"/>
          <p:cNvSpPr/>
          <p:nvPr/>
        </p:nvSpPr>
        <p:spPr>
          <a:xfrm>
            <a:off x="4754880" y="4114800"/>
            <a:ext cx="11887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596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智能称重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6126480" y="4114800"/>
            <a:ext cx="1188720" cy="201168"/>
          </a:xfrm>
          <a:prstGeom prst="roundRect">
            <a:avLst>
              <a:gd name="adj" fmla="val 13636"/>
            </a:avLst>
          </a:prstGeom>
          <a:solidFill>
            <a:srgbClr val="ECFDF5"/>
          </a:solidFill>
        </p:spPr>
      </p:sp>
      <p:sp>
        <p:nvSpPr>
          <p:cNvPr id="43" name="Text 41"/>
          <p:cNvSpPr/>
          <p:nvPr/>
        </p:nvSpPr>
        <p:spPr>
          <a:xfrm>
            <a:off x="6126480" y="4114800"/>
            <a:ext cx="11887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596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数据库管理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7498080" y="4114800"/>
            <a:ext cx="1188720" cy="201168"/>
          </a:xfrm>
          <a:prstGeom prst="roundRect">
            <a:avLst>
              <a:gd name="adj" fmla="val 13636"/>
            </a:avLst>
          </a:prstGeom>
          <a:solidFill>
            <a:srgbClr val="ECFDF5"/>
          </a:solidFill>
        </p:spPr>
      </p:sp>
      <p:sp>
        <p:nvSpPr>
          <p:cNvPr id="45" name="Text 43"/>
          <p:cNvSpPr/>
          <p:nvPr/>
        </p:nvSpPr>
        <p:spPr>
          <a:xfrm>
            <a:off x="7498080" y="4114800"/>
            <a:ext cx="11887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596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日志审计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8503920" y="4663440"/>
            <a:ext cx="320040" cy="320040"/>
          </a:xfrm>
          <a:prstGeom prst="ellipse">
            <a:avLst/>
          </a:prstGeom>
          <a:solidFill>
            <a:srgbClr val="059669"/>
          </a:solidFill>
        </p:spPr>
        <p:txBody>
          <a:bodyPr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入驻企业 — 企业服务中心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548640"/>
            <a:ext cx="640080" cy="22860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5" name="Shape 3"/>
          <p:cNvSpPr/>
          <p:nvPr/>
        </p:nvSpPr>
        <p:spPr>
          <a:xfrm>
            <a:off x="7498080" y="73152"/>
            <a:ext cx="457200" cy="201168"/>
          </a:xfrm>
          <a:prstGeom prst="parallelogram">
            <a:avLst/>
          </a:prstGeom>
          <a:solidFill>
            <a:srgbClr val="D97706">
              <a:alpha val="75000"/>
            </a:srgbClr>
          </a:solidFill>
        </p:spPr>
      </p:sp>
      <p:sp>
        <p:nvSpPr>
          <p:cNvPr id="6" name="Shape 4"/>
          <p:cNvSpPr/>
          <p:nvPr/>
        </p:nvSpPr>
        <p:spPr>
          <a:xfrm>
            <a:off x="8046720" y="73152"/>
            <a:ext cx="457200" cy="201168"/>
          </a:xfrm>
          <a:prstGeom prst="parallelogram">
            <a:avLst/>
          </a:prstGeom>
          <a:solidFill>
            <a:srgbClr val="D97706">
              <a:alpha val="55000"/>
            </a:srgbClr>
          </a:solidFill>
        </p:spPr>
      </p:sp>
      <p:sp>
        <p:nvSpPr>
          <p:cNvPr id="7" name="Shape 5"/>
          <p:cNvSpPr/>
          <p:nvPr/>
        </p:nvSpPr>
        <p:spPr>
          <a:xfrm>
            <a:off x="7315200" y="91440"/>
            <a:ext cx="548640" cy="274320"/>
          </a:xfrm>
          <a:prstGeom prst="parallelogram">
            <a:avLst/>
          </a:prstGeom>
          <a:solidFill>
            <a:srgbClr val="D97706">
              <a:alpha val="70000"/>
            </a:srgbClr>
          </a:solidFill>
        </p:spPr>
      </p:sp>
      <p:sp>
        <p:nvSpPr>
          <p:cNvPr id="8" name="Shape 6"/>
          <p:cNvSpPr/>
          <p:nvPr/>
        </p:nvSpPr>
        <p:spPr>
          <a:xfrm>
            <a:off x="7955280" y="91440"/>
            <a:ext cx="548640" cy="274320"/>
          </a:xfrm>
          <a:prstGeom prst="parallelogram">
            <a:avLst/>
          </a:prstGeom>
          <a:solidFill>
            <a:srgbClr val="D97706">
              <a:alpha val="50000"/>
            </a:srgbClr>
          </a:solidFill>
        </p:spPr>
      </p:sp>
      <p:sp>
        <p:nvSpPr>
          <p:cNvPr id="10" name="Shape 8"/>
          <p:cNvSpPr/>
          <p:nvPr/>
        </p:nvSpPr>
        <p:spPr>
          <a:xfrm>
            <a:off x="457200" y="731520"/>
            <a:ext cx="26517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731520"/>
            <a:ext cx="2651760" cy="36576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12" name="Shape 10"/>
          <p:cNvSpPr/>
          <p:nvPr/>
        </p:nvSpPr>
        <p:spPr>
          <a:xfrm>
            <a:off x="640080" y="841248"/>
            <a:ext cx="320040" cy="320040"/>
          </a:xfrm>
          <a:prstGeom prst="ellipse">
            <a:avLst/>
          </a:prstGeom>
          <a:solidFill>
            <a:srgbClr val="FFFBEB"/>
          </a:solidFill>
        </p:spPr>
      </p:sp>
      <p:sp>
        <p:nvSpPr>
          <p:cNvPr id="13" name="Text 11"/>
          <p:cNvSpPr/>
          <p:nvPr/>
        </p:nvSpPr>
        <p:spPr>
          <a:xfrm>
            <a:off x="1051560" y="822960"/>
            <a:ext cx="19202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诉求直达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66928" y="1143000"/>
            <a:ext cx="24231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随手拍提交诉求，支持文字+图片+定位，2小时内响应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337560" y="731520"/>
            <a:ext cx="26517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337560" y="731520"/>
            <a:ext cx="2651760" cy="36576"/>
          </a:xfrm>
          <a:prstGeom prst="rect">
            <a:avLst/>
          </a:prstGeom>
          <a:solidFill>
            <a:srgbClr val="B45309"/>
          </a:solidFill>
        </p:spPr>
      </p:sp>
      <p:sp>
        <p:nvSpPr>
          <p:cNvPr id="17" name="Shape 15"/>
          <p:cNvSpPr/>
          <p:nvPr/>
        </p:nvSpPr>
        <p:spPr>
          <a:xfrm>
            <a:off x="3520440" y="841248"/>
            <a:ext cx="320040" cy="320040"/>
          </a:xfrm>
          <a:prstGeom prst="ellipse">
            <a:avLst/>
          </a:prstGeom>
          <a:solidFill>
            <a:srgbClr val="FFFBEB"/>
          </a:solidFill>
        </p:spPr>
      </p:sp>
      <p:sp>
        <p:nvSpPr>
          <p:cNvPr id="18" name="Text 16"/>
          <p:cNvSpPr/>
          <p:nvPr/>
        </p:nvSpPr>
        <p:spPr>
          <a:xfrm>
            <a:off x="3931920" y="822960"/>
            <a:ext cx="19202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530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服务直达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47288" y="1143000"/>
            <a:ext cx="24231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天然气/水/电费在线缴费，一站式企业服务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217920" y="731520"/>
            <a:ext cx="26517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17920" y="731520"/>
            <a:ext cx="2651760" cy="36576"/>
          </a:xfrm>
          <a:prstGeom prst="rect">
            <a:avLst/>
          </a:prstGeom>
          <a:solidFill>
            <a:srgbClr val="92400E"/>
          </a:solidFill>
        </p:spPr>
      </p:sp>
      <p:sp>
        <p:nvSpPr>
          <p:cNvPr id="22" name="Shape 20"/>
          <p:cNvSpPr/>
          <p:nvPr/>
        </p:nvSpPr>
        <p:spPr>
          <a:xfrm>
            <a:off x="6400800" y="841248"/>
            <a:ext cx="320040" cy="320040"/>
          </a:xfrm>
          <a:prstGeom prst="ellipse">
            <a:avLst/>
          </a:prstGeom>
          <a:solidFill>
            <a:srgbClr val="FFFBEB"/>
          </a:solidFill>
        </p:spPr>
      </p:sp>
      <p:sp>
        <p:nvSpPr>
          <p:cNvPr id="23" name="Text 21"/>
          <p:cNvSpPr/>
          <p:nvPr/>
        </p:nvSpPr>
        <p:spPr>
          <a:xfrm>
            <a:off x="6812280" y="822960"/>
            <a:ext cx="19202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240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园企交互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27648" y="1143000"/>
            <a:ext cx="24231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在线沟通、通知公告、政策推送、双向互动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57200" y="2011680"/>
            <a:ext cx="26517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8640" y="2084832"/>
            <a:ext cx="731520" cy="201168"/>
          </a:xfrm>
          <a:prstGeom prst="roundRect">
            <a:avLst>
              <a:gd name="adj" fmla="val 13636"/>
            </a:avLst>
          </a:prstGeom>
          <a:solidFill>
            <a:srgbClr val="D97706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48640" y="2084832"/>
            <a:ext cx="7315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企业入驻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548640" y="2359152"/>
            <a:ext cx="24688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线上申请、证照管理、入驻全流程线上化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2743200" y="2468880"/>
            <a:ext cx="36576" cy="36576"/>
          </a:xfrm>
          <a:prstGeom prst="ellipse">
            <a:avLst/>
          </a:prstGeom>
          <a:solidFill>
            <a:srgbClr val="D97706"/>
          </a:solidFill>
        </p:spPr>
      </p:sp>
      <p:sp>
        <p:nvSpPr>
          <p:cNvPr id="30" name="Shape 28"/>
          <p:cNvSpPr/>
          <p:nvPr/>
        </p:nvSpPr>
        <p:spPr>
          <a:xfrm>
            <a:off x="3337560" y="2011680"/>
            <a:ext cx="26517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429000" y="2084832"/>
            <a:ext cx="731520" cy="201168"/>
          </a:xfrm>
          <a:prstGeom prst="roundRect">
            <a:avLst>
              <a:gd name="adj" fmla="val 13636"/>
            </a:avLst>
          </a:prstGeom>
          <a:solidFill>
            <a:srgbClr val="D97706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29000" y="2084832"/>
            <a:ext cx="7315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信用评价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3429000" y="2359152"/>
            <a:ext cx="24688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企业信用多维度评价体系，助力融资合作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5623560" y="2468880"/>
            <a:ext cx="36576" cy="36576"/>
          </a:xfrm>
          <a:prstGeom prst="ellipse">
            <a:avLst/>
          </a:prstGeom>
          <a:solidFill>
            <a:srgbClr val="D97706"/>
          </a:solidFill>
        </p:spPr>
      </p:sp>
      <p:sp>
        <p:nvSpPr>
          <p:cNvPr id="35" name="Shape 33"/>
          <p:cNvSpPr/>
          <p:nvPr/>
        </p:nvSpPr>
        <p:spPr>
          <a:xfrm>
            <a:off x="6217920" y="2011680"/>
            <a:ext cx="26517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309360" y="2084832"/>
            <a:ext cx="731520" cy="201168"/>
          </a:xfrm>
          <a:prstGeom prst="roundRect">
            <a:avLst>
              <a:gd name="adj" fmla="val 13636"/>
            </a:avLst>
          </a:prstGeom>
          <a:solidFill>
            <a:srgbClr val="D97706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309360" y="2084832"/>
            <a:ext cx="7315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合同管理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6309360" y="2359152"/>
            <a:ext cx="24688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电子合同、签署、存档全流程管理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8503920" y="2468880"/>
            <a:ext cx="36576" cy="36576"/>
          </a:xfrm>
          <a:prstGeom prst="ellipse">
            <a:avLst/>
          </a:prstGeom>
          <a:solidFill>
            <a:srgbClr val="D97706"/>
          </a:solidFill>
        </p:spPr>
      </p:sp>
      <p:sp>
        <p:nvSpPr>
          <p:cNvPr id="40" name="Shape 38"/>
          <p:cNvSpPr/>
          <p:nvPr/>
        </p:nvSpPr>
        <p:spPr>
          <a:xfrm>
            <a:off x="457200" y="2926080"/>
            <a:ext cx="26517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548640" y="2999232"/>
            <a:ext cx="731520" cy="201168"/>
          </a:xfrm>
          <a:prstGeom prst="roundRect">
            <a:avLst>
              <a:gd name="adj" fmla="val 13636"/>
            </a:avLst>
          </a:prstGeom>
          <a:solidFill>
            <a:srgbClr val="D97706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548640" y="2999232"/>
            <a:ext cx="7315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资产管理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548640" y="3273552"/>
            <a:ext cx="24688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资产盘点、入库、出库数字化管理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2743200" y="3383280"/>
            <a:ext cx="36576" cy="36576"/>
          </a:xfrm>
          <a:prstGeom prst="ellipse">
            <a:avLst/>
          </a:prstGeom>
          <a:solidFill>
            <a:srgbClr val="D97706"/>
          </a:solidFill>
        </p:spPr>
      </p:sp>
      <p:sp>
        <p:nvSpPr>
          <p:cNvPr id="45" name="Shape 43"/>
          <p:cNvSpPr/>
          <p:nvPr/>
        </p:nvSpPr>
        <p:spPr>
          <a:xfrm>
            <a:off x="3337560" y="2926080"/>
            <a:ext cx="26517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3429000" y="2999232"/>
            <a:ext cx="731520" cy="201168"/>
          </a:xfrm>
          <a:prstGeom prst="roundRect">
            <a:avLst>
              <a:gd name="adj" fmla="val 13636"/>
            </a:avLst>
          </a:prstGeom>
          <a:solidFill>
            <a:srgbClr val="D97706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3429000" y="2999232"/>
            <a:ext cx="7315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数字证照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3429000" y="3273552"/>
            <a:ext cx="24688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电子营业执照、许可证上链管理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5623560" y="3383280"/>
            <a:ext cx="36576" cy="36576"/>
          </a:xfrm>
          <a:prstGeom prst="ellipse">
            <a:avLst/>
          </a:prstGeom>
          <a:solidFill>
            <a:srgbClr val="D97706"/>
          </a:solidFill>
        </p:spPr>
      </p:sp>
      <p:sp>
        <p:nvSpPr>
          <p:cNvPr id="50" name="Shape 48"/>
          <p:cNvSpPr/>
          <p:nvPr/>
        </p:nvSpPr>
        <p:spPr>
          <a:xfrm>
            <a:off x="6217920" y="2926080"/>
            <a:ext cx="26517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309360" y="2999232"/>
            <a:ext cx="731520" cy="201168"/>
          </a:xfrm>
          <a:prstGeom prst="roundRect">
            <a:avLst>
              <a:gd name="adj" fmla="val 13636"/>
            </a:avLst>
          </a:prstGeom>
          <a:solidFill>
            <a:srgbClr val="D97706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6309360" y="2999232"/>
            <a:ext cx="7315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员工管理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6309360" y="3273552"/>
            <a:ext cx="24688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入职/离职、加班/请假、工资管理完善体系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8503920" y="3383280"/>
            <a:ext cx="36576" cy="36576"/>
          </a:xfrm>
          <a:prstGeom prst="ellipse">
            <a:avLst/>
          </a:prstGeom>
          <a:solidFill>
            <a:srgbClr val="D97706"/>
          </a:solidFill>
        </p:spPr>
      </p:sp>
      <p:sp>
        <p:nvSpPr>
          <p:cNvPr id="55" name="Shape 53"/>
          <p:cNvSpPr/>
          <p:nvPr/>
        </p:nvSpPr>
        <p:spPr>
          <a:xfrm>
            <a:off x="8503920" y="4663440"/>
            <a:ext cx="320040" cy="320040"/>
          </a:xfrm>
          <a:prstGeom prst="ellipse">
            <a:avLst/>
          </a:prstGeom>
          <a:solidFill>
            <a:srgbClr val="D97706"/>
          </a:solidFill>
        </p:spPr>
      </p:sp>
      <p:sp>
        <p:nvSpPr>
          <p:cNvPr id="56" name="Text 54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入驻企业 — 供需对接与物流服务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548640"/>
            <a:ext cx="640080" cy="22860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5" name="Shape 3"/>
          <p:cNvSpPr/>
          <p:nvPr/>
        </p:nvSpPr>
        <p:spPr>
          <a:xfrm>
            <a:off x="7498080" y="73152"/>
            <a:ext cx="457200" cy="201168"/>
          </a:xfrm>
          <a:prstGeom prst="parallelogram">
            <a:avLst/>
          </a:prstGeom>
          <a:solidFill>
            <a:srgbClr val="D97706">
              <a:alpha val="75000"/>
            </a:srgbClr>
          </a:solidFill>
        </p:spPr>
      </p:sp>
      <p:sp>
        <p:nvSpPr>
          <p:cNvPr id="6" name="Shape 4"/>
          <p:cNvSpPr/>
          <p:nvPr/>
        </p:nvSpPr>
        <p:spPr>
          <a:xfrm>
            <a:off x="8046720" y="73152"/>
            <a:ext cx="457200" cy="201168"/>
          </a:xfrm>
          <a:prstGeom prst="parallelogram">
            <a:avLst/>
          </a:prstGeom>
          <a:solidFill>
            <a:srgbClr val="D97706">
              <a:alpha val="55000"/>
            </a:srgbClr>
          </a:solidFill>
        </p:spPr>
      </p:sp>
      <p:sp>
        <p:nvSpPr>
          <p:cNvPr id="7" name="Shape 5"/>
          <p:cNvSpPr/>
          <p:nvPr/>
        </p:nvSpPr>
        <p:spPr>
          <a:xfrm>
            <a:off x="7315200" y="91440"/>
            <a:ext cx="548640" cy="274320"/>
          </a:xfrm>
          <a:prstGeom prst="parallelogram">
            <a:avLst/>
          </a:prstGeom>
          <a:solidFill>
            <a:srgbClr val="D97706">
              <a:alpha val="70000"/>
            </a:srgbClr>
          </a:solidFill>
        </p:spPr>
      </p:sp>
      <p:sp>
        <p:nvSpPr>
          <p:cNvPr id="8" name="Shape 6"/>
          <p:cNvSpPr/>
          <p:nvPr/>
        </p:nvSpPr>
        <p:spPr>
          <a:xfrm>
            <a:off x="7955280" y="91440"/>
            <a:ext cx="548640" cy="274320"/>
          </a:xfrm>
          <a:prstGeom prst="parallelogram">
            <a:avLst/>
          </a:prstGeom>
          <a:solidFill>
            <a:srgbClr val="D97706">
              <a:alpha val="50000"/>
            </a:srgbClr>
          </a:solidFill>
        </p:spPr>
      </p:sp>
      <p:sp>
        <p:nvSpPr>
          <p:cNvPr id="10" name="Shape 8"/>
          <p:cNvSpPr/>
          <p:nvPr/>
        </p:nvSpPr>
        <p:spPr>
          <a:xfrm>
            <a:off x="457200" y="777240"/>
            <a:ext cx="41148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868680"/>
            <a:ext cx="54864" cy="54864"/>
          </a:xfrm>
          <a:prstGeom prst="ellipse">
            <a:avLst/>
          </a:prstGeom>
          <a:solidFill>
            <a:srgbClr val="D97706"/>
          </a:solidFill>
        </p:spPr>
      </p:sp>
      <p:sp>
        <p:nvSpPr>
          <p:cNvPr id="12" name="Text 10"/>
          <p:cNvSpPr/>
          <p:nvPr/>
        </p:nvSpPr>
        <p:spPr>
          <a:xfrm>
            <a:off x="713232" y="822960"/>
            <a:ext cx="32918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物流供需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13232" y="1033272"/>
            <a:ext cx="32918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园区货源+返程空车+车辆资源智能匹配，每张卡片带联系方式，支持多条件筛选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85800" y="1399032"/>
            <a:ext cx="18288" cy="13716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15" name="Shape 13"/>
          <p:cNvSpPr/>
          <p:nvPr/>
        </p:nvSpPr>
        <p:spPr>
          <a:xfrm>
            <a:off x="457200" y="1508760"/>
            <a:ext cx="41148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1600200"/>
            <a:ext cx="54864" cy="54864"/>
          </a:xfrm>
          <a:prstGeom prst="ellipse">
            <a:avLst/>
          </a:prstGeom>
          <a:solidFill>
            <a:srgbClr val="B45309"/>
          </a:solidFill>
        </p:spPr>
      </p:sp>
      <p:sp>
        <p:nvSpPr>
          <p:cNvPr id="17" name="Text 15"/>
          <p:cNvSpPr/>
          <p:nvPr/>
        </p:nvSpPr>
        <p:spPr>
          <a:xfrm>
            <a:off x="713232" y="1554480"/>
            <a:ext cx="32918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4530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特色供需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13232" y="1764792"/>
            <a:ext cx="32918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青川山珍等9种特色产品展示与供需对接，直接联系供应商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685800" y="2130552"/>
            <a:ext cx="18288" cy="13716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0" name="Shape 18"/>
          <p:cNvSpPr/>
          <p:nvPr/>
        </p:nvSpPr>
        <p:spPr>
          <a:xfrm>
            <a:off x="457200" y="2240280"/>
            <a:ext cx="41148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2331720"/>
            <a:ext cx="54864" cy="54864"/>
          </a:xfrm>
          <a:prstGeom prst="ellipse">
            <a:avLst/>
          </a:prstGeom>
          <a:solidFill>
            <a:srgbClr val="92400E"/>
          </a:solidFill>
        </p:spPr>
      </p:sp>
      <p:sp>
        <p:nvSpPr>
          <p:cNvPr id="22" name="Text 20"/>
          <p:cNvSpPr/>
          <p:nvPr/>
        </p:nvSpPr>
        <p:spPr>
          <a:xfrm>
            <a:off x="713232" y="2286000"/>
            <a:ext cx="32918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240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供应商管理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13232" y="2496312"/>
            <a:ext cx="32918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供应商/生产商/运输商完善管理体系，合作关系维护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846320" y="777240"/>
            <a:ext cx="393192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029200" y="841248"/>
            <a:ext cx="34747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商业服务模块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46320" y="1024128"/>
            <a:ext cx="3931920" cy="9144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27" name="Shape 25"/>
          <p:cNvSpPr/>
          <p:nvPr/>
        </p:nvSpPr>
        <p:spPr>
          <a:xfrm>
            <a:off x="5029200" y="1179576"/>
            <a:ext cx="45720" cy="45720"/>
          </a:xfrm>
          <a:prstGeom prst="ellipse">
            <a:avLst/>
          </a:prstGeom>
          <a:solidFill>
            <a:srgbClr val="D97706"/>
          </a:solidFill>
        </p:spPr>
      </p:sp>
      <p:sp>
        <p:nvSpPr>
          <p:cNvPr id="28" name="Text 26"/>
          <p:cNvSpPr/>
          <p:nvPr/>
        </p:nvSpPr>
        <p:spPr>
          <a:xfrm>
            <a:off x="5212080" y="1143000"/>
            <a:ext cx="12801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9770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数字化活动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492240" y="1143000"/>
            <a:ext cx="21945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招标/竞价/审批全流程线上化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5029200" y="1399032"/>
            <a:ext cx="3657600" cy="457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1" name="Shape 29"/>
          <p:cNvSpPr/>
          <p:nvPr/>
        </p:nvSpPr>
        <p:spPr>
          <a:xfrm>
            <a:off x="5029200" y="1682496"/>
            <a:ext cx="45720" cy="45720"/>
          </a:xfrm>
          <a:prstGeom prst="ellipse">
            <a:avLst/>
          </a:prstGeom>
          <a:solidFill>
            <a:srgbClr val="D97706"/>
          </a:solidFill>
        </p:spPr>
      </p:sp>
      <p:sp>
        <p:nvSpPr>
          <p:cNvPr id="32" name="Text 30"/>
          <p:cNvSpPr/>
          <p:nvPr/>
        </p:nvSpPr>
        <p:spPr>
          <a:xfrm>
            <a:off x="5212080" y="1645920"/>
            <a:ext cx="12801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9770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客户管理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492240" y="1645920"/>
            <a:ext cx="21945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客户关系维护、商机追踪、合同执行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5029200" y="1901952"/>
            <a:ext cx="3657600" cy="457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5" name="Shape 33"/>
          <p:cNvSpPr/>
          <p:nvPr/>
        </p:nvSpPr>
        <p:spPr>
          <a:xfrm>
            <a:off x="5029200" y="2185416"/>
            <a:ext cx="45720" cy="45720"/>
          </a:xfrm>
          <a:prstGeom prst="ellipse">
            <a:avLst/>
          </a:prstGeom>
          <a:solidFill>
            <a:srgbClr val="D97706"/>
          </a:solidFill>
        </p:spPr>
      </p:sp>
      <p:sp>
        <p:nvSpPr>
          <p:cNvPr id="36" name="Text 34"/>
          <p:cNvSpPr/>
          <p:nvPr/>
        </p:nvSpPr>
        <p:spPr>
          <a:xfrm>
            <a:off x="5212080" y="2148840"/>
            <a:ext cx="12801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9770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电子名片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492240" y="2148840"/>
            <a:ext cx="21945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企业员工电子名片快速分享，一键保存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5029200" y="2404872"/>
            <a:ext cx="3657600" cy="457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9" name="Shape 37"/>
          <p:cNvSpPr/>
          <p:nvPr/>
        </p:nvSpPr>
        <p:spPr>
          <a:xfrm>
            <a:off x="5029200" y="2688336"/>
            <a:ext cx="45720" cy="45720"/>
          </a:xfrm>
          <a:prstGeom prst="ellipse">
            <a:avLst/>
          </a:prstGeom>
          <a:solidFill>
            <a:srgbClr val="D97706"/>
          </a:solidFill>
        </p:spPr>
      </p:sp>
      <p:sp>
        <p:nvSpPr>
          <p:cNvPr id="40" name="Text 38"/>
          <p:cNvSpPr/>
          <p:nvPr/>
        </p:nvSpPr>
        <p:spPr>
          <a:xfrm>
            <a:off x="5212080" y="2651760"/>
            <a:ext cx="12801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9770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微信推广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492240" y="2651760"/>
            <a:ext cx="21945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园区微信小程序快速推广与使用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5029200" y="2907792"/>
            <a:ext cx="3657600" cy="457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3" name="Shape 41"/>
          <p:cNvSpPr/>
          <p:nvPr/>
        </p:nvSpPr>
        <p:spPr>
          <a:xfrm>
            <a:off x="457200" y="3337560"/>
            <a:ext cx="41148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40080" y="3383280"/>
            <a:ext cx="2743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停车服务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40080" y="3584448"/>
            <a:ext cx="3749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高德地图导航+实时余位+在线缴费，全园区停车位统一管理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4846320" y="3337560"/>
            <a:ext cx="39319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5029200" y="3383280"/>
            <a:ext cx="2743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政策推送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029200" y="3584448"/>
            <a:ext cx="3749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惠企政策精准匹配，主动推送补贴/减免/人才等政策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8503920" y="4663440"/>
            <a:ext cx="320040" cy="320040"/>
          </a:xfrm>
          <a:prstGeom prst="ellipse">
            <a:avLst/>
          </a:prstGeom>
          <a:solidFill>
            <a:srgbClr val="D97706"/>
          </a:solidFill>
        </p:spPr>
      </p:sp>
      <p:sp>
        <p:nvSpPr>
          <p:cNvPr id="50" name="Text 48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入驻企业 — 场馆、活动与餐饮服务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548640"/>
            <a:ext cx="640080" cy="22860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5" name="Shape 3"/>
          <p:cNvSpPr/>
          <p:nvPr/>
        </p:nvSpPr>
        <p:spPr>
          <a:xfrm>
            <a:off x="7498080" y="73152"/>
            <a:ext cx="457200" cy="201168"/>
          </a:xfrm>
          <a:prstGeom prst="parallelogram">
            <a:avLst/>
          </a:prstGeom>
          <a:solidFill>
            <a:srgbClr val="D97706">
              <a:alpha val="75000"/>
            </a:srgbClr>
          </a:solidFill>
        </p:spPr>
      </p:sp>
      <p:sp>
        <p:nvSpPr>
          <p:cNvPr id="6" name="Shape 4"/>
          <p:cNvSpPr/>
          <p:nvPr/>
        </p:nvSpPr>
        <p:spPr>
          <a:xfrm>
            <a:off x="8046720" y="73152"/>
            <a:ext cx="457200" cy="201168"/>
          </a:xfrm>
          <a:prstGeom prst="parallelogram">
            <a:avLst/>
          </a:prstGeom>
          <a:solidFill>
            <a:srgbClr val="D97706">
              <a:alpha val="55000"/>
            </a:srgbClr>
          </a:solidFill>
        </p:spPr>
      </p:sp>
      <p:sp>
        <p:nvSpPr>
          <p:cNvPr id="7" name="Shape 5"/>
          <p:cNvSpPr/>
          <p:nvPr/>
        </p:nvSpPr>
        <p:spPr>
          <a:xfrm>
            <a:off x="7315200" y="91440"/>
            <a:ext cx="548640" cy="274320"/>
          </a:xfrm>
          <a:prstGeom prst="parallelogram">
            <a:avLst/>
          </a:prstGeom>
          <a:solidFill>
            <a:srgbClr val="D97706">
              <a:alpha val="70000"/>
            </a:srgbClr>
          </a:solidFill>
        </p:spPr>
      </p:sp>
      <p:sp>
        <p:nvSpPr>
          <p:cNvPr id="8" name="Shape 6"/>
          <p:cNvSpPr/>
          <p:nvPr/>
        </p:nvSpPr>
        <p:spPr>
          <a:xfrm>
            <a:off x="7955280" y="91440"/>
            <a:ext cx="548640" cy="274320"/>
          </a:xfrm>
          <a:prstGeom prst="parallelogram">
            <a:avLst/>
          </a:prstGeom>
          <a:solidFill>
            <a:srgbClr val="D97706">
              <a:alpha val="50000"/>
            </a:srgbClr>
          </a:solidFill>
        </p:spPr>
      </p:sp>
      <p:sp>
        <p:nvSpPr>
          <p:cNvPr id="10" name="Shape 8"/>
          <p:cNvSpPr/>
          <p:nvPr/>
        </p:nvSpPr>
        <p:spPr>
          <a:xfrm>
            <a:off x="457200" y="731520"/>
            <a:ext cx="47548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731520"/>
            <a:ext cx="4754880" cy="320040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12" name="Text 10"/>
          <p:cNvSpPr/>
          <p:nvPr/>
        </p:nvSpPr>
        <p:spPr>
          <a:xfrm>
            <a:off x="640080" y="758952"/>
            <a:ext cx="3657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场馆服务 (8大场馆)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1143000"/>
            <a:ext cx="1005840" cy="201168"/>
          </a:xfrm>
          <a:prstGeom prst="roundRect">
            <a:avLst>
              <a:gd name="adj" fmla="val 13636"/>
            </a:avLst>
          </a:prstGeom>
          <a:solidFill>
            <a:srgbClr val="FFFBEB"/>
          </a:solidFill>
        </p:spPr>
      </p:sp>
      <p:sp>
        <p:nvSpPr>
          <p:cNvPr id="14" name="Text 12"/>
          <p:cNvSpPr/>
          <p:nvPr/>
        </p:nvSpPr>
        <p:spPr>
          <a:xfrm>
            <a:off x="548640" y="1143000"/>
            <a:ext cx="10058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D9770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多功能会议厅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1691640" y="1143000"/>
            <a:ext cx="1005840" cy="201168"/>
          </a:xfrm>
          <a:prstGeom prst="roundRect">
            <a:avLst>
              <a:gd name="adj" fmla="val 13636"/>
            </a:avLst>
          </a:prstGeom>
          <a:solidFill>
            <a:srgbClr val="FFFBEB"/>
          </a:solidFill>
        </p:spPr>
      </p:sp>
      <p:sp>
        <p:nvSpPr>
          <p:cNvPr id="16" name="Text 14"/>
          <p:cNvSpPr/>
          <p:nvPr/>
        </p:nvSpPr>
        <p:spPr>
          <a:xfrm>
            <a:off x="1691640" y="1143000"/>
            <a:ext cx="10058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D9770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展览厅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2834640" y="1143000"/>
            <a:ext cx="1005840" cy="201168"/>
          </a:xfrm>
          <a:prstGeom prst="roundRect">
            <a:avLst>
              <a:gd name="adj" fmla="val 13636"/>
            </a:avLst>
          </a:prstGeom>
          <a:solidFill>
            <a:srgbClr val="FFFBEB"/>
          </a:solidFill>
        </p:spPr>
      </p:sp>
      <p:sp>
        <p:nvSpPr>
          <p:cNvPr id="18" name="Text 16"/>
          <p:cNvSpPr/>
          <p:nvPr/>
        </p:nvSpPr>
        <p:spPr>
          <a:xfrm>
            <a:off x="2834640" y="1143000"/>
            <a:ext cx="10058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D9770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体育馆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3977640" y="1143000"/>
            <a:ext cx="1005840" cy="201168"/>
          </a:xfrm>
          <a:prstGeom prst="roundRect">
            <a:avLst>
              <a:gd name="adj" fmla="val 13636"/>
            </a:avLst>
          </a:prstGeom>
          <a:solidFill>
            <a:srgbClr val="FFFBEB"/>
          </a:solidFill>
        </p:spPr>
      </p:sp>
      <p:sp>
        <p:nvSpPr>
          <p:cNvPr id="20" name="Text 18"/>
          <p:cNvSpPr/>
          <p:nvPr/>
        </p:nvSpPr>
        <p:spPr>
          <a:xfrm>
            <a:off x="3977640" y="1143000"/>
            <a:ext cx="10058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D9770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培训教室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548640" y="1581912"/>
            <a:ext cx="1005840" cy="201168"/>
          </a:xfrm>
          <a:prstGeom prst="roundRect">
            <a:avLst>
              <a:gd name="adj" fmla="val 13636"/>
            </a:avLst>
          </a:prstGeom>
          <a:solidFill>
            <a:srgbClr val="FFFBEB"/>
          </a:solidFill>
        </p:spPr>
      </p:sp>
      <p:sp>
        <p:nvSpPr>
          <p:cNvPr id="22" name="Text 20"/>
          <p:cNvSpPr/>
          <p:nvPr/>
        </p:nvSpPr>
        <p:spPr>
          <a:xfrm>
            <a:off x="548640" y="1581912"/>
            <a:ext cx="10058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D9770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会议室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1691640" y="1581912"/>
            <a:ext cx="1005840" cy="201168"/>
          </a:xfrm>
          <a:prstGeom prst="roundRect">
            <a:avLst>
              <a:gd name="adj" fmla="val 13636"/>
            </a:avLst>
          </a:prstGeom>
          <a:solidFill>
            <a:srgbClr val="FFFBEB"/>
          </a:solidFill>
        </p:spPr>
      </p:sp>
      <p:sp>
        <p:nvSpPr>
          <p:cNvPr id="24" name="Text 22"/>
          <p:cNvSpPr/>
          <p:nvPr/>
        </p:nvSpPr>
        <p:spPr>
          <a:xfrm>
            <a:off x="1691640" y="1581912"/>
            <a:ext cx="10058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D9770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接待厅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2834640" y="1581912"/>
            <a:ext cx="1005840" cy="201168"/>
          </a:xfrm>
          <a:prstGeom prst="roundRect">
            <a:avLst>
              <a:gd name="adj" fmla="val 13636"/>
            </a:avLst>
          </a:prstGeom>
          <a:solidFill>
            <a:srgbClr val="FFFBEB"/>
          </a:solidFill>
        </p:spPr>
      </p:sp>
      <p:sp>
        <p:nvSpPr>
          <p:cNvPr id="26" name="Text 24"/>
          <p:cNvSpPr/>
          <p:nvPr/>
        </p:nvSpPr>
        <p:spPr>
          <a:xfrm>
            <a:off x="2834640" y="1581912"/>
            <a:ext cx="10058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D9770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多媒体厅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3977640" y="1581912"/>
            <a:ext cx="1005840" cy="201168"/>
          </a:xfrm>
          <a:prstGeom prst="roundRect">
            <a:avLst>
              <a:gd name="adj" fmla="val 13636"/>
            </a:avLst>
          </a:prstGeom>
          <a:solidFill>
            <a:srgbClr val="FFFBEB"/>
          </a:solidFill>
        </p:spPr>
      </p:sp>
      <p:sp>
        <p:nvSpPr>
          <p:cNvPr id="28" name="Text 26"/>
          <p:cNvSpPr/>
          <p:nvPr/>
        </p:nvSpPr>
        <p:spPr>
          <a:xfrm>
            <a:off x="3977640" y="1581912"/>
            <a:ext cx="10058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D9770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园区广场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5394960" y="731520"/>
            <a:ext cx="33832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577840" y="804672"/>
            <a:ext cx="2743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园区活动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669280" y="1143000"/>
            <a:ext cx="41148" cy="41148"/>
          </a:xfrm>
          <a:prstGeom prst="ellipse">
            <a:avLst/>
          </a:prstGeom>
          <a:solidFill>
            <a:srgbClr val="D97706"/>
          </a:solidFill>
        </p:spPr>
      </p:sp>
      <p:sp>
        <p:nvSpPr>
          <p:cNvPr id="32" name="Text 30"/>
          <p:cNvSpPr/>
          <p:nvPr/>
        </p:nvSpPr>
        <p:spPr>
          <a:xfrm>
            <a:off x="5806440" y="1097280"/>
            <a:ext cx="27432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文体活动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5669280" y="1344168"/>
            <a:ext cx="41148" cy="41148"/>
          </a:xfrm>
          <a:prstGeom prst="ellipse">
            <a:avLst/>
          </a:prstGeom>
          <a:solidFill>
            <a:srgbClr val="D97706"/>
          </a:solidFill>
        </p:spPr>
      </p:sp>
      <p:sp>
        <p:nvSpPr>
          <p:cNvPr id="34" name="Text 32"/>
          <p:cNvSpPr/>
          <p:nvPr/>
        </p:nvSpPr>
        <p:spPr>
          <a:xfrm>
            <a:off x="5806440" y="1298448"/>
            <a:ext cx="27432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培训讲座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5669280" y="1545336"/>
            <a:ext cx="41148" cy="41148"/>
          </a:xfrm>
          <a:prstGeom prst="ellipse">
            <a:avLst/>
          </a:prstGeom>
          <a:solidFill>
            <a:srgbClr val="D97706"/>
          </a:solidFill>
        </p:spPr>
      </p:sp>
      <p:sp>
        <p:nvSpPr>
          <p:cNvPr id="36" name="Text 34"/>
          <p:cNvSpPr/>
          <p:nvPr/>
        </p:nvSpPr>
        <p:spPr>
          <a:xfrm>
            <a:off x="5806440" y="1499616"/>
            <a:ext cx="27432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公益活动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5669280" y="1746504"/>
            <a:ext cx="41148" cy="41148"/>
          </a:xfrm>
          <a:prstGeom prst="ellipse">
            <a:avLst/>
          </a:prstGeom>
          <a:solidFill>
            <a:srgbClr val="D97706"/>
          </a:solidFill>
        </p:spPr>
      </p:sp>
      <p:sp>
        <p:nvSpPr>
          <p:cNvPr id="38" name="Text 36"/>
          <p:cNvSpPr/>
          <p:nvPr/>
        </p:nvSpPr>
        <p:spPr>
          <a:xfrm>
            <a:off x="5806440" y="1700784"/>
            <a:ext cx="27432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交流聚会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5669280" y="1947672"/>
            <a:ext cx="41148" cy="41148"/>
          </a:xfrm>
          <a:prstGeom prst="ellipse">
            <a:avLst/>
          </a:prstGeom>
          <a:solidFill>
            <a:srgbClr val="D97706"/>
          </a:solidFill>
        </p:spPr>
      </p:sp>
      <p:sp>
        <p:nvSpPr>
          <p:cNvPr id="40" name="Text 38"/>
          <p:cNvSpPr/>
          <p:nvPr/>
        </p:nvSpPr>
        <p:spPr>
          <a:xfrm>
            <a:off x="5806440" y="1901952"/>
            <a:ext cx="27432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节庆活动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5669280" y="2148840"/>
            <a:ext cx="41148" cy="41148"/>
          </a:xfrm>
          <a:prstGeom prst="ellipse">
            <a:avLst/>
          </a:prstGeom>
          <a:solidFill>
            <a:srgbClr val="D97706"/>
          </a:solidFill>
        </p:spPr>
      </p:sp>
      <p:sp>
        <p:nvSpPr>
          <p:cNvPr id="42" name="Text 40"/>
          <p:cNvSpPr/>
          <p:nvPr/>
        </p:nvSpPr>
        <p:spPr>
          <a:xfrm>
            <a:off x="5806440" y="2103120"/>
            <a:ext cx="27432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展览展示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457200" y="260604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40080" y="2651760"/>
            <a:ext cx="2743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园区餐饮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40080" y="2880360"/>
            <a:ext cx="3749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6家餐厅，20+道菜品一览，支持分类筛选、今日菜单查看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640080" y="3182112"/>
            <a:ext cx="914400" cy="164592"/>
          </a:xfrm>
          <a:prstGeom prst="roundRect">
            <a:avLst>
              <a:gd name="adj" fmla="val 11111"/>
            </a:avLst>
          </a:prstGeom>
          <a:solidFill>
            <a:srgbClr val="FFFBEB"/>
          </a:solidFill>
        </p:spPr>
      </p:sp>
      <p:sp>
        <p:nvSpPr>
          <p:cNvPr id="47" name="Text 45"/>
          <p:cNvSpPr/>
          <p:nvPr/>
        </p:nvSpPr>
        <p:spPr>
          <a:xfrm>
            <a:off x="640080" y="3182112"/>
            <a:ext cx="91440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D9770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菜品一览</a:t>
            </a: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>
            <a:off x="4846320" y="2606040"/>
            <a:ext cx="39319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5029200" y="2651760"/>
            <a:ext cx="2743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用工信息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029200" y="2880360"/>
            <a:ext cx="3749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招聘+岗位匹配，支持分类筛选，帮助企业快速解决用工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5029200" y="3182112"/>
            <a:ext cx="914400" cy="164592"/>
          </a:xfrm>
          <a:prstGeom prst="roundRect">
            <a:avLst>
              <a:gd name="adj" fmla="val 11111"/>
            </a:avLst>
          </a:prstGeom>
          <a:solidFill>
            <a:srgbClr val="FFFBEB"/>
          </a:solidFill>
        </p:spPr>
      </p:sp>
      <p:sp>
        <p:nvSpPr>
          <p:cNvPr id="52" name="Text 50"/>
          <p:cNvSpPr/>
          <p:nvPr/>
        </p:nvSpPr>
        <p:spPr>
          <a:xfrm>
            <a:off x="5029200" y="3182112"/>
            <a:ext cx="91440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D9770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招聘信息</a:t>
            </a:r>
            <a:endParaRPr lang="en-US" sz="650" dirty="0"/>
          </a:p>
        </p:txBody>
      </p:sp>
      <p:sp>
        <p:nvSpPr>
          <p:cNvPr id="53" name="Shape 51"/>
          <p:cNvSpPr/>
          <p:nvPr/>
        </p:nvSpPr>
        <p:spPr>
          <a:xfrm>
            <a:off x="457200" y="365760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457200" y="3657600"/>
            <a:ext cx="8229600" cy="36576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55" name="Text 53"/>
          <p:cNvSpPr/>
          <p:nvPr/>
        </p:nvSpPr>
        <p:spPr>
          <a:xfrm>
            <a:off x="640080" y="3749040"/>
            <a:ext cx="13716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9770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其他服务：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2103120" y="3749040"/>
            <a:ext cx="777240" cy="164592"/>
          </a:xfrm>
          <a:prstGeom prst="roundRect">
            <a:avLst>
              <a:gd name="adj" fmla="val 11111"/>
            </a:avLst>
          </a:prstGeom>
          <a:solidFill>
            <a:srgbClr val="FFFBEB"/>
          </a:solidFill>
        </p:spPr>
      </p:sp>
      <p:sp>
        <p:nvSpPr>
          <p:cNvPr id="57" name="Text 55"/>
          <p:cNvSpPr/>
          <p:nvPr/>
        </p:nvSpPr>
        <p:spPr>
          <a:xfrm>
            <a:off x="2103120" y="3749040"/>
            <a:ext cx="77724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D9770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天然气缴费</a:t>
            </a:r>
            <a:endParaRPr lang="en-US" sz="550" dirty="0"/>
          </a:p>
        </p:txBody>
      </p:sp>
      <p:sp>
        <p:nvSpPr>
          <p:cNvPr id="58" name="Shape 56"/>
          <p:cNvSpPr/>
          <p:nvPr/>
        </p:nvSpPr>
        <p:spPr>
          <a:xfrm>
            <a:off x="2926080" y="3749040"/>
            <a:ext cx="777240" cy="164592"/>
          </a:xfrm>
          <a:prstGeom prst="roundRect">
            <a:avLst>
              <a:gd name="adj" fmla="val 11111"/>
            </a:avLst>
          </a:prstGeom>
          <a:solidFill>
            <a:srgbClr val="FFFBEB"/>
          </a:solidFill>
        </p:spPr>
      </p:sp>
      <p:sp>
        <p:nvSpPr>
          <p:cNvPr id="59" name="Text 57"/>
          <p:cNvSpPr/>
          <p:nvPr/>
        </p:nvSpPr>
        <p:spPr>
          <a:xfrm>
            <a:off x="2926080" y="3749040"/>
            <a:ext cx="77724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D9770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电费缴费</a:t>
            </a:r>
            <a:endParaRPr lang="en-US" sz="550" dirty="0"/>
          </a:p>
        </p:txBody>
      </p:sp>
      <p:sp>
        <p:nvSpPr>
          <p:cNvPr id="60" name="Shape 58"/>
          <p:cNvSpPr/>
          <p:nvPr/>
        </p:nvSpPr>
        <p:spPr>
          <a:xfrm>
            <a:off x="3749040" y="3749040"/>
            <a:ext cx="777240" cy="164592"/>
          </a:xfrm>
          <a:prstGeom prst="roundRect">
            <a:avLst>
              <a:gd name="adj" fmla="val 11111"/>
            </a:avLst>
          </a:prstGeom>
          <a:solidFill>
            <a:srgbClr val="FFFBEB"/>
          </a:solidFill>
        </p:spPr>
      </p:sp>
      <p:sp>
        <p:nvSpPr>
          <p:cNvPr id="61" name="Text 59"/>
          <p:cNvSpPr/>
          <p:nvPr/>
        </p:nvSpPr>
        <p:spPr>
          <a:xfrm>
            <a:off x="3749040" y="3749040"/>
            <a:ext cx="77724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D9770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自来水缴费</a:t>
            </a:r>
            <a:endParaRPr lang="en-US" sz="550" dirty="0"/>
          </a:p>
        </p:txBody>
      </p:sp>
      <p:sp>
        <p:nvSpPr>
          <p:cNvPr id="62" name="Shape 60"/>
          <p:cNvSpPr/>
          <p:nvPr/>
        </p:nvSpPr>
        <p:spPr>
          <a:xfrm>
            <a:off x="4572000" y="3749040"/>
            <a:ext cx="777240" cy="164592"/>
          </a:xfrm>
          <a:prstGeom prst="roundRect">
            <a:avLst>
              <a:gd name="adj" fmla="val 11111"/>
            </a:avLst>
          </a:prstGeom>
          <a:solidFill>
            <a:srgbClr val="FFFBEB"/>
          </a:solidFill>
        </p:spPr>
      </p:sp>
      <p:sp>
        <p:nvSpPr>
          <p:cNvPr id="63" name="Text 61"/>
          <p:cNvSpPr/>
          <p:nvPr/>
        </p:nvSpPr>
        <p:spPr>
          <a:xfrm>
            <a:off x="4572000" y="3749040"/>
            <a:ext cx="77724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D9770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访客录入</a:t>
            </a:r>
            <a:endParaRPr lang="en-US" sz="550" dirty="0"/>
          </a:p>
        </p:txBody>
      </p:sp>
      <p:sp>
        <p:nvSpPr>
          <p:cNvPr id="64" name="Shape 62"/>
          <p:cNvSpPr/>
          <p:nvPr/>
        </p:nvSpPr>
        <p:spPr>
          <a:xfrm>
            <a:off x="5394960" y="3749040"/>
            <a:ext cx="777240" cy="164592"/>
          </a:xfrm>
          <a:prstGeom prst="roundRect">
            <a:avLst>
              <a:gd name="adj" fmla="val 11111"/>
            </a:avLst>
          </a:prstGeom>
          <a:solidFill>
            <a:srgbClr val="FFFBEB"/>
          </a:solidFill>
        </p:spPr>
      </p:sp>
      <p:sp>
        <p:nvSpPr>
          <p:cNvPr id="65" name="Text 63"/>
          <p:cNvSpPr/>
          <p:nvPr/>
        </p:nvSpPr>
        <p:spPr>
          <a:xfrm>
            <a:off x="5394960" y="3749040"/>
            <a:ext cx="77724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D9770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门禁管理</a:t>
            </a:r>
            <a:endParaRPr lang="en-US" sz="550" dirty="0"/>
          </a:p>
        </p:txBody>
      </p:sp>
      <p:sp>
        <p:nvSpPr>
          <p:cNvPr id="66" name="Shape 64"/>
          <p:cNvSpPr/>
          <p:nvPr/>
        </p:nvSpPr>
        <p:spPr>
          <a:xfrm>
            <a:off x="6217920" y="3749040"/>
            <a:ext cx="777240" cy="164592"/>
          </a:xfrm>
          <a:prstGeom prst="roundRect">
            <a:avLst>
              <a:gd name="adj" fmla="val 11111"/>
            </a:avLst>
          </a:prstGeom>
          <a:solidFill>
            <a:srgbClr val="FFFBEB"/>
          </a:solidFill>
        </p:spPr>
      </p:sp>
      <p:sp>
        <p:nvSpPr>
          <p:cNvPr id="67" name="Text 65"/>
          <p:cNvSpPr/>
          <p:nvPr/>
        </p:nvSpPr>
        <p:spPr>
          <a:xfrm>
            <a:off x="6217920" y="3749040"/>
            <a:ext cx="77724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D9770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审批流程</a:t>
            </a:r>
            <a:endParaRPr lang="en-US" sz="550" dirty="0"/>
          </a:p>
        </p:txBody>
      </p:sp>
      <p:sp>
        <p:nvSpPr>
          <p:cNvPr id="68" name="Shape 66"/>
          <p:cNvSpPr/>
          <p:nvPr/>
        </p:nvSpPr>
        <p:spPr>
          <a:xfrm>
            <a:off x="7040880" y="3749040"/>
            <a:ext cx="777240" cy="164592"/>
          </a:xfrm>
          <a:prstGeom prst="roundRect">
            <a:avLst>
              <a:gd name="adj" fmla="val 11111"/>
            </a:avLst>
          </a:prstGeom>
          <a:solidFill>
            <a:srgbClr val="FFFBEB"/>
          </a:solidFill>
        </p:spPr>
      </p:sp>
      <p:sp>
        <p:nvSpPr>
          <p:cNvPr id="69" name="Text 67"/>
          <p:cNvSpPr/>
          <p:nvPr/>
        </p:nvSpPr>
        <p:spPr>
          <a:xfrm>
            <a:off x="7040880" y="3749040"/>
            <a:ext cx="77724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D9770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日报填写</a:t>
            </a:r>
            <a:endParaRPr lang="en-US" sz="550" dirty="0"/>
          </a:p>
        </p:txBody>
      </p:sp>
      <p:sp>
        <p:nvSpPr>
          <p:cNvPr id="70" name="Shape 68"/>
          <p:cNvSpPr/>
          <p:nvPr/>
        </p:nvSpPr>
        <p:spPr>
          <a:xfrm>
            <a:off x="7863840" y="3749040"/>
            <a:ext cx="777240" cy="164592"/>
          </a:xfrm>
          <a:prstGeom prst="roundRect">
            <a:avLst>
              <a:gd name="adj" fmla="val 11111"/>
            </a:avLst>
          </a:prstGeom>
          <a:solidFill>
            <a:srgbClr val="FFFBEB"/>
          </a:solidFill>
        </p:spPr>
      </p:sp>
      <p:sp>
        <p:nvSpPr>
          <p:cNvPr id="71" name="Text 69"/>
          <p:cNvSpPr/>
          <p:nvPr/>
        </p:nvSpPr>
        <p:spPr>
          <a:xfrm>
            <a:off x="7863840" y="3749040"/>
            <a:ext cx="77724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D9770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场馆预约</a:t>
            </a:r>
            <a:endParaRPr lang="en-US" sz="550" dirty="0"/>
          </a:p>
        </p:txBody>
      </p:sp>
      <p:sp>
        <p:nvSpPr>
          <p:cNvPr id="72" name="Shape 70"/>
          <p:cNvSpPr/>
          <p:nvPr/>
        </p:nvSpPr>
        <p:spPr>
          <a:xfrm>
            <a:off x="8503920" y="4663440"/>
            <a:ext cx="320040" cy="320040"/>
          </a:xfrm>
          <a:prstGeom prst="ellipse">
            <a:avLst/>
          </a:prstGeom>
          <a:solidFill>
            <a:srgbClr val="D97706"/>
          </a:solidFill>
        </p:spPr>
        <p:txBody>
          <a:bodyPr/>
          <a:p>
            <a:endParaRPr lang="zh-CN" altLang="en-US" sz="800"/>
          </a:p>
        </p:txBody>
      </p:sp>
      <p:sp>
        <p:nvSpPr>
          <p:cNvPr id="73" name="Text 71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入驻企业 — 展示与招商引资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548640"/>
            <a:ext cx="640080" cy="22860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5" name="Shape 3"/>
          <p:cNvSpPr/>
          <p:nvPr/>
        </p:nvSpPr>
        <p:spPr>
          <a:xfrm>
            <a:off x="7498080" y="73152"/>
            <a:ext cx="457200" cy="201168"/>
          </a:xfrm>
          <a:prstGeom prst="parallelogram">
            <a:avLst/>
          </a:prstGeom>
          <a:solidFill>
            <a:srgbClr val="D97706">
              <a:alpha val="75000"/>
            </a:srgbClr>
          </a:solidFill>
        </p:spPr>
      </p:sp>
      <p:sp>
        <p:nvSpPr>
          <p:cNvPr id="6" name="Shape 4"/>
          <p:cNvSpPr/>
          <p:nvPr/>
        </p:nvSpPr>
        <p:spPr>
          <a:xfrm>
            <a:off x="8046720" y="73152"/>
            <a:ext cx="457200" cy="201168"/>
          </a:xfrm>
          <a:prstGeom prst="parallelogram">
            <a:avLst/>
          </a:prstGeom>
          <a:solidFill>
            <a:srgbClr val="D97706">
              <a:alpha val="55000"/>
            </a:srgbClr>
          </a:solidFill>
        </p:spPr>
      </p:sp>
      <p:sp>
        <p:nvSpPr>
          <p:cNvPr id="7" name="Shape 5"/>
          <p:cNvSpPr/>
          <p:nvPr/>
        </p:nvSpPr>
        <p:spPr>
          <a:xfrm>
            <a:off x="7315200" y="91440"/>
            <a:ext cx="548640" cy="274320"/>
          </a:xfrm>
          <a:prstGeom prst="parallelogram">
            <a:avLst/>
          </a:prstGeom>
          <a:solidFill>
            <a:srgbClr val="D97706">
              <a:alpha val="70000"/>
            </a:srgbClr>
          </a:solidFill>
        </p:spPr>
      </p:sp>
      <p:sp>
        <p:nvSpPr>
          <p:cNvPr id="8" name="Shape 6"/>
          <p:cNvSpPr/>
          <p:nvPr/>
        </p:nvSpPr>
        <p:spPr>
          <a:xfrm>
            <a:off x="7955280" y="91440"/>
            <a:ext cx="548640" cy="274320"/>
          </a:xfrm>
          <a:prstGeom prst="parallelogram">
            <a:avLst/>
          </a:prstGeom>
          <a:solidFill>
            <a:srgbClr val="D97706">
              <a:alpha val="50000"/>
            </a:srgbClr>
          </a:solidFill>
        </p:spPr>
      </p:sp>
      <p:sp>
        <p:nvSpPr>
          <p:cNvPr id="10" name="Shape 8"/>
          <p:cNvSpPr/>
          <p:nvPr/>
        </p:nvSpPr>
        <p:spPr>
          <a:xfrm>
            <a:off x="457200" y="73152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822960"/>
            <a:ext cx="640080" cy="256032"/>
          </a:xfrm>
          <a:prstGeom prst="parallelogram">
            <a:avLst/>
          </a:prstGeom>
          <a:solidFill>
            <a:srgbClr val="D97706"/>
          </a:solidFill>
        </p:spPr>
      </p:sp>
      <p:sp>
        <p:nvSpPr>
          <p:cNvPr id="12" name="Text 10"/>
          <p:cNvSpPr/>
          <p:nvPr/>
        </p:nvSpPr>
        <p:spPr>
          <a:xfrm>
            <a:off x="548640" y="822960"/>
            <a:ext cx="6400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云展馆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94360" y="1143000"/>
            <a:ext cx="23774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企业形象线上展示，产品立体展示，支持多媒体内容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783080"/>
            <a:ext cx="731520" cy="27432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15" name="Shape 13"/>
          <p:cNvSpPr/>
          <p:nvPr/>
        </p:nvSpPr>
        <p:spPr>
          <a:xfrm>
            <a:off x="3337560" y="73152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429000" y="822960"/>
            <a:ext cx="640080" cy="256032"/>
          </a:xfrm>
          <a:prstGeom prst="parallelogram">
            <a:avLst/>
          </a:prstGeom>
          <a:solidFill>
            <a:srgbClr val="D97706"/>
          </a:solidFill>
        </p:spPr>
      </p:sp>
      <p:sp>
        <p:nvSpPr>
          <p:cNvPr id="17" name="Text 15"/>
          <p:cNvSpPr/>
          <p:nvPr/>
        </p:nvSpPr>
        <p:spPr>
          <a:xfrm>
            <a:off x="3429000" y="822960"/>
            <a:ext cx="6400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电子名片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474720" y="1143000"/>
            <a:ext cx="23774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企业员工电子名片快速分享，一键保存联系人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74720" y="1783080"/>
            <a:ext cx="731520" cy="27432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20" name="Shape 18"/>
          <p:cNvSpPr/>
          <p:nvPr/>
        </p:nvSpPr>
        <p:spPr>
          <a:xfrm>
            <a:off x="6217920" y="73152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09360" y="822960"/>
            <a:ext cx="640080" cy="256032"/>
          </a:xfrm>
          <a:prstGeom prst="parallelogram">
            <a:avLst/>
          </a:prstGeom>
          <a:solidFill>
            <a:srgbClr val="D97706"/>
          </a:solidFill>
        </p:spPr>
      </p:sp>
      <p:sp>
        <p:nvSpPr>
          <p:cNvPr id="22" name="Text 20"/>
          <p:cNvSpPr/>
          <p:nvPr/>
        </p:nvSpPr>
        <p:spPr>
          <a:xfrm>
            <a:off x="6309360" y="822960"/>
            <a:ext cx="6400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园区宣传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355080" y="1143000"/>
            <a:ext cx="23774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园区概况、发展历程、优势产业多维度展示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355080" y="1783080"/>
            <a:ext cx="731520" cy="27432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25" name="Shape 23"/>
          <p:cNvSpPr/>
          <p:nvPr/>
        </p:nvSpPr>
        <p:spPr>
          <a:xfrm>
            <a:off x="457200" y="2103120"/>
            <a:ext cx="41148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0080" y="2148840"/>
            <a:ext cx="32004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目标企业挖掘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2331720"/>
            <a:ext cx="4114800" cy="9144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8" name="Text 26"/>
          <p:cNvSpPr/>
          <p:nvPr/>
        </p:nvSpPr>
        <p:spPr>
          <a:xfrm>
            <a:off x="640080" y="2395728"/>
            <a:ext cx="37490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多维数据源+智能算法自动推荐与园区产业高度匹配的目标企业，实现精准招商引资。基于产业链、资金、技术、地理等多维度算法评分。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4846320" y="2103120"/>
            <a:ext cx="39319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029200" y="2148840"/>
            <a:ext cx="34747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投资项目管理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46320" y="2331720"/>
            <a:ext cx="3931920" cy="9144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2" name="Text 30"/>
          <p:cNvSpPr/>
          <p:nvPr/>
        </p:nvSpPr>
        <p:spPr>
          <a:xfrm>
            <a:off x="5029200" y="2395728"/>
            <a:ext cx="3657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招商项目全生命周期管理，从接触到签约全流程线上化。包括转化率、合约金额、产业聚集度等关键指标。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57200" y="3337560"/>
            <a:ext cx="8229600" cy="861695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40080" y="3383280"/>
            <a:ext cx="2743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9770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园区重点企业（9家）：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40080" y="3639312"/>
            <a:ext cx="32004" cy="32004"/>
          </a:xfrm>
          <a:prstGeom prst="ellipse">
            <a:avLst/>
          </a:prstGeom>
          <a:solidFill>
            <a:srgbClr val="D97706"/>
          </a:solidFill>
        </p:spPr>
      </p:sp>
      <p:sp>
        <p:nvSpPr>
          <p:cNvPr id="36" name="Text 34"/>
          <p:cNvSpPr/>
          <p:nvPr/>
        </p:nvSpPr>
        <p:spPr>
          <a:xfrm>
            <a:off x="694944" y="3611880"/>
            <a:ext cx="13716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阜成新材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2240280" y="3639312"/>
            <a:ext cx="32004" cy="32004"/>
          </a:xfrm>
          <a:prstGeom prst="ellipse">
            <a:avLst/>
          </a:prstGeom>
          <a:solidFill>
            <a:srgbClr val="D97706"/>
          </a:solidFill>
        </p:spPr>
      </p:sp>
      <p:sp>
        <p:nvSpPr>
          <p:cNvPr id="38" name="Text 36"/>
          <p:cNvSpPr/>
          <p:nvPr/>
        </p:nvSpPr>
        <p:spPr>
          <a:xfrm>
            <a:off x="2295144" y="3611880"/>
            <a:ext cx="13716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虹昌晶体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3840480" y="3639312"/>
            <a:ext cx="32004" cy="32004"/>
          </a:xfrm>
          <a:prstGeom prst="ellipse">
            <a:avLst/>
          </a:prstGeom>
          <a:solidFill>
            <a:srgbClr val="D97706"/>
          </a:solidFill>
        </p:spPr>
      </p:sp>
      <p:sp>
        <p:nvSpPr>
          <p:cNvPr id="40" name="Text 38"/>
          <p:cNvSpPr/>
          <p:nvPr/>
        </p:nvSpPr>
        <p:spPr>
          <a:xfrm>
            <a:off x="3895344" y="3611880"/>
            <a:ext cx="13716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中能建</a:t>
            </a:r>
            <a:endParaRPr lang="en-US" sz="650" dirty="0"/>
          </a:p>
        </p:txBody>
      </p:sp>
      <p:sp>
        <p:nvSpPr>
          <p:cNvPr id="41" name="Shape 39"/>
          <p:cNvSpPr/>
          <p:nvPr/>
        </p:nvSpPr>
        <p:spPr>
          <a:xfrm>
            <a:off x="5440680" y="3639312"/>
            <a:ext cx="32004" cy="32004"/>
          </a:xfrm>
          <a:prstGeom prst="ellipse">
            <a:avLst/>
          </a:prstGeom>
          <a:solidFill>
            <a:srgbClr val="D97706"/>
          </a:solidFill>
        </p:spPr>
      </p:sp>
      <p:sp>
        <p:nvSpPr>
          <p:cNvPr id="42" name="Text 40"/>
          <p:cNvSpPr/>
          <p:nvPr/>
        </p:nvSpPr>
        <p:spPr>
          <a:xfrm>
            <a:off x="5495544" y="3611880"/>
            <a:ext cx="13716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佳兴铝业</a:t>
            </a:r>
            <a:endParaRPr lang="en-US" sz="650" dirty="0"/>
          </a:p>
        </p:txBody>
      </p:sp>
      <p:sp>
        <p:nvSpPr>
          <p:cNvPr id="43" name="Shape 41"/>
          <p:cNvSpPr/>
          <p:nvPr/>
        </p:nvSpPr>
        <p:spPr>
          <a:xfrm>
            <a:off x="7040880" y="3639312"/>
            <a:ext cx="32004" cy="32004"/>
          </a:xfrm>
          <a:prstGeom prst="ellipse">
            <a:avLst/>
          </a:prstGeom>
          <a:solidFill>
            <a:srgbClr val="D97706"/>
          </a:solidFill>
        </p:spPr>
      </p:sp>
      <p:sp>
        <p:nvSpPr>
          <p:cNvPr id="44" name="Text 42"/>
          <p:cNvSpPr/>
          <p:nvPr/>
        </p:nvSpPr>
        <p:spPr>
          <a:xfrm>
            <a:off x="7095744" y="3611880"/>
            <a:ext cx="13716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星恒青源</a:t>
            </a:r>
            <a:endParaRPr lang="en-US" sz="650" dirty="0"/>
          </a:p>
        </p:txBody>
      </p:sp>
      <p:sp>
        <p:nvSpPr>
          <p:cNvPr id="45" name="Shape 43"/>
          <p:cNvSpPr/>
          <p:nvPr/>
        </p:nvSpPr>
        <p:spPr>
          <a:xfrm>
            <a:off x="640080" y="3895344"/>
            <a:ext cx="32004" cy="32004"/>
          </a:xfrm>
          <a:prstGeom prst="ellipse">
            <a:avLst/>
          </a:prstGeom>
          <a:solidFill>
            <a:srgbClr val="D97706"/>
          </a:solidFill>
        </p:spPr>
      </p:sp>
      <p:sp>
        <p:nvSpPr>
          <p:cNvPr id="46" name="Text 44"/>
          <p:cNvSpPr/>
          <p:nvPr/>
        </p:nvSpPr>
        <p:spPr>
          <a:xfrm>
            <a:off x="694944" y="3867912"/>
            <a:ext cx="13716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九旭新材</a:t>
            </a:r>
            <a:endParaRPr lang="en-US" sz="650" dirty="0"/>
          </a:p>
        </p:txBody>
      </p:sp>
      <p:sp>
        <p:nvSpPr>
          <p:cNvPr id="47" name="Shape 45"/>
          <p:cNvSpPr/>
          <p:nvPr/>
        </p:nvSpPr>
        <p:spPr>
          <a:xfrm>
            <a:off x="2240280" y="3895344"/>
            <a:ext cx="32004" cy="32004"/>
          </a:xfrm>
          <a:prstGeom prst="ellipse">
            <a:avLst/>
          </a:prstGeom>
          <a:solidFill>
            <a:srgbClr val="D97706"/>
          </a:solidFill>
        </p:spPr>
      </p:sp>
      <p:sp>
        <p:nvSpPr>
          <p:cNvPr id="48" name="Text 46"/>
          <p:cNvSpPr/>
          <p:nvPr/>
        </p:nvSpPr>
        <p:spPr>
          <a:xfrm>
            <a:off x="2295144" y="3867912"/>
            <a:ext cx="13716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华纳实业</a:t>
            </a:r>
            <a:endParaRPr lang="en-US" sz="650" dirty="0"/>
          </a:p>
        </p:txBody>
      </p:sp>
      <p:sp>
        <p:nvSpPr>
          <p:cNvPr id="49" name="Shape 47"/>
          <p:cNvSpPr/>
          <p:nvPr/>
        </p:nvSpPr>
        <p:spPr>
          <a:xfrm>
            <a:off x="3840480" y="3895344"/>
            <a:ext cx="32004" cy="32004"/>
          </a:xfrm>
          <a:prstGeom prst="ellipse">
            <a:avLst/>
          </a:prstGeom>
          <a:solidFill>
            <a:srgbClr val="D97706"/>
          </a:solidFill>
        </p:spPr>
      </p:sp>
      <p:sp>
        <p:nvSpPr>
          <p:cNvPr id="50" name="Text 48"/>
          <p:cNvSpPr/>
          <p:nvPr/>
        </p:nvSpPr>
        <p:spPr>
          <a:xfrm>
            <a:off x="3895344" y="3867912"/>
            <a:ext cx="13716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新通鑫</a:t>
            </a:r>
            <a:endParaRPr lang="en-US" sz="650" dirty="0"/>
          </a:p>
        </p:txBody>
      </p:sp>
      <p:sp>
        <p:nvSpPr>
          <p:cNvPr id="51" name="Shape 49"/>
          <p:cNvSpPr/>
          <p:nvPr/>
        </p:nvSpPr>
        <p:spPr>
          <a:xfrm>
            <a:off x="5440680" y="3895344"/>
            <a:ext cx="32004" cy="32004"/>
          </a:xfrm>
          <a:prstGeom prst="ellipse">
            <a:avLst/>
          </a:prstGeom>
          <a:solidFill>
            <a:srgbClr val="D97706"/>
          </a:solidFill>
        </p:spPr>
      </p:sp>
      <p:sp>
        <p:nvSpPr>
          <p:cNvPr id="52" name="Text 50"/>
          <p:cNvSpPr/>
          <p:nvPr/>
        </p:nvSpPr>
        <p:spPr>
          <a:xfrm>
            <a:off x="5495544" y="3867912"/>
            <a:ext cx="13716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广袂新材</a:t>
            </a:r>
            <a:endParaRPr lang="en-US" sz="650" dirty="0"/>
          </a:p>
        </p:txBody>
      </p:sp>
      <p:sp>
        <p:nvSpPr>
          <p:cNvPr id="53" name="Shape 51"/>
          <p:cNvSpPr/>
          <p:nvPr/>
        </p:nvSpPr>
        <p:spPr>
          <a:xfrm>
            <a:off x="8503920" y="4663440"/>
            <a:ext cx="320040" cy="320040"/>
          </a:xfrm>
          <a:prstGeom prst="ellipse">
            <a:avLst/>
          </a:prstGeom>
          <a:solidFill>
            <a:srgbClr val="D97706"/>
          </a:solidFill>
        </p:spPr>
      </p:sp>
      <p:sp>
        <p:nvSpPr>
          <p:cNvPr id="54" name="Text 52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公众用户 — 信息服务与园区参与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548640"/>
            <a:ext cx="640080" cy="22860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5" name="Shape 3"/>
          <p:cNvSpPr/>
          <p:nvPr/>
        </p:nvSpPr>
        <p:spPr>
          <a:xfrm>
            <a:off x="7498080" y="73152"/>
            <a:ext cx="457200" cy="201168"/>
          </a:xfrm>
          <a:prstGeom prst="parallelogram">
            <a:avLst/>
          </a:prstGeom>
          <a:solidFill>
            <a:srgbClr val="7C3AED">
              <a:alpha val="75000"/>
            </a:srgbClr>
          </a:solidFill>
        </p:spPr>
      </p:sp>
      <p:sp>
        <p:nvSpPr>
          <p:cNvPr id="6" name="Shape 4"/>
          <p:cNvSpPr/>
          <p:nvPr/>
        </p:nvSpPr>
        <p:spPr>
          <a:xfrm>
            <a:off x="8046720" y="73152"/>
            <a:ext cx="457200" cy="201168"/>
          </a:xfrm>
          <a:prstGeom prst="parallelogram">
            <a:avLst/>
          </a:prstGeom>
          <a:solidFill>
            <a:srgbClr val="7C3AED">
              <a:alpha val="55000"/>
            </a:srgbClr>
          </a:solidFill>
        </p:spPr>
      </p:sp>
      <p:sp>
        <p:nvSpPr>
          <p:cNvPr id="7" name="Shape 5"/>
          <p:cNvSpPr/>
          <p:nvPr/>
        </p:nvSpPr>
        <p:spPr>
          <a:xfrm>
            <a:off x="7315200" y="91440"/>
            <a:ext cx="548640" cy="274320"/>
          </a:xfrm>
          <a:prstGeom prst="parallelogram">
            <a:avLst/>
          </a:prstGeom>
          <a:solidFill>
            <a:srgbClr val="7C3AED">
              <a:alpha val="70000"/>
            </a:srgbClr>
          </a:solidFill>
        </p:spPr>
      </p:sp>
      <p:sp>
        <p:nvSpPr>
          <p:cNvPr id="8" name="Shape 6"/>
          <p:cNvSpPr/>
          <p:nvPr/>
        </p:nvSpPr>
        <p:spPr>
          <a:xfrm>
            <a:off x="7955280" y="91440"/>
            <a:ext cx="548640" cy="274320"/>
          </a:xfrm>
          <a:prstGeom prst="parallelogram">
            <a:avLst/>
          </a:prstGeom>
          <a:solidFill>
            <a:srgbClr val="7C3AED">
              <a:alpha val="50000"/>
            </a:srgbClr>
          </a:solidFill>
        </p:spPr>
      </p:sp>
      <p:sp>
        <p:nvSpPr>
          <p:cNvPr id="10" name="Shape 8"/>
          <p:cNvSpPr/>
          <p:nvPr/>
        </p:nvSpPr>
        <p:spPr>
          <a:xfrm>
            <a:off x="457200" y="77724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822960"/>
            <a:ext cx="3657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园区信息中心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1097280"/>
            <a:ext cx="1828800" cy="439420"/>
          </a:xfrm>
          <a:prstGeom prst="roundRect">
            <a:avLst>
              <a:gd name="adj" fmla="val 14286"/>
            </a:avLst>
          </a:prstGeom>
          <a:solidFill>
            <a:srgbClr val="F5F3FF"/>
          </a:solidFill>
        </p:spPr>
      </p:sp>
      <p:sp>
        <p:nvSpPr>
          <p:cNvPr id="13" name="Shape 11"/>
          <p:cNvSpPr/>
          <p:nvPr/>
        </p:nvSpPr>
        <p:spPr>
          <a:xfrm>
            <a:off x="713105" y="1161415"/>
            <a:ext cx="76200" cy="76200"/>
          </a:xfrm>
          <a:prstGeom prst="ellipse">
            <a:avLst/>
          </a:prstGeom>
          <a:solidFill>
            <a:srgbClr val="7C3AED"/>
          </a:solidFill>
        </p:spPr>
      </p:sp>
      <p:sp>
        <p:nvSpPr>
          <p:cNvPr id="14" name="Text 12"/>
          <p:cNvSpPr/>
          <p:nvPr/>
        </p:nvSpPr>
        <p:spPr>
          <a:xfrm>
            <a:off x="822960" y="1097280"/>
            <a:ext cx="1554480" cy="22542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3AE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园区公告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85800" y="1261745"/>
            <a:ext cx="1737360" cy="22542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实时查看园区通知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2651760" y="1097280"/>
            <a:ext cx="1828800" cy="439420"/>
          </a:xfrm>
          <a:prstGeom prst="roundRect">
            <a:avLst>
              <a:gd name="adj" fmla="val 14286"/>
            </a:avLst>
          </a:prstGeom>
          <a:solidFill>
            <a:srgbClr val="F5F3FF"/>
          </a:solidFill>
        </p:spPr>
      </p:sp>
      <p:sp>
        <p:nvSpPr>
          <p:cNvPr id="17" name="Shape 15"/>
          <p:cNvSpPr/>
          <p:nvPr/>
        </p:nvSpPr>
        <p:spPr>
          <a:xfrm>
            <a:off x="2724785" y="1161415"/>
            <a:ext cx="76200" cy="76200"/>
          </a:xfrm>
          <a:prstGeom prst="ellipse">
            <a:avLst/>
          </a:prstGeom>
          <a:solidFill>
            <a:srgbClr val="7C3AED"/>
          </a:solidFill>
        </p:spPr>
      </p:sp>
      <p:sp>
        <p:nvSpPr>
          <p:cNvPr id="18" name="Text 16"/>
          <p:cNvSpPr/>
          <p:nvPr/>
        </p:nvSpPr>
        <p:spPr>
          <a:xfrm>
            <a:off x="2834640" y="1097280"/>
            <a:ext cx="1554480" cy="22542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3AE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园区活动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697480" y="1261745"/>
            <a:ext cx="1737360" cy="22542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查看并参与园区活动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4663440" y="1097280"/>
            <a:ext cx="1828800" cy="439420"/>
          </a:xfrm>
          <a:prstGeom prst="roundRect">
            <a:avLst>
              <a:gd name="adj" fmla="val 14286"/>
            </a:avLst>
          </a:prstGeom>
          <a:solidFill>
            <a:srgbClr val="F5F3FF"/>
          </a:solidFill>
        </p:spPr>
      </p:sp>
      <p:sp>
        <p:nvSpPr>
          <p:cNvPr id="21" name="Shape 19"/>
          <p:cNvSpPr/>
          <p:nvPr/>
        </p:nvSpPr>
        <p:spPr>
          <a:xfrm>
            <a:off x="4736465" y="1161415"/>
            <a:ext cx="76200" cy="76200"/>
          </a:xfrm>
          <a:prstGeom prst="ellipse">
            <a:avLst/>
          </a:prstGeom>
          <a:solidFill>
            <a:srgbClr val="7C3AED"/>
          </a:solidFill>
        </p:spPr>
      </p:sp>
      <p:sp>
        <p:nvSpPr>
          <p:cNvPr id="22" name="Text 20"/>
          <p:cNvSpPr/>
          <p:nvPr/>
        </p:nvSpPr>
        <p:spPr>
          <a:xfrm>
            <a:off x="4846320" y="1097280"/>
            <a:ext cx="1554480" cy="22542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3AE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园区政策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09160" y="1261745"/>
            <a:ext cx="1737360" cy="22542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查看公开政策信息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6675120" y="1097280"/>
            <a:ext cx="1828800" cy="439420"/>
          </a:xfrm>
          <a:prstGeom prst="roundRect">
            <a:avLst>
              <a:gd name="adj" fmla="val 14286"/>
            </a:avLst>
          </a:prstGeom>
          <a:solidFill>
            <a:srgbClr val="F5F3FF"/>
          </a:solidFill>
        </p:spPr>
      </p:sp>
      <p:sp>
        <p:nvSpPr>
          <p:cNvPr id="25" name="Shape 23"/>
          <p:cNvSpPr/>
          <p:nvPr/>
        </p:nvSpPr>
        <p:spPr>
          <a:xfrm>
            <a:off x="6748145" y="1161415"/>
            <a:ext cx="76200" cy="76200"/>
          </a:xfrm>
          <a:prstGeom prst="ellipse">
            <a:avLst/>
          </a:prstGeom>
          <a:solidFill>
            <a:srgbClr val="7C3AED"/>
          </a:solidFill>
        </p:spPr>
      </p:sp>
      <p:sp>
        <p:nvSpPr>
          <p:cNvPr id="26" name="Text 24"/>
          <p:cNvSpPr/>
          <p:nvPr/>
        </p:nvSpPr>
        <p:spPr>
          <a:xfrm>
            <a:off x="6858000" y="1097280"/>
            <a:ext cx="1554480" cy="22542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3AE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信息发布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20840" y="1261745"/>
            <a:ext cx="1737360" cy="22542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园区发展成就多维度展示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457200" y="2103120"/>
            <a:ext cx="265176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30352" y="2176272"/>
            <a:ext cx="27432" cy="676656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30" name="Text 28"/>
          <p:cNvSpPr/>
          <p:nvPr/>
        </p:nvSpPr>
        <p:spPr>
          <a:xfrm>
            <a:off x="640080" y="2194560"/>
            <a:ext cx="22860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园区餐饮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0080" y="2450592"/>
            <a:ext cx="2286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6家餐厅·今日菜单·分类筛选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40080" y="2697480"/>
            <a:ext cx="640080" cy="146304"/>
          </a:xfrm>
          <a:prstGeom prst="roundRect">
            <a:avLst>
              <a:gd name="adj" fmla="val 12500"/>
            </a:avLst>
          </a:prstGeom>
          <a:solidFill>
            <a:srgbClr val="F5F3FF"/>
          </a:solidFill>
        </p:spPr>
      </p:sp>
      <p:sp>
        <p:nvSpPr>
          <p:cNvPr id="33" name="Text 31"/>
          <p:cNvSpPr/>
          <p:nvPr/>
        </p:nvSpPr>
        <p:spPr>
          <a:xfrm>
            <a:off x="640080" y="2697480"/>
            <a:ext cx="64008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7C3AE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查看 &gt;</a:t>
            </a:r>
            <a:endParaRPr lang="en-US" sz="600" dirty="0"/>
          </a:p>
        </p:txBody>
      </p:sp>
      <p:sp>
        <p:nvSpPr>
          <p:cNvPr id="34" name="Shape 32"/>
          <p:cNvSpPr/>
          <p:nvPr/>
        </p:nvSpPr>
        <p:spPr>
          <a:xfrm>
            <a:off x="3337560" y="2103120"/>
            <a:ext cx="265176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410712" y="2176272"/>
            <a:ext cx="27432" cy="676656"/>
          </a:xfrm>
          <a:prstGeom prst="rect">
            <a:avLst/>
          </a:prstGeom>
          <a:solidFill>
            <a:srgbClr val="6D28D9"/>
          </a:solidFill>
        </p:spPr>
      </p:sp>
      <p:sp>
        <p:nvSpPr>
          <p:cNvPr id="36" name="Text 34"/>
          <p:cNvSpPr/>
          <p:nvPr/>
        </p:nvSpPr>
        <p:spPr>
          <a:xfrm>
            <a:off x="3520440" y="2194560"/>
            <a:ext cx="22860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28D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停车服务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520440" y="2450592"/>
            <a:ext cx="2286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地图查看余位·在线缴费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520440" y="2697480"/>
            <a:ext cx="640080" cy="146304"/>
          </a:xfrm>
          <a:prstGeom prst="roundRect">
            <a:avLst>
              <a:gd name="adj" fmla="val 12500"/>
            </a:avLst>
          </a:prstGeom>
          <a:solidFill>
            <a:srgbClr val="F5F3FF"/>
          </a:solidFill>
        </p:spPr>
      </p:sp>
      <p:sp>
        <p:nvSpPr>
          <p:cNvPr id="39" name="Text 37"/>
          <p:cNvSpPr/>
          <p:nvPr/>
        </p:nvSpPr>
        <p:spPr>
          <a:xfrm>
            <a:off x="3520440" y="2697480"/>
            <a:ext cx="64008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7C3AE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查看 &gt;</a:t>
            </a:r>
            <a:endParaRPr lang="en-US" sz="600" dirty="0"/>
          </a:p>
        </p:txBody>
      </p:sp>
      <p:sp>
        <p:nvSpPr>
          <p:cNvPr id="40" name="Shape 38"/>
          <p:cNvSpPr/>
          <p:nvPr/>
        </p:nvSpPr>
        <p:spPr>
          <a:xfrm>
            <a:off x="6217920" y="2103120"/>
            <a:ext cx="265176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291072" y="2176272"/>
            <a:ext cx="27432" cy="676656"/>
          </a:xfrm>
          <a:prstGeom prst="rect">
            <a:avLst/>
          </a:prstGeom>
          <a:solidFill>
            <a:srgbClr val="5B21B6"/>
          </a:solidFill>
        </p:spPr>
      </p:sp>
      <p:sp>
        <p:nvSpPr>
          <p:cNvPr id="42" name="Text 40"/>
          <p:cNvSpPr/>
          <p:nvPr/>
        </p:nvSpPr>
        <p:spPr>
          <a:xfrm>
            <a:off x="6400800" y="2194560"/>
            <a:ext cx="22860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21B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场馆服务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400800" y="2450592"/>
            <a:ext cx="2286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浏览场馆·在线预约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400800" y="2697480"/>
            <a:ext cx="640080" cy="146304"/>
          </a:xfrm>
          <a:prstGeom prst="roundRect">
            <a:avLst>
              <a:gd name="adj" fmla="val 12500"/>
            </a:avLst>
          </a:prstGeom>
          <a:solidFill>
            <a:srgbClr val="F5F3FF"/>
          </a:solidFill>
        </p:spPr>
      </p:sp>
      <p:sp>
        <p:nvSpPr>
          <p:cNvPr id="45" name="Text 43"/>
          <p:cNvSpPr/>
          <p:nvPr/>
        </p:nvSpPr>
        <p:spPr>
          <a:xfrm>
            <a:off x="6400800" y="2697480"/>
            <a:ext cx="64008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7C3AE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查看 &gt;</a:t>
            </a:r>
            <a:endParaRPr lang="en-US" sz="600" dirty="0"/>
          </a:p>
        </p:txBody>
      </p:sp>
      <p:sp>
        <p:nvSpPr>
          <p:cNvPr id="46" name="Shape 44"/>
          <p:cNvSpPr/>
          <p:nvPr/>
        </p:nvSpPr>
        <p:spPr>
          <a:xfrm>
            <a:off x="457200" y="3108960"/>
            <a:ext cx="265176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530352" y="3182112"/>
            <a:ext cx="27432" cy="676656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48" name="Text 46"/>
          <p:cNvSpPr/>
          <p:nvPr/>
        </p:nvSpPr>
        <p:spPr>
          <a:xfrm>
            <a:off x="640080" y="3200400"/>
            <a:ext cx="22860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特色供需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40080" y="3456432"/>
            <a:ext cx="2286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青川山珍与特色产品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640080" y="3703320"/>
            <a:ext cx="640080" cy="146304"/>
          </a:xfrm>
          <a:prstGeom prst="roundRect">
            <a:avLst>
              <a:gd name="adj" fmla="val 12500"/>
            </a:avLst>
          </a:prstGeom>
          <a:solidFill>
            <a:srgbClr val="F5F3FF"/>
          </a:solidFill>
        </p:spPr>
      </p:sp>
      <p:sp>
        <p:nvSpPr>
          <p:cNvPr id="51" name="Text 49"/>
          <p:cNvSpPr/>
          <p:nvPr/>
        </p:nvSpPr>
        <p:spPr>
          <a:xfrm>
            <a:off x="640080" y="3703320"/>
            <a:ext cx="64008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7C3AE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查看 &gt;</a:t>
            </a:r>
            <a:endParaRPr lang="en-US" sz="600" dirty="0"/>
          </a:p>
        </p:txBody>
      </p:sp>
      <p:sp>
        <p:nvSpPr>
          <p:cNvPr id="52" name="Shape 50"/>
          <p:cNvSpPr/>
          <p:nvPr/>
        </p:nvSpPr>
        <p:spPr>
          <a:xfrm>
            <a:off x="3337560" y="3108960"/>
            <a:ext cx="265176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3410712" y="3182112"/>
            <a:ext cx="27432" cy="676656"/>
          </a:xfrm>
          <a:prstGeom prst="rect">
            <a:avLst/>
          </a:prstGeom>
          <a:solidFill>
            <a:srgbClr val="6D28D9"/>
          </a:solidFill>
        </p:spPr>
      </p:sp>
      <p:sp>
        <p:nvSpPr>
          <p:cNvPr id="54" name="Text 52"/>
          <p:cNvSpPr/>
          <p:nvPr/>
        </p:nvSpPr>
        <p:spPr>
          <a:xfrm>
            <a:off x="3520440" y="3200400"/>
            <a:ext cx="22860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28D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用工信息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3520440" y="3456432"/>
            <a:ext cx="2286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招聘信息·岗位匹配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3520440" y="3703320"/>
            <a:ext cx="640080" cy="146304"/>
          </a:xfrm>
          <a:prstGeom prst="roundRect">
            <a:avLst>
              <a:gd name="adj" fmla="val 12500"/>
            </a:avLst>
          </a:prstGeom>
          <a:solidFill>
            <a:srgbClr val="F5F3FF"/>
          </a:solidFill>
        </p:spPr>
      </p:sp>
      <p:sp>
        <p:nvSpPr>
          <p:cNvPr id="57" name="Text 55"/>
          <p:cNvSpPr/>
          <p:nvPr/>
        </p:nvSpPr>
        <p:spPr>
          <a:xfrm>
            <a:off x="3520440" y="3703320"/>
            <a:ext cx="64008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7C3AE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查看 &gt;</a:t>
            </a:r>
            <a:endParaRPr lang="en-US" sz="600" dirty="0"/>
          </a:p>
        </p:txBody>
      </p:sp>
      <p:sp>
        <p:nvSpPr>
          <p:cNvPr id="58" name="Shape 56"/>
          <p:cNvSpPr/>
          <p:nvPr/>
        </p:nvSpPr>
        <p:spPr>
          <a:xfrm>
            <a:off x="8503920" y="4663440"/>
            <a:ext cx="320040" cy="320040"/>
          </a:xfrm>
          <a:prstGeom prst="ellipse">
            <a:avLst/>
          </a:prstGeom>
          <a:solidFill>
            <a:srgbClr val="7C3AED"/>
          </a:solidFill>
        </p:spPr>
      </p:sp>
      <p:sp>
        <p:nvSpPr>
          <p:cNvPr id="59" name="Text 57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18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公众用户 — 互动体验与服务数据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548640"/>
            <a:ext cx="640080" cy="22860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5" name="Shape 3"/>
          <p:cNvSpPr/>
          <p:nvPr/>
        </p:nvSpPr>
        <p:spPr>
          <a:xfrm>
            <a:off x="7498080" y="73152"/>
            <a:ext cx="457200" cy="201168"/>
          </a:xfrm>
          <a:prstGeom prst="parallelogram">
            <a:avLst/>
          </a:prstGeom>
          <a:solidFill>
            <a:srgbClr val="7C3AED">
              <a:alpha val="75000"/>
            </a:srgbClr>
          </a:solidFill>
        </p:spPr>
      </p:sp>
      <p:sp>
        <p:nvSpPr>
          <p:cNvPr id="6" name="Shape 4"/>
          <p:cNvSpPr/>
          <p:nvPr/>
        </p:nvSpPr>
        <p:spPr>
          <a:xfrm>
            <a:off x="8046720" y="73152"/>
            <a:ext cx="457200" cy="201168"/>
          </a:xfrm>
          <a:prstGeom prst="parallelogram">
            <a:avLst/>
          </a:prstGeom>
          <a:solidFill>
            <a:srgbClr val="7C3AED">
              <a:alpha val="55000"/>
            </a:srgbClr>
          </a:solidFill>
        </p:spPr>
      </p:sp>
      <p:sp>
        <p:nvSpPr>
          <p:cNvPr id="7" name="Shape 5"/>
          <p:cNvSpPr/>
          <p:nvPr/>
        </p:nvSpPr>
        <p:spPr>
          <a:xfrm>
            <a:off x="7315200" y="91440"/>
            <a:ext cx="548640" cy="274320"/>
          </a:xfrm>
          <a:prstGeom prst="parallelogram">
            <a:avLst/>
          </a:prstGeom>
          <a:solidFill>
            <a:srgbClr val="7C3AED">
              <a:alpha val="70000"/>
            </a:srgbClr>
          </a:solidFill>
        </p:spPr>
      </p:sp>
      <p:sp>
        <p:nvSpPr>
          <p:cNvPr id="8" name="Shape 6"/>
          <p:cNvSpPr/>
          <p:nvPr/>
        </p:nvSpPr>
        <p:spPr>
          <a:xfrm>
            <a:off x="7955280" y="91440"/>
            <a:ext cx="548640" cy="274320"/>
          </a:xfrm>
          <a:prstGeom prst="parallelogram">
            <a:avLst/>
          </a:prstGeom>
          <a:solidFill>
            <a:srgbClr val="7C3AED">
              <a:alpha val="50000"/>
            </a:srgbClr>
          </a:solidFill>
        </p:spPr>
      </p:sp>
      <p:sp>
        <p:nvSpPr>
          <p:cNvPr id="10" name="Shape 8"/>
          <p:cNvSpPr/>
          <p:nvPr/>
        </p:nvSpPr>
        <p:spPr>
          <a:xfrm>
            <a:off x="457200" y="777240"/>
            <a:ext cx="484632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841248"/>
            <a:ext cx="4114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公众互动与参与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042416"/>
            <a:ext cx="4846320" cy="9144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13" name="Shape 11"/>
          <p:cNvSpPr/>
          <p:nvPr/>
        </p:nvSpPr>
        <p:spPr>
          <a:xfrm>
            <a:off x="548640" y="1188720"/>
            <a:ext cx="2011680" cy="594360"/>
          </a:xfrm>
          <a:prstGeom prst="roundRect">
            <a:avLst>
              <a:gd name="adj" fmla="val 9231"/>
            </a:avLst>
          </a:prstGeom>
          <a:solidFill>
            <a:srgbClr val="F5F3FF"/>
          </a:solidFill>
        </p:spPr>
      </p:sp>
      <p:sp>
        <p:nvSpPr>
          <p:cNvPr id="14" name="Shape 12"/>
          <p:cNvSpPr/>
          <p:nvPr/>
        </p:nvSpPr>
        <p:spPr>
          <a:xfrm>
            <a:off x="621792" y="1261872"/>
            <a:ext cx="45720" cy="45720"/>
          </a:xfrm>
          <a:prstGeom prst="ellipse">
            <a:avLst/>
          </a:prstGeom>
          <a:solidFill>
            <a:srgbClr val="7C3AED"/>
          </a:solidFill>
        </p:spPr>
      </p:sp>
      <p:sp>
        <p:nvSpPr>
          <p:cNvPr id="15" name="Text 13"/>
          <p:cNvSpPr/>
          <p:nvPr/>
        </p:nvSpPr>
        <p:spPr>
          <a:xfrm>
            <a:off x="713232" y="1234440"/>
            <a:ext cx="17373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3AE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园区广场展示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21792" y="1463040"/>
            <a:ext cx="1828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大屏宣传与信息发布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743200" y="1188720"/>
            <a:ext cx="2011680" cy="594360"/>
          </a:xfrm>
          <a:prstGeom prst="roundRect">
            <a:avLst>
              <a:gd name="adj" fmla="val 9231"/>
            </a:avLst>
          </a:prstGeom>
          <a:solidFill>
            <a:srgbClr val="F5F3FF"/>
          </a:solidFill>
        </p:spPr>
      </p:sp>
      <p:sp>
        <p:nvSpPr>
          <p:cNvPr id="18" name="Shape 16"/>
          <p:cNvSpPr/>
          <p:nvPr/>
        </p:nvSpPr>
        <p:spPr>
          <a:xfrm>
            <a:off x="2816352" y="1261872"/>
            <a:ext cx="45720" cy="45720"/>
          </a:xfrm>
          <a:prstGeom prst="ellipse">
            <a:avLst/>
          </a:prstGeom>
          <a:solidFill>
            <a:srgbClr val="7C3AED"/>
          </a:solidFill>
        </p:spPr>
      </p:sp>
      <p:sp>
        <p:nvSpPr>
          <p:cNvPr id="19" name="Text 17"/>
          <p:cNvSpPr/>
          <p:nvPr/>
        </p:nvSpPr>
        <p:spPr>
          <a:xfrm>
            <a:off x="2907792" y="1234440"/>
            <a:ext cx="17373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3AE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微信小程序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816352" y="1463040"/>
            <a:ext cx="1828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快速接入智慧平台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48640" y="1965960"/>
            <a:ext cx="2011680" cy="594360"/>
          </a:xfrm>
          <a:prstGeom prst="roundRect">
            <a:avLst>
              <a:gd name="adj" fmla="val 9231"/>
            </a:avLst>
          </a:prstGeom>
          <a:solidFill>
            <a:srgbClr val="F5F3FF"/>
          </a:solidFill>
        </p:spPr>
      </p:sp>
      <p:sp>
        <p:nvSpPr>
          <p:cNvPr id="22" name="Shape 20"/>
          <p:cNvSpPr/>
          <p:nvPr/>
        </p:nvSpPr>
        <p:spPr>
          <a:xfrm>
            <a:off x="621792" y="2039112"/>
            <a:ext cx="45720" cy="45720"/>
          </a:xfrm>
          <a:prstGeom prst="ellipse">
            <a:avLst/>
          </a:prstGeom>
          <a:solidFill>
            <a:srgbClr val="7C3AED"/>
          </a:solidFill>
        </p:spPr>
      </p:sp>
      <p:sp>
        <p:nvSpPr>
          <p:cNvPr id="23" name="Text 21"/>
          <p:cNvSpPr/>
          <p:nvPr/>
        </p:nvSpPr>
        <p:spPr>
          <a:xfrm>
            <a:off x="713232" y="2011680"/>
            <a:ext cx="17373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3AE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企业网站导航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21792" y="2240280"/>
            <a:ext cx="1828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园区企业网站集成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743200" y="1965960"/>
            <a:ext cx="2011680" cy="594360"/>
          </a:xfrm>
          <a:prstGeom prst="roundRect">
            <a:avLst>
              <a:gd name="adj" fmla="val 9231"/>
            </a:avLst>
          </a:prstGeom>
          <a:solidFill>
            <a:srgbClr val="F5F3FF"/>
          </a:solidFill>
        </p:spPr>
      </p:sp>
      <p:sp>
        <p:nvSpPr>
          <p:cNvPr id="26" name="Shape 24"/>
          <p:cNvSpPr/>
          <p:nvPr/>
        </p:nvSpPr>
        <p:spPr>
          <a:xfrm>
            <a:off x="2816352" y="2039112"/>
            <a:ext cx="45720" cy="45720"/>
          </a:xfrm>
          <a:prstGeom prst="ellipse">
            <a:avLst/>
          </a:prstGeom>
          <a:solidFill>
            <a:srgbClr val="7C3AED"/>
          </a:solidFill>
        </p:spPr>
      </p:sp>
      <p:sp>
        <p:nvSpPr>
          <p:cNvPr id="27" name="Text 25"/>
          <p:cNvSpPr/>
          <p:nvPr/>
        </p:nvSpPr>
        <p:spPr>
          <a:xfrm>
            <a:off x="2907792" y="2011680"/>
            <a:ext cx="17373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3AE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咨询投诉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816352" y="2240280"/>
            <a:ext cx="1828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在线咨询、投诉反馈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548640" y="2743200"/>
            <a:ext cx="2011680" cy="594360"/>
          </a:xfrm>
          <a:prstGeom prst="roundRect">
            <a:avLst>
              <a:gd name="adj" fmla="val 9231"/>
            </a:avLst>
          </a:prstGeom>
          <a:solidFill>
            <a:srgbClr val="F5F3FF"/>
          </a:solidFill>
        </p:spPr>
      </p:sp>
      <p:sp>
        <p:nvSpPr>
          <p:cNvPr id="30" name="Shape 28"/>
          <p:cNvSpPr/>
          <p:nvPr/>
        </p:nvSpPr>
        <p:spPr>
          <a:xfrm>
            <a:off x="621792" y="2816352"/>
            <a:ext cx="45720" cy="45720"/>
          </a:xfrm>
          <a:prstGeom prst="ellipse">
            <a:avLst/>
          </a:prstGeom>
          <a:solidFill>
            <a:srgbClr val="7C3AED"/>
          </a:solidFill>
        </p:spPr>
      </p:sp>
      <p:sp>
        <p:nvSpPr>
          <p:cNvPr id="31" name="Text 29"/>
          <p:cNvSpPr/>
          <p:nvPr/>
        </p:nvSpPr>
        <p:spPr>
          <a:xfrm>
            <a:off x="713232" y="2788920"/>
            <a:ext cx="17373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3AE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数字化客服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1792" y="3017520"/>
            <a:ext cx="1828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智能客服+24h人工客服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743200" y="2743200"/>
            <a:ext cx="2011680" cy="594360"/>
          </a:xfrm>
          <a:prstGeom prst="roundRect">
            <a:avLst>
              <a:gd name="adj" fmla="val 9231"/>
            </a:avLst>
          </a:prstGeom>
          <a:solidFill>
            <a:srgbClr val="F5F3FF"/>
          </a:solidFill>
        </p:spPr>
      </p:sp>
      <p:sp>
        <p:nvSpPr>
          <p:cNvPr id="34" name="Shape 32"/>
          <p:cNvSpPr/>
          <p:nvPr/>
        </p:nvSpPr>
        <p:spPr>
          <a:xfrm>
            <a:off x="2816352" y="2816352"/>
            <a:ext cx="45720" cy="45720"/>
          </a:xfrm>
          <a:prstGeom prst="ellipse">
            <a:avLst/>
          </a:prstGeom>
          <a:solidFill>
            <a:srgbClr val="7C3AED"/>
          </a:solidFill>
        </p:spPr>
      </p:sp>
      <p:sp>
        <p:nvSpPr>
          <p:cNvPr id="35" name="Text 33"/>
          <p:cNvSpPr/>
          <p:nvPr/>
        </p:nvSpPr>
        <p:spPr>
          <a:xfrm>
            <a:off x="2907792" y="2788920"/>
            <a:ext cx="17373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3AE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社区互动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816352" y="3017520"/>
            <a:ext cx="1828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论坛、意见征集、满意度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5486400" y="777240"/>
            <a:ext cx="3291840" cy="365760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486400" y="777240"/>
            <a:ext cx="3291840" cy="54864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39" name="Text 37"/>
          <p:cNvSpPr/>
          <p:nvPr/>
        </p:nvSpPr>
        <p:spPr>
          <a:xfrm>
            <a:off x="5623560" y="868680"/>
            <a:ext cx="29260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服务数据一览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623560" y="1051560"/>
            <a:ext cx="36576" cy="36576"/>
          </a:xfrm>
          <a:prstGeom prst="ellipse">
            <a:avLst/>
          </a:prstGeom>
          <a:solidFill>
            <a:srgbClr val="7C3AED"/>
          </a:solidFill>
        </p:spPr>
      </p:sp>
      <p:sp>
        <p:nvSpPr>
          <p:cNvPr id="41" name="Text 39"/>
          <p:cNvSpPr/>
          <p:nvPr/>
        </p:nvSpPr>
        <p:spPr>
          <a:xfrm>
            <a:off x="5760720" y="1005840"/>
            <a:ext cx="13716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日均活动参与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7040880" y="987552"/>
            <a:ext cx="10972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59E0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120+人次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623560" y="1234440"/>
            <a:ext cx="2926080" cy="457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4" name="Shape 42"/>
          <p:cNvSpPr/>
          <p:nvPr/>
        </p:nvSpPr>
        <p:spPr>
          <a:xfrm>
            <a:off x="5623560" y="1399032"/>
            <a:ext cx="36576" cy="36576"/>
          </a:xfrm>
          <a:prstGeom prst="ellipse">
            <a:avLst/>
          </a:prstGeom>
          <a:solidFill>
            <a:srgbClr val="7C3AED"/>
          </a:solidFill>
        </p:spPr>
      </p:sp>
      <p:sp>
        <p:nvSpPr>
          <p:cNvPr id="45" name="Text 43"/>
          <p:cNvSpPr/>
          <p:nvPr/>
        </p:nvSpPr>
        <p:spPr>
          <a:xfrm>
            <a:off x="5760720" y="1353312"/>
            <a:ext cx="13716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日均公告浏览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7040880" y="1335024"/>
            <a:ext cx="10972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59E0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500+次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5623560" y="1581912"/>
            <a:ext cx="2926080" cy="457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8" name="Shape 46"/>
          <p:cNvSpPr/>
          <p:nvPr/>
        </p:nvSpPr>
        <p:spPr>
          <a:xfrm>
            <a:off x="5623560" y="1746504"/>
            <a:ext cx="36576" cy="36576"/>
          </a:xfrm>
          <a:prstGeom prst="ellipse">
            <a:avLst/>
          </a:prstGeom>
          <a:solidFill>
            <a:srgbClr val="7C3AED"/>
          </a:solidFill>
        </p:spPr>
      </p:sp>
      <p:sp>
        <p:nvSpPr>
          <p:cNvPr id="49" name="Text 47"/>
          <p:cNvSpPr/>
          <p:nvPr/>
        </p:nvSpPr>
        <p:spPr>
          <a:xfrm>
            <a:off x="5760720" y="1700784"/>
            <a:ext cx="13716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场馆日均预约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7040880" y="1682496"/>
            <a:ext cx="10972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59E0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80+次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5623560" y="1929384"/>
            <a:ext cx="2926080" cy="457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2" name="Shape 50"/>
          <p:cNvSpPr/>
          <p:nvPr/>
        </p:nvSpPr>
        <p:spPr>
          <a:xfrm>
            <a:off x="5623560" y="2093976"/>
            <a:ext cx="36576" cy="36576"/>
          </a:xfrm>
          <a:prstGeom prst="ellipse">
            <a:avLst/>
          </a:prstGeom>
          <a:solidFill>
            <a:srgbClr val="7C3AED"/>
          </a:solidFill>
        </p:spPr>
      </p:sp>
      <p:sp>
        <p:nvSpPr>
          <p:cNvPr id="53" name="Text 51"/>
          <p:cNvSpPr/>
          <p:nvPr/>
        </p:nvSpPr>
        <p:spPr>
          <a:xfrm>
            <a:off x="5760720" y="2048256"/>
            <a:ext cx="13716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日均缴费交易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7040880" y="2029968"/>
            <a:ext cx="10972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59E0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60+笔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5623560" y="2276856"/>
            <a:ext cx="2926080" cy="457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6" name="Shape 54"/>
          <p:cNvSpPr/>
          <p:nvPr/>
        </p:nvSpPr>
        <p:spPr>
          <a:xfrm>
            <a:off x="5623560" y="2441448"/>
            <a:ext cx="36576" cy="36576"/>
          </a:xfrm>
          <a:prstGeom prst="ellipse">
            <a:avLst/>
          </a:prstGeom>
          <a:solidFill>
            <a:srgbClr val="7C3AED"/>
          </a:solidFill>
        </p:spPr>
      </p:sp>
      <p:sp>
        <p:nvSpPr>
          <p:cNvPr id="57" name="Text 55"/>
          <p:cNvSpPr/>
          <p:nvPr/>
        </p:nvSpPr>
        <p:spPr>
          <a:xfrm>
            <a:off x="5760720" y="2395728"/>
            <a:ext cx="13716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用工信息浏览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7040880" y="2377440"/>
            <a:ext cx="10972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59E0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200+次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5623560" y="2624328"/>
            <a:ext cx="2926080" cy="457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0" name="Shape 58"/>
          <p:cNvSpPr/>
          <p:nvPr/>
        </p:nvSpPr>
        <p:spPr>
          <a:xfrm>
            <a:off x="5623560" y="2788920"/>
            <a:ext cx="36576" cy="36576"/>
          </a:xfrm>
          <a:prstGeom prst="ellipse">
            <a:avLst/>
          </a:prstGeom>
          <a:solidFill>
            <a:srgbClr val="7C3AED"/>
          </a:solidFill>
        </p:spPr>
      </p:sp>
      <p:sp>
        <p:nvSpPr>
          <p:cNvPr id="61" name="Text 59"/>
          <p:cNvSpPr/>
          <p:nvPr/>
        </p:nvSpPr>
        <p:spPr>
          <a:xfrm>
            <a:off x="5760720" y="2743200"/>
            <a:ext cx="13716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日均咨询量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7040880" y="2724912"/>
            <a:ext cx="10972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59E0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40+条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5623560" y="2971800"/>
            <a:ext cx="2926080" cy="457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4" name="Shape 62"/>
          <p:cNvSpPr/>
          <p:nvPr/>
        </p:nvSpPr>
        <p:spPr>
          <a:xfrm>
            <a:off x="5623560" y="3136392"/>
            <a:ext cx="36576" cy="36576"/>
          </a:xfrm>
          <a:prstGeom prst="ellipse">
            <a:avLst/>
          </a:prstGeom>
          <a:solidFill>
            <a:srgbClr val="7C3AED"/>
          </a:solidFill>
        </p:spPr>
      </p:sp>
      <p:sp>
        <p:nvSpPr>
          <p:cNvPr id="65" name="Text 63"/>
          <p:cNvSpPr/>
          <p:nvPr/>
        </p:nvSpPr>
        <p:spPr>
          <a:xfrm>
            <a:off x="5760720" y="3090672"/>
            <a:ext cx="13716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满意度评分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7040880" y="3072384"/>
            <a:ext cx="10972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59E0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4.8★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8503920" y="4663440"/>
            <a:ext cx="320040" cy="320040"/>
          </a:xfrm>
          <a:prstGeom prst="ellipse">
            <a:avLst/>
          </a:prstGeom>
          <a:solidFill>
            <a:srgbClr val="7C3AED"/>
          </a:solidFill>
        </p:spPr>
      </p:sp>
      <p:sp>
        <p:nvSpPr>
          <p:cNvPr id="68" name="Text 66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19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3" name="Text 1"/>
          <p:cNvSpPr/>
          <p:nvPr/>
        </p:nvSpPr>
        <p:spPr>
          <a:xfrm>
            <a:off x="457200" y="9144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平台全功能矩阵一览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420624"/>
            <a:ext cx="731520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完整功能模块与四类角色覆盖关系一览表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274320" y="640080"/>
            <a:ext cx="1371600" cy="182880"/>
          </a:xfrm>
          <a:prstGeom prst="roundRect">
            <a:avLst>
              <a:gd name="adj" fmla="val 10000"/>
            </a:avLst>
          </a:prstGeom>
          <a:solidFill>
            <a:srgbClr val="1E293B"/>
          </a:solidFill>
        </p:spPr>
      </p:sp>
      <p:sp>
        <p:nvSpPr>
          <p:cNvPr id="6" name="Text 4"/>
          <p:cNvSpPr/>
          <p:nvPr/>
        </p:nvSpPr>
        <p:spPr>
          <a:xfrm>
            <a:off x="274320" y="640080"/>
            <a:ext cx="13716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功能模块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1645920" y="640080"/>
            <a:ext cx="1508760" cy="1828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</p:spPr>
      </p:sp>
      <p:sp>
        <p:nvSpPr>
          <p:cNvPr id="8" name="Text 6"/>
          <p:cNvSpPr/>
          <p:nvPr/>
        </p:nvSpPr>
        <p:spPr>
          <a:xfrm>
            <a:off x="1645920" y="640080"/>
            <a:ext cx="15087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政府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3154680" y="640080"/>
            <a:ext cx="1508760" cy="182880"/>
          </a:xfrm>
          <a:prstGeom prst="roundRect">
            <a:avLst>
              <a:gd name="adj" fmla="val 10000"/>
            </a:avLst>
          </a:prstGeom>
          <a:solidFill>
            <a:srgbClr val="059669"/>
          </a:solidFill>
        </p:spPr>
      </p:sp>
      <p:sp>
        <p:nvSpPr>
          <p:cNvPr id="10" name="Text 8"/>
          <p:cNvSpPr/>
          <p:nvPr/>
        </p:nvSpPr>
        <p:spPr>
          <a:xfrm>
            <a:off x="3154680" y="640080"/>
            <a:ext cx="15087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管理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4663440" y="640080"/>
            <a:ext cx="1508760" cy="182880"/>
          </a:xfrm>
          <a:prstGeom prst="roundRect">
            <a:avLst>
              <a:gd name="adj" fmla="val 10000"/>
            </a:avLst>
          </a:prstGeom>
          <a:solidFill>
            <a:srgbClr val="D97706"/>
          </a:solidFill>
        </p:spPr>
      </p:sp>
      <p:sp>
        <p:nvSpPr>
          <p:cNvPr id="12" name="Text 10"/>
          <p:cNvSpPr/>
          <p:nvPr/>
        </p:nvSpPr>
        <p:spPr>
          <a:xfrm>
            <a:off x="4663440" y="640080"/>
            <a:ext cx="15087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企业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6172200" y="640080"/>
            <a:ext cx="1508760" cy="182880"/>
          </a:xfrm>
          <a:prstGeom prst="roundRect">
            <a:avLst>
              <a:gd name="adj" fmla="val 10000"/>
            </a:avLst>
          </a:prstGeom>
          <a:solidFill>
            <a:srgbClr val="7C3AED"/>
          </a:solidFill>
        </p:spPr>
      </p:sp>
      <p:sp>
        <p:nvSpPr>
          <p:cNvPr id="14" name="Text 12"/>
          <p:cNvSpPr/>
          <p:nvPr/>
        </p:nvSpPr>
        <p:spPr>
          <a:xfrm>
            <a:off x="6172200" y="640080"/>
            <a:ext cx="15087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公众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7680960" y="640080"/>
            <a:ext cx="457200" cy="182880"/>
          </a:xfrm>
          <a:prstGeom prst="roundRect">
            <a:avLst>
              <a:gd name="adj" fmla="val 10000"/>
            </a:avLst>
          </a:prstGeom>
          <a:solidFill>
            <a:srgbClr val="64748B"/>
          </a:solidFill>
        </p:spPr>
      </p:sp>
      <p:sp>
        <p:nvSpPr>
          <p:cNvPr id="16" name="Text 14"/>
          <p:cNvSpPr/>
          <p:nvPr/>
        </p:nvSpPr>
        <p:spPr>
          <a:xfrm>
            <a:off x="7680960" y="640080"/>
            <a:ext cx="4572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点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274320" y="850392"/>
            <a:ext cx="1371600" cy="130759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8" name="Text 16"/>
          <p:cNvSpPr/>
          <p:nvPr/>
        </p:nvSpPr>
        <p:spPr>
          <a:xfrm>
            <a:off x="301752" y="850392"/>
            <a:ext cx="1316736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AI招商服务</a:t>
            </a:r>
            <a:endParaRPr lang="en-US" sz="550" dirty="0"/>
          </a:p>
        </p:txBody>
      </p:sp>
      <p:sp>
        <p:nvSpPr>
          <p:cNvPr id="19" name="Shape 17"/>
          <p:cNvSpPr/>
          <p:nvPr/>
        </p:nvSpPr>
        <p:spPr>
          <a:xfrm>
            <a:off x="1645920" y="850392"/>
            <a:ext cx="1508760" cy="130759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0" name="Text 18"/>
          <p:cNvSpPr/>
          <p:nvPr/>
        </p:nvSpPr>
        <p:spPr>
          <a:xfrm>
            <a:off x="1645920" y="850392"/>
            <a:ext cx="150876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563E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●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154680" y="850392"/>
            <a:ext cx="1508760" cy="130759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2" name="Text 20"/>
          <p:cNvSpPr/>
          <p:nvPr/>
        </p:nvSpPr>
        <p:spPr>
          <a:xfrm>
            <a:off x="3154680" y="850392"/>
            <a:ext cx="150876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—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663440" y="850392"/>
            <a:ext cx="1508760" cy="130759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4" name="Text 22"/>
          <p:cNvSpPr/>
          <p:nvPr/>
        </p:nvSpPr>
        <p:spPr>
          <a:xfrm>
            <a:off x="4663440" y="850392"/>
            <a:ext cx="150876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—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172200" y="850392"/>
            <a:ext cx="1508760" cy="130759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6" name="Text 24"/>
          <p:cNvSpPr/>
          <p:nvPr/>
        </p:nvSpPr>
        <p:spPr>
          <a:xfrm>
            <a:off x="6172200" y="850392"/>
            <a:ext cx="150876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—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7680960" y="850392"/>
            <a:ext cx="457200" cy="130759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8" name="Text 26"/>
          <p:cNvSpPr/>
          <p:nvPr/>
        </p:nvSpPr>
        <p:spPr>
          <a:xfrm>
            <a:off x="7680960" y="850392"/>
            <a:ext cx="45720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550" dirty="0"/>
          </a:p>
        </p:txBody>
      </p:sp>
      <p:sp>
        <p:nvSpPr>
          <p:cNvPr id="29" name="Shape 27"/>
          <p:cNvSpPr/>
          <p:nvPr/>
        </p:nvSpPr>
        <p:spPr>
          <a:xfrm>
            <a:off x="274320" y="981151"/>
            <a:ext cx="1371600" cy="130759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30" name="Text 28"/>
          <p:cNvSpPr/>
          <p:nvPr/>
        </p:nvSpPr>
        <p:spPr>
          <a:xfrm>
            <a:off x="301752" y="981151"/>
            <a:ext cx="1316736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数字沙盘</a:t>
            </a:r>
            <a:endParaRPr lang="en-US" sz="550" dirty="0"/>
          </a:p>
        </p:txBody>
      </p:sp>
      <p:sp>
        <p:nvSpPr>
          <p:cNvPr id="31" name="Shape 29"/>
          <p:cNvSpPr/>
          <p:nvPr/>
        </p:nvSpPr>
        <p:spPr>
          <a:xfrm>
            <a:off x="1645920" y="981151"/>
            <a:ext cx="1508760" cy="130759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32" name="Text 30"/>
          <p:cNvSpPr/>
          <p:nvPr/>
        </p:nvSpPr>
        <p:spPr>
          <a:xfrm>
            <a:off x="1645920" y="981151"/>
            <a:ext cx="150876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563E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●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154680" y="981151"/>
            <a:ext cx="1508760" cy="130759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34" name="Text 32"/>
          <p:cNvSpPr/>
          <p:nvPr/>
        </p:nvSpPr>
        <p:spPr>
          <a:xfrm>
            <a:off x="3154680" y="981151"/>
            <a:ext cx="150876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—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663440" y="981151"/>
            <a:ext cx="1508760" cy="130759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36" name="Text 34"/>
          <p:cNvSpPr/>
          <p:nvPr/>
        </p:nvSpPr>
        <p:spPr>
          <a:xfrm>
            <a:off x="4663440" y="981151"/>
            <a:ext cx="150876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—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172200" y="981151"/>
            <a:ext cx="1508760" cy="130759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38" name="Text 36"/>
          <p:cNvSpPr/>
          <p:nvPr/>
        </p:nvSpPr>
        <p:spPr>
          <a:xfrm>
            <a:off x="6172200" y="981151"/>
            <a:ext cx="150876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—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7680960" y="981151"/>
            <a:ext cx="457200" cy="130759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40" name="Text 38"/>
          <p:cNvSpPr/>
          <p:nvPr/>
        </p:nvSpPr>
        <p:spPr>
          <a:xfrm>
            <a:off x="7680960" y="981151"/>
            <a:ext cx="45720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550" dirty="0"/>
          </a:p>
        </p:txBody>
      </p:sp>
      <p:sp>
        <p:nvSpPr>
          <p:cNvPr id="41" name="Shape 39"/>
          <p:cNvSpPr/>
          <p:nvPr/>
        </p:nvSpPr>
        <p:spPr>
          <a:xfrm>
            <a:off x="274320" y="1111910"/>
            <a:ext cx="1371600" cy="130759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2" name="Text 40"/>
          <p:cNvSpPr/>
          <p:nvPr/>
        </p:nvSpPr>
        <p:spPr>
          <a:xfrm>
            <a:off x="301752" y="1111910"/>
            <a:ext cx="1316736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产业链图谱</a:t>
            </a:r>
            <a:endParaRPr lang="en-US" sz="550" dirty="0"/>
          </a:p>
        </p:txBody>
      </p:sp>
      <p:sp>
        <p:nvSpPr>
          <p:cNvPr id="43" name="Shape 41"/>
          <p:cNvSpPr/>
          <p:nvPr/>
        </p:nvSpPr>
        <p:spPr>
          <a:xfrm>
            <a:off x="1645920" y="1111910"/>
            <a:ext cx="1508760" cy="130759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4" name="Text 42"/>
          <p:cNvSpPr/>
          <p:nvPr/>
        </p:nvSpPr>
        <p:spPr>
          <a:xfrm>
            <a:off x="1645920" y="1111910"/>
            <a:ext cx="150876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563E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●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3154680" y="1111910"/>
            <a:ext cx="1508760" cy="130759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6" name="Text 44"/>
          <p:cNvSpPr/>
          <p:nvPr/>
        </p:nvSpPr>
        <p:spPr>
          <a:xfrm>
            <a:off x="3154680" y="1111910"/>
            <a:ext cx="150876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—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663440" y="1111910"/>
            <a:ext cx="1508760" cy="130759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8" name="Text 46"/>
          <p:cNvSpPr/>
          <p:nvPr/>
        </p:nvSpPr>
        <p:spPr>
          <a:xfrm>
            <a:off x="4663440" y="1111910"/>
            <a:ext cx="150876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—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6172200" y="1111910"/>
            <a:ext cx="1508760" cy="130759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0" name="Text 48"/>
          <p:cNvSpPr/>
          <p:nvPr/>
        </p:nvSpPr>
        <p:spPr>
          <a:xfrm>
            <a:off x="6172200" y="1111910"/>
            <a:ext cx="150876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—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7680960" y="1111910"/>
            <a:ext cx="457200" cy="130759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2" name="Text 50"/>
          <p:cNvSpPr/>
          <p:nvPr/>
        </p:nvSpPr>
        <p:spPr>
          <a:xfrm>
            <a:off x="7680960" y="1111910"/>
            <a:ext cx="45720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550" dirty="0"/>
          </a:p>
        </p:txBody>
      </p:sp>
      <p:sp>
        <p:nvSpPr>
          <p:cNvPr id="53" name="Shape 51"/>
          <p:cNvSpPr/>
          <p:nvPr/>
        </p:nvSpPr>
        <p:spPr>
          <a:xfrm>
            <a:off x="274320" y="1242670"/>
            <a:ext cx="1371600" cy="130759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54" name="Text 52"/>
          <p:cNvSpPr/>
          <p:nvPr/>
        </p:nvSpPr>
        <p:spPr>
          <a:xfrm>
            <a:off x="301752" y="1242670"/>
            <a:ext cx="1316736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目标企业挖掘</a:t>
            </a:r>
            <a:endParaRPr lang="en-US" sz="550" dirty="0"/>
          </a:p>
        </p:txBody>
      </p:sp>
      <p:sp>
        <p:nvSpPr>
          <p:cNvPr id="55" name="Shape 53"/>
          <p:cNvSpPr/>
          <p:nvPr/>
        </p:nvSpPr>
        <p:spPr>
          <a:xfrm>
            <a:off x="1645920" y="1242670"/>
            <a:ext cx="1508760" cy="130759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56" name="Text 54"/>
          <p:cNvSpPr/>
          <p:nvPr/>
        </p:nvSpPr>
        <p:spPr>
          <a:xfrm>
            <a:off x="1645920" y="1242670"/>
            <a:ext cx="150876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563E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●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3154680" y="1242670"/>
            <a:ext cx="1508760" cy="130759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58" name="Text 56"/>
          <p:cNvSpPr/>
          <p:nvPr/>
        </p:nvSpPr>
        <p:spPr>
          <a:xfrm>
            <a:off x="3154680" y="1242670"/>
            <a:ext cx="150876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—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4663440" y="1242670"/>
            <a:ext cx="1508760" cy="130759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60" name="Text 58"/>
          <p:cNvSpPr/>
          <p:nvPr/>
        </p:nvSpPr>
        <p:spPr>
          <a:xfrm>
            <a:off x="4663440" y="1242670"/>
            <a:ext cx="150876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—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6172200" y="1242670"/>
            <a:ext cx="1508760" cy="130759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62" name="Text 60"/>
          <p:cNvSpPr/>
          <p:nvPr/>
        </p:nvSpPr>
        <p:spPr>
          <a:xfrm>
            <a:off x="6172200" y="1242670"/>
            <a:ext cx="150876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—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7680960" y="1242670"/>
            <a:ext cx="457200" cy="130759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64" name="Text 62"/>
          <p:cNvSpPr/>
          <p:nvPr/>
        </p:nvSpPr>
        <p:spPr>
          <a:xfrm>
            <a:off x="7680960" y="1242670"/>
            <a:ext cx="45720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550" dirty="0"/>
          </a:p>
        </p:txBody>
      </p:sp>
      <p:sp>
        <p:nvSpPr>
          <p:cNvPr id="65" name="Shape 63"/>
          <p:cNvSpPr/>
          <p:nvPr/>
        </p:nvSpPr>
        <p:spPr>
          <a:xfrm>
            <a:off x="274320" y="1373429"/>
            <a:ext cx="1371600" cy="130759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66" name="Text 64"/>
          <p:cNvSpPr/>
          <p:nvPr/>
        </p:nvSpPr>
        <p:spPr>
          <a:xfrm>
            <a:off x="301752" y="1373429"/>
            <a:ext cx="1316736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投资项目管理</a:t>
            </a:r>
            <a:endParaRPr lang="en-US" sz="550" dirty="0"/>
          </a:p>
        </p:txBody>
      </p:sp>
      <p:sp>
        <p:nvSpPr>
          <p:cNvPr id="67" name="Shape 65"/>
          <p:cNvSpPr/>
          <p:nvPr/>
        </p:nvSpPr>
        <p:spPr>
          <a:xfrm>
            <a:off x="1645920" y="1373429"/>
            <a:ext cx="1508760" cy="130759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68" name="Text 66"/>
          <p:cNvSpPr/>
          <p:nvPr/>
        </p:nvSpPr>
        <p:spPr>
          <a:xfrm>
            <a:off x="1645920" y="1373429"/>
            <a:ext cx="150876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563E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●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3154680" y="1373429"/>
            <a:ext cx="1508760" cy="130759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70" name="Text 68"/>
          <p:cNvSpPr/>
          <p:nvPr/>
        </p:nvSpPr>
        <p:spPr>
          <a:xfrm>
            <a:off x="3154680" y="1373429"/>
            <a:ext cx="150876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—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4663440" y="1373429"/>
            <a:ext cx="1508760" cy="130759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72" name="Text 70"/>
          <p:cNvSpPr/>
          <p:nvPr/>
        </p:nvSpPr>
        <p:spPr>
          <a:xfrm>
            <a:off x="4663440" y="1373429"/>
            <a:ext cx="150876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9770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●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6172200" y="1373429"/>
            <a:ext cx="1508760" cy="130759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74" name="Text 72"/>
          <p:cNvSpPr/>
          <p:nvPr/>
        </p:nvSpPr>
        <p:spPr>
          <a:xfrm>
            <a:off x="6172200" y="1373429"/>
            <a:ext cx="150876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—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7680960" y="1373429"/>
            <a:ext cx="457200" cy="130759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76" name="Text 74"/>
          <p:cNvSpPr/>
          <p:nvPr/>
        </p:nvSpPr>
        <p:spPr>
          <a:xfrm>
            <a:off x="7680960" y="1373429"/>
            <a:ext cx="45720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550" dirty="0"/>
          </a:p>
        </p:txBody>
      </p:sp>
      <p:sp>
        <p:nvSpPr>
          <p:cNvPr id="77" name="Shape 75"/>
          <p:cNvSpPr/>
          <p:nvPr/>
        </p:nvSpPr>
        <p:spPr>
          <a:xfrm>
            <a:off x="274320" y="1504188"/>
            <a:ext cx="1371600" cy="130759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78" name="Text 76"/>
          <p:cNvSpPr/>
          <p:nvPr/>
        </p:nvSpPr>
        <p:spPr>
          <a:xfrm>
            <a:off x="301752" y="1504188"/>
            <a:ext cx="1316736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招商入口/云展馆</a:t>
            </a:r>
            <a:endParaRPr lang="en-US" sz="550" dirty="0"/>
          </a:p>
        </p:txBody>
      </p:sp>
      <p:sp>
        <p:nvSpPr>
          <p:cNvPr id="79" name="Shape 77"/>
          <p:cNvSpPr/>
          <p:nvPr/>
        </p:nvSpPr>
        <p:spPr>
          <a:xfrm>
            <a:off x="1645920" y="1504188"/>
            <a:ext cx="1508760" cy="130759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80" name="Text 78"/>
          <p:cNvSpPr/>
          <p:nvPr/>
        </p:nvSpPr>
        <p:spPr>
          <a:xfrm>
            <a:off x="1645920" y="1504188"/>
            <a:ext cx="150876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—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3154680" y="1504188"/>
            <a:ext cx="1508760" cy="130759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82" name="Text 80"/>
          <p:cNvSpPr/>
          <p:nvPr/>
        </p:nvSpPr>
        <p:spPr>
          <a:xfrm>
            <a:off x="3154680" y="1504188"/>
            <a:ext cx="150876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—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4663440" y="1504188"/>
            <a:ext cx="1508760" cy="130759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84" name="Text 82"/>
          <p:cNvSpPr/>
          <p:nvPr/>
        </p:nvSpPr>
        <p:spPr>
          <a:xfrm>
            <a:off x="4663440" y="1504188"/>
            <a:ext cx="150876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9770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●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6172200" y="1504188"/>
            <a:ext cx="1508760" cy="130759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86" name="Text 84"/>
          <p:cNvSpPr/>
          <p:nvPr/>
        </p:nvSpPr>
        <p:spPr>
          <a:xfrm>
            <a:off x="6172200" y="1504188"/>
            <a:ext cx="150876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—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7680960" y="1504188"/>
            <a:ext cx="457200" cy="130759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88" name="Text 86"/>
          <p:cNvSpPr/>
          <p:nvPr/>
        </p:nvSpPr>
        <p:spPr>
          <a:xfrm>
            <a:off x="7680960" y="1504188"/>
            <a:ext cx="45720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550" dirty="0"/>
          </a:p>
        </p:txBody>
      </p:sp>
      <p:sp>
        <p:nvSpPr>
          <p:cNvPr id="89" name="Shape 87"/>
          <p:cNvSpPr/>
          <p:nvPr/>
        </p:nvSpPr>
        <p:spPr>
          <a:xfrm>
            <a:off x="274320" y="1634947"/>
            <a:ext cx="1371600" cy="130759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90" name="Text 88"/>
          <p:cNvSpPr/>
          <p:nvPr/>
        </p:nvSpPr>
        <p:spPr>
          <a:xfrm>
            <a:off x="301752" y="1634947"/>
            <a:ext cx="1316736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安全监控(天眼)</a:t>
            </a:r>
            <a:endParaRPr lang="en-US" sz="550" dirty="0"/>
          </a:p>
        </p:txBody>
      </p:sp>
      <p:sp>
        <p:nvSpPr>
          <p:cNvPr id="91" name="Shape 89"/>
          <p:cNvSpPr/>
          <p:nvPr/>
        </p:nvSpPr>
        <p:spPr>
          <a:xfrm>
            <a:off x="1645920" y="1634947"/>
            <a:ext cx="1508760" cy="130759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92" name="Text 90"/>
          <p:cNvSpPr/>
          <p:nvPr/>
        </p:nvSpPr>
        <p:spPr>
          <a:xfrm>
            <a:off x="1645920" y="1634947"/>
            <a:ext cx="150876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563E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●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3154680" y="1634947"/>
            <a:ext cx="1508760" cy="130759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94" name="Text 92"/>
          <p:cNvSpPr/>
          <p:nvPr/>
        </p:nvSpPr>
        <p:spPr>
          <a:xfrm>
            <a:off x="3154680" y="1634947"/>
            <a:ext cx="150876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5966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●</a:t>
            </a:r>
            <a:endParaRPr lang="en-US" sz="800" dirty="0"/>
          </a:p>
        </p:txBody>
      </p:sp>
      <p:sp>
        <p:nvSpPr>
          <p:cNvPr id="95" name="Shape 93"/>
          <p:cNvSpPr/>
          <p:nvPr/>
        </p:nvSpPr>
        <p:spPr>
          <a:xfrm>
            <a:off x="4663440" y="1634947"/>
            <a:ext cx="1508760" cy="130759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96" name="Text 94"/>
          <p:cNvSpPr/>
          <p:nvPr/>
        </p:nvSpPr>
        <p:spPr>
          <a:xfrm>
            <a:off x="4663440" y="1634947"/>
            <a:ext cx="150876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—</a:t>
            </a:r>
            <a:endParaRPr lang="en-US" sz="800" dirty="0"/>
          </a:p>
        </p:txBody>
      </p:sp>
      <p:sp>
        <p:nvSpPr>
          <p:cNvPr id="97" name="Shape 95"/>
          <p:cNvSpPr/>
          <p:nvPr/>
        </p:nvSpPr>
        <p:spPr>
          <a:xfrm>
            <a:off x="6172200" y="1634947"/>
            <a:ext cx="1508760" cy="130759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98" name="Text 96"/>
          <p:cNvSpPr/>
          <p:nvPr/>
        </p:nvSpPr>
        <p:spPr>
          <a:xfrm>
            <a:off x="6172200" y="1634947"/>
            <a:ext cx="150876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C3AED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●</a:t>
            </a:r>
            <a:endParaRPr lang="en-US" sz="800" dirty="0"/>
          </a:p>
        </p:txBody>
      </p:sp>
      <p:sp>
        <p:nvSpPr>
          <p:cNvPr id="99" name="Shape 97"/>
          <p:cNvSpPr/>
          <p:nvPr/>
        </p:nvSpPr>
        <p:spPr>
          <a:xfrm>
            <a:off x="7680960" y="1634947"/>
            <a:ext cx="457200" cy="130759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00" name="Text 98"/>
          <p:cNvSpPr/>
          <p:nvPr/>
        </p:nvSpPr>
        <p:spPr>
          <a:xfrm>
            <a:off x="7680960" y="1634947"/>
            <a:ext cx="45720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550" dirty="0"/>
          </a:p>
        </p:txBody>
      </p:sp>
      <p:sp>
        <p:nvSpPr>
          <p:cNvPr id="101" name="Shape 99"/>
          <p:cNvSpPr/>
          <p:nvPr/>
        </p:nvSpPr>
        <p:spPr>
          <a:xfrm>
            <a:off x="274320" y="1765706"/>
            <a:ext cx="1371600" cy="130759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102" name="Text 100"/>
          <p:cNvSpPr/>
          <p:nvPr/>
        </p:nvSpPr>
        <p:spPr>
          <a:xfrm>
            <a:off x="301752" y="1765706"/>
            <a:ext cx="1316736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地灾监测(哨兵)</a:t>
            </a:r>
            <a:endParaRPr lang="en-US" sz="550" dirty="0"/>
          </a:p>
        </p:txBody>
      </p:sp>
      <p:sp>
        <p:nvSpPr>
          <p:cNvPr id="103" name="Shape 101"/>
          <p:cNvSpPr/>
          <p:nvPr/>
        </p:nvSpPr>
        <p:spPr>
          <a:xfrm>
            <a:off x="1645920" y="1765706"/>
            <a:ext cx="1508760" cy="130759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104" name="Text 102"/>
          <p:cNvSpPr/>
          <p:nvPr/>
        </p:nvSpPr>
        <p:spPr>
          <a:xfrm>
            <a:off x="1645920" y="1765706"/>
            <a:ext cx="150876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563E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●</a:t>
            </a:r>
            <a:endParaRPr lang="en-US" sz="800" dirty="0"/>
          </a:p>
        </p:txBody>
      </p:sp>
      <p:sp>
        <p:nvSpPr>
          <p:cNvPr id="105" name="Shape 103"/>
          <p:cNvSpPr/>
          <p:nvPr/>
        </p:nvSpPr>
        <p:spPr>
          <a:xfrm>
            <a:off x="3154680" y="1765706"/>
            <a:ext cx="1508760" cy="130759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106" name="Text 104"/>
          <p:cNvSpPr/>
          <p:nvPr/>
        </p:nvSpPr>
        <p:spPr>
          <a:xfrm>
            <a:off x="3154680" y="1765706"/>
            <a:ext cx="150876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5966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●</a:t>
            </a:r>
            <a:endParaRPr lang="en-US" sz="800" dirty="0"/>
          </a:p>
        </p:txBody>
      </p:sp>
      <p:sp>
        <p:nvSpPr>
          <p:cNvPr id="107" name="Shape 105"/>
          <p:cNvSpPr/>
          <p:nvPr/>
        </p:nvSpPr>
        <p:spPr>
          <a:xfrm>
            <a:off x="4663440" y="1765706"/>
            <a:ext cx="1508760" cy="130759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108" name="Text 106"/>
          <p:cNvSpPr/>
          <p:nvPr/>
        </p:nvSpPr>
        <p:spPr>
          <a:xfrm>
            <a:off x="4663440" y="1765706"/>
            <a:ext cx="150876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—</a:t>
            </a:r>
            <a:endParaRPr lang="en-US" sz="800" dirty="0"/>
          </a:p>
        </p:txBody>
      </p:sp>
      <p:sp>
        <p:nvSpPr>
          <p:cNvPr id="109" name="Shape 107"/>
          <p:cNvSpPr/>
          <p:nvPr/>
        </p:nvSpPr>
        <p:spPr>
          <a:xfrm>
            <a:off x="6172200" y="1765706"/>
            <a:ext cx="1508760" cy="130759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110" name="Text 108"/>
          <p:cNvSpPr/>
          <p:nvPr/>
        </p:nvSpPr>
        <p:spPr>
          <a:xfrm>
            <a:off x="6172200" y="1765706"/>
            <a:ext cx="150876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—</a:t>
            </a:r>
            <a:endParaRPr lang="en-US" sz="800" dirty="0"/>
          </a:p>
        </p:txBody>
      </p:sp>
      <p:sp>
        <p:nvSpPr>
          <p:cNvPr id="111" name="Shape 109"/>
          <p:cNvSpPr/>
          <p:nvPr/>
        </p:nvSpPr>
        <p:spPr>
          <a:xfrm>
            <a:off x="7680960" y="1765706"/>
            <a:ext cx="457200" cy="130759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112" name="Text 110"/>
          <p:cNvSpPr/>
          <p:nvPr/>
        </p:nvSpPr>
        <p:spPr>
          <a:xfrm>
            <a:off x="7680960" y="1765706"/>
            <a:ext cx="45720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550" dirty="0"/>
          </a:p>
        </p:txBody>
      </p:sp>
      <p:sp>
        <p:nvSpPr>
          <p:cNvPr id="113" name="Shape 111"/>
          <p:cNvSpPr/>
          <p:nvPr/>
        </p:nvSpPr>
        <p:spPr>
          <a:xfrm>
            <a:off x="274320" y="1896466"/>
            <a:ext cx="1371600" cy="130759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14" name="Text 112"/>
          <p:cNvSpPr/>
          <p:nvPr/>
        </p:nvSpPr>
        <p:spPr>
          <a:xfrm>
            <a:off x="301752" y="1896466"/>
            <a:ext cx="1316736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环保监测(慧眼)</a:t>
            </a:r>
            <a:endParaRPr lang="en-US" sz="550" dirty="0"/>
          </a:p>
        </p:txBody>
      </p:sp>
      <p:sp>
        <p:nvSpPr>
          <p:cNvPr id="115" name="Shape 113"/>
          <p:cNvSpPr/>
          <p:nvPr/>
        </p:nvSpPr>
        <p:spPr>
          <a:xfrm>
            <a:off x="1645920" y="1896466"/>
            <a:ext cx="1508760" cy="130759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16" name="Text 114"/>
          <p:cNvSpPr/>
          <p:nvPr/>
        </p:nvSpPr>
        <p:spPr>
          <a:xfrm>
            <a:off x="1645920" y="1896466"/>
            <a:ext cx="150876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563E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●</a:t>
            </a:r>
            <a:endParaRPr lang="en-US" sz="800" dirty="0"/>
          </a:p>
        </p:txBody>
      </p:sp>
      <p:sp>
        <p:nvSpPr>
          <p:cNvPr id="117" name="Shape 115"/>
          <p:cNvSpPr/>
          <p:nvPr/>
        </p:nvSpPr>
        <p:spPr>
          <a:xfrm>
            <a:off x="3154680" y="1896466"/>
            <a:ext cx="1508760" cy="130759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18" name="Text 116"/>
          <p:cNvSpPr/>
          <p:nvPr/>
        </p:nvSpPr>
        <p:spPr>
          <a:xfrm>
            <a:off x="3154680" y="1896466"/>
            <a:ext cx="150876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5966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●</a:t>
            </a:r>
            <a:endParaRPr lang="en-US" sz="800" dirty="0"/>
          </a:p>
        </p:txBody>
      </p:sp>
      <p:sp>
        <p:nvSpPr>
          <p:cNvPr id="119" name="Shape 117"/>
          <p:cNvSpPr/>
          <p:nvPr/>
        </p:nvSpPr>
        <p:spPr>
          <a:xfrm>
            <a:off x="4663440" y="1896466"/>
            <a:ext cx="1508760" cy="130759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20" name="Text 118"/>
          <p:cNvSpPr/>
          <p:nvPr/>
        </p:nvSpPr>
        <p:spPr>
          <a:xfrm>
            <a:off x="4663440" y="1896466"/>
            <a:ext cx="150876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—</a:t>
            </a:r>
            <a:endParaRPr lang="en-US" sz="800" dirty="0"/>
          </a:p>
        </p:txBody>
      </p:sp>
      <p:sp>
        <p:nvSpPr>
          <p:cNvPr id="121" name="Shape 119"/>
          <p:cNvSpPr/>
          <p:nvPr/>
        </p:nvSpPr>
        <p:spPr>
          <a:xfrm>
            <a:off x="6172200" y="1896466"/>
            <a:ext cx="1508760" cy="130759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22" name="Text 120"/>
          <p:cNvSpPr/>
          <p:nvPr/>
        </p:nvSpPr>
        <p:spPr>
          <a:xfrm>
            <a:off x="6172200" y="1896466"/>
            <a:ext cx="150876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—</a:t>
            </a:r>
            <a:endParaRPr lang="en-US" sz="800" dirty="0"/>
          </a:p>
        </p:txBody>
      </p:sp>
      <p:sp>
        <p:nvSpPr>
          <p:cNvPr id="123" name="Shape 121"/>
          <p:cNvSpPr/>
          <p:nvPr/>
        </p:nvSpPr>
        <p:spPr>
          <a:xfrm>
            <a:off x="7680960" y="1896466"/>
            <a:ext cx="457200" cy="130759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24" name="Text 122"/>
          <p:cNvSpPr/>
          <p:nvPr/>
        </p:nvSpPr>
        <p:spPr>
          <a:xfrm>
            <a:off x="7680960" y="1896466"/>
            <a:ext cx="45720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550" dirty="0"/>
          </a:p>
        </p:txBody>
      </p:sp>
      <p:sp>
        <p:nvSpPr>
          <p:cNvPr id="125" name="Shape 123"/>
          <p:cNvSpPr/>
          <p:nvPr/>
        </p:nvSpPr>
        <p:spPr>
          <a:xfrm>
            <a:off x="274320" y="2027225"/>
            <a:ext cx="1371600" cy="130759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126" name="Text 124"/>
          <p:cNvSpPr/>
          <p:nvPr/>
        </p:nvSpPr>
        <p:spPr>
          <a:xfrm>
            <a:off x="301752" y="2027225"/>
            <a:ext cx="1316736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视频监控总览</a:t>
            </a:r>
            <a:endParaRPr lang="en-US" sz="550" dirty="0"/>
          </a:p>
        </p:txBody>
      </p:sp>
      <p:sp>
        <p:nvSpPr>
          <p:cNvPr id="127" name="Shape 125"/>
          <p:cNvSpPr/>
          <p:nvPr/>
        </p:nvSpPr>
        <p:spPr>
          <a:xfrm>
            <a:off x="1645920" y="2027225"/>
            <a:ext cx="1508760" cy="130759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128" name="Text 126"/>
          <p:cNvSpPr/>
          <p:nvPr/>
        </p:nvSpPr>
        <p:spPr>
          <a:xfrm>
            <a:off x="1645920" y="2027225"/>
            <a:ext cx="150876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563E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●</a:t>
            </a:r>
            <a:endParaRPr lang="en-US" sz="800" dirty="0"/>
          </a:p>
        </p:txBody>
      </p:sp>
      <p:sp>
        <p:nvSpPr>
          <p:cNvPr id="129" name="Shape 127"/>
          <p:cNvSpPr/>
          <p:nvPr/>
        </p:nvSpPr>
        <p:spPr>
          <a:xfrm>
            <a:off x="3154680" y="2027225"/>
            <a:ext cx="1508760" cy="130759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130" name="Text 128"/>
          <p:cNvSpPr/>
          <p:nvPr/>
        </p:nvSpPr>
        <p:spPr>
          <a:xfrm>
            <a:off x="3154680" y="2027225"/>
            <a:ext cx="150876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5966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●</a:t>
            </a:r>
            <a:endParaRPr lang="en-US" sz="800" dirty="0"/>
          </a:p>
        </p:txBody>
      </p:sp>
      <p:sp>
        <p:nvSpPr>
          <p:cNvPr id="131" name="Shape 129"/>
          <p:cNvSpPr/>
          <p:nvPr/>
        </p:nvSpPr>
        <p:spPr>
          <a:xfrm>
            <a:off x="4663440" y="2027225"/>
            <a:ext cx="1508760" cy="130759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132" name="Text 130"/>
          <p:cNvSpPr/>
          <p:nvPr/>
        </p:nvSpPr>
        <p:spPr>
          <a:xfrm>
            <a:off x="4663440" y="2027225"/>
            <a:ext cx="150876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—</a:t>
            </a:r>
            <a:endParaRPr lang="en-US" sz="800" dirty="0"/>
          </a:p>
        </p:txBody>
      </p:sp>
      <p:sp>
        <p:nvSpPr>
          <p:cNvPr id="133" name="Shape 131"/>
          <p:cNvSpPr/>
          <p:nvPr/>
        </p:nvSpPr>
        <p:spPr>
          <a:xfrm>
            <a:off x="6172200" y="2027225"/>
            <a:ext cx="1508760" cy="130759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134" name="Text 132"/>
          <p:cNvSpPr/>
          <p:nvPr/>
        </p:nvSpPr>
        <p:spPr>
          <a:xfrm>
            <a:off x="6172200" y="2027225"/>
            <a:ext cx="150876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C3AED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●</a:t>
            </a:r>
            <a:endParaRPr lang="en-US" sz="800" dirty="0"/>
          </a:p>
        </p:txBody>
      </p:sp>
      <p:sp>
        <p:nvSpPr>
          <p:cNvPr id="135" name="Shape 133"/>
          <p:cNvSpPr/>
          <p:nvPr/>
        </p:nvSpPr>
        <p:spPr>
          <a:xfrm>
            <a:off x="7680960" y="2027225"/>
            <a:ext cx="457200" cy="130759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136" name="Text 134"/>
          <p:cNvSpPr/>
          <p:nvPr/>
        </p:nvSpPr>
        <p:spPr>
          <a:xfrm>
            <a:off x="7680960" y="2027225"/>
            <a:ext cx="45720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550" dirty="0"/>
          </a:p>
        </p:txBody>
      </p:sp>
      <p:sp>
        <p:nvSpPr>
          <p:cNvPr id="137" name="Shape 135"/>
          <p:cNvSpPr/>
          <p:nvPr/>
        </p:nvSpPr>
        <p:spPr>
          <a:xfrm>
            <a:off x="274320" y="2157984"/>
            <a:ext cx="1371600" cy="130759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38" name="Text 136"/>
          <p:cNvSpPr/>
          <p:nvPr/>
        </p:nvSpPr>
        <p:spPr>
          <a:xfrm>
            <a:off x="301752" y="2157984"/>
            <a:ext cx="1316736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应急指挥联动</a:t>
            </a:r>
            <a:endParaRPr lang="en-US" sz="550" dirty="0"/>
          </a:p>
        </p:txBody>
      </p:sp>
      <p:sp>
        <p:nvSpPr>
          <p:cNvPr id="139" name="Shape 137"/>
          <p:cNvSpPr/>
          <p:nvPr/>
        </p:nvSpPr>
        <p:spPr>
          <a:xfrm>
            <a:off x="1645920" y="2157984"/>
            <a:ext cx="1508760" cy="130759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40" name="Text 138"/>
          <p:cNvSpPr/>
          <p:nvPr/>
        </p:nvSpPr>
        <p:spPr>
          <a:xfrm>
            <a:off x="1645920" y="2157984"/>
            <a:ext cx="150876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563E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●</a:t>
            </a:r>
            <a:endParaRPr lang="en-US" sz="800" dirty="0"/>
          </a:p>
        </p:txBody>
      </p:sp>
      <p:sp>
        <p:nvSpPr>
          <p:cNvPr id="141" name="Shape 139"/>
          <p:cNvSpPr/>
          <p:nvPr/>
        </p:nvSpPr>
        <p:spPr>
          <a:xfrm>
            <a:off x="3154680" y="2157984"/>
            <a:ext cx="1508760" cy="130759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42" name="Text 140"/>
          <p:cNvSpPr/>
          <p:nvPr/>
        </p:nvSpPr>
        <p:spPr>
          <a:xfrm>
            <a:off x="3154680" y="2157984"/>
            <a:ext cx="150876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5966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●</a:t>
            </a:r>
            <a:endParaRPr lang="en-US" sz="800" dirty="0"/>
          </a:p>
        </p:txBody>
      </p:sp>
      <p:sp>
        <p:nvSpPr>
          <p:cNvPr id="143" name="Shape 141"/>
          <p:cNvSpPr/>
          <p:nvPr/>
        </p:nvSpPr>
        <p:spPr>
          <a:xfrm>
            <a:off x="4663440" y="2157984"/>
            <a:ext cx="1508760" cy="130759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44" name="Text 142"/>
          <p:cNvSpPr/>
          <p:nvPr/>
        </p:nvSpPr>
        <p:spPr>
          <a:xfrm>
            <a:off x="4663440" y="2157984"/>
            <a:ext cx="150876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—</a:t>
            </a:r>
            <a:endParaRPr lang="en-US" sz="800" dirty="0"/>
          </a:p>
        </p:txBody>
      </p:sp>
      <p:sp>
        <p:nvSpPr>
          <p:cNvPr id="145" name="Shape 143"/>
          <p:cNvSpPr/>
          <p:nvPr/>
        </p:nvSpPr>
        <p:spPr>
          <a:xfrm>
            <a:off x="6172200" y="2157984"/>
            <a:ext cx="1508760" cy="130759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46" name="Text 144"/>
          <p:cNvSpPr/>
          <p:nvPr/>
        </p:nvSpPr>
        <p:spPr>
          <a:xfrm>
            <a:off x="6172200" y="2157984"/>
            <a:ext cx="150876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C3AED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●</a:t>
            </a:r>
            <a:endParaRPr lang="en-US" sz="800" dirty="0"/>
          </a:p>
        </p:txBody>
      </p:sp>
      <p:sp>
        <p:nvSpPr>
          <p:cNvPr id="147" name="Shape 145"/>
          <p:cNvSpPr/>
          <p:nvPr/>
        </p:nvSpPr>
        <p:spPr>
          <a:xfrm>
            <a:off x="7680960" y="2157984"/>
            <a:ext cx="457200" cy="130759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48" name="Text 146"/>
          <p:cNvSpPr/>
          <p:nvPr/>
        </p:nvSpPr>
        <p:spPr>
          <a:xfrm>
            <a:off x="7680960" y="2157984"/>
            <a:ext cx="45720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550" dirty="0"/>
          </a:p>
        </p:txBody>
      </p:sp>
      <p:sp>
        <p:nvSpPr>
          <p:cNvPr id="149" name="Shape 147"/>
          <p:cNvSpPr/>
          <p:nvPr/>
        </p:nvSpPr>
        <p:spPr>
          <a:xfrm>
            <a:off x="274320" y="2288743"/>
            <a:ext cx="1371600" cy="130759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150" name="Text 148"/>
          <p:cNvSpPr/>
          <p:nvPr/>
        </p:nvSpPr>
        <p:spPr>
          <a:xfrm>
            <a:off x="301752" y="2288743"/>
            <a:ext cx="1316736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设备管理</a:t>
            </a:r>
            <a:endParaRPr lang="en-US" sz="550" dirty="0"/>
          </a:p>
        </p:txBody>
      </p:sp>
      <p:sp>
        <p:nvSpPr>
          <p:cNvPr id="151" name="Shape 149"/>
          <p:cNvSpPr/>
          <p:nvPr/>
        </p:nvSpPr>
        <p:spPr>
          <a:xfrm>
            <a:off x="1645920" y="2288743"/>
            <a:ext cx="1508760" cy="130759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152" name="Text 150"/>
          <p:cNvSpPr/>
          <p:nvPr/>
        </p:nvSpPr>
        <p:spPr>
          <a:xfrm>
            <a:off x="1645920" y="2288743"/>
            <a:ext cx="150876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—</a:t>
            </a:r>
            <a:endParaRPr lang="en-US" sz="800" dirty="0"/>
          </a:p>
        </p:txBody>
      </p:sp>
      <p:sp>
        <p:nvSpPr>
          <p:cNvPr id="153" name="Shape 151"/>
          <p:cNvSpPr/>
          <p:nvPr/>
        </p:nvSpPr>
        <p:spPr>
          <a:xfrm>
            <a:off x="3154680" y="2288743"/>
            <a:ext cx="1508760" cy="130759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154" name="Text 152"/>
          <p:cNvSpPr/>
          <p:nvPr/>
        </p:nvSpPr>
        <p:spPr>
          <a:xfrm>
            <a:off x="3154680" y="2288743"/>
            <a:ext cx="150876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5966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●</a:t>
            </a:r>
            <a:endParaRPr lang="en-US" sz="800" dirty="0"/>
          </a:p>
        </p:txBody>
      </p:sp>
      <p:sp>
        <p:nvSpPr>
          <p:cNvPr id="155" name="Shape 153"/>
          <p:cNvSpPr/>
          <p:nvPr/>
        </p:nvSpPr>
        <p:spPr>
          <a:xfrm>
            <a:off x="4663440" y="2288743"/>
            <a:ext cx="1508760" cy="130759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156" name="Text 154"/>
          <p:cNvSpPr/>
          <p:nvPr/>
        </p:nvSpPr>
        <p:spPr>
          <a:xfrm>
            <a:off x="4663440" y="2288743"/>
            <a:ext cx="150876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—</a:t>
            </a:r>
            <a:endParaRPr lang="en-US" sz="800" dirty="0"/>
          </a:p>
        </p:txBody>
      </p:sp>
      <p:sp>
        <p:nvSpPr>
          <p:cNvPr id="157" name="Shape 155"/>
          <p:cNvSpPr/>
          <p:nvPr/>
        </p:nvSpPr>
        <p:spPr>
          <a:xfrm>
            <a:off x="6172200" y="2288743"/>
            <a:ext cx="1508760" cy="130759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158" name="Text 156"/>
          <p:cNvSpPr/>
          <p:nvPr/>
        </p:nvSpPr>
        <p:spPr>
          <a:xfrm>
            <a:off x="6172200" y="2288743"/>
            <a:ext cx="150876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—</a:t>
            </a:r>
            <a:endParaRPr lang="en-US" sz="800" dirty="0"/>
          </a:p>
        </p:txBody>
      </p:sp>
      <p:sp>
        <p:nvSpPr>
          <p:cNvPr id="159" name="Shape 157"/>
          <p:cNvSpPr/>
          <p:nvPr/>
        </p:nvSpPr>
        <p:spPr>
          <a:xfrm>
            <a:off x="7680960" y="2288743"/>
            <a:ext cx="457200" cy="130759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160" name="Text 158"/>
          <p:cNvSpPr/>
          <p:nvPr/>
        </p:nvSpPr>
        <p:spPr>
          <a:xfrm>
            <a:off x="7680960" y="2288743"/>
            <a:ext cx="45720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550" dirty="0"/>
          </a:p>
        </p:txBody>
      </p:sp>
      <p:sp>
        <p:nvSpPr>
          <p:cNvPr id="161" name="Shape 159"/>
          <p:cNvSpPr/>
          <p:nvPr/>
        </p:nvSpPr>
        <p:spPr>
          <a:xfrm>
            <a:off x="274320" y="2419502"/>
            <a:ext cx="1371600" cy="130759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62" name="Text 160"/>
          <p:cNvSpPr/>
          <p:nvPr/>
        </p:nvSpPr>
        <p:spPr>
          <a:xfrm>
            <a:off x="301752" y="2419502"/>
            <a:ext cx="1316736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诉求直达</a:t>
            </a:r>
            <a:endParaRPr lang="en-US" sz="550" dirty="0"/>
          </a:p>
        </p:txBody>
      </p:sp>
      <p:sp>
        <p:nvSpPr>
          <p:cNvPr id="163" name="Shape 161"/>
          <p:cNvSpPr/>
          <p:nvPr/>
        </p:nvSpPr>
        <p:spPr>
          <a:xfrm>
            <a:off x="1645920" y="2419502"/>
            <a:ext cx="1508760" cy="130759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64" name="Text 162"/>
          <p:cNvSpPr/>
          <p:nvPr/>
        </p:nvSpPr>
        <p:spPr>
          <a:xfrm>
            <a:off x="1645920" y="2419502"/>
            <a:ext cx="150876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563E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●</a:t>
            </a:r>
            <a:endParaRPr lang="en-US" sz="800" dirty="0"/>
          </a:p>
        </p:txBody>
      </p:sp>
      <p:sp>
        <p:nvSpPr>
          <p:cNvPr id="165" name="Shape 163"/>
          <p:cNvSpPr/>
          <p:nvPr/>
        </p:nvSpPr>
        <p:spPr>
          <a:xfrm>
            <a:off x="3154680" y="2419502"/>
            <a:ext cx="1508760" cy="130759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66" name="Text 164"/>
          <p:cNvSpPr/>
          <p:nvPr/>
        </p:nvSpPr>
        <p:spPr>
          <a:xfrm>
            <a:off x="3154680" y="2419502"/>
            <a:ext cx="150876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5966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●</a:t>
            </a:r>
            <a:endParaRPr lang="en-US" sz="800" dirty="0"/>
          </a:p>
        </p:txBody>
      </p:sp>
      <p:sp>
        <p:nvSpPr>
          <p:cNvPr id="167" name="Shape 165"/>
          <p:cNvSpPr/>
          <p:nvPr/>
        </p:nvSpPr>
        <p:spPr>
          <a:xfrm>
            <a:off x="4663440" y="2419502"/>
            <a:ext cx="1508760" cy="130759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68" name="Text 166"/>
          <p:cNvSpPr/>
          <p:nvPr/>
        </p:nvSpPr>
        <p:spPr>
          <a:xfrm>
            <a:off x="4663440" y="2419502"/>
            <a:ext cx="150876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9770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●</a:t>
            </a:r>
            <a:endParaRPr lang="en-US" sz="800" dirty="0"/>
          </a:p>
        </p:txBody>
      </p:sp>
      <p:sp>
        <p:nvSpPr>
          <p:cNvPr id="169" name="Shape 167"/>
          <p:cNvSpPr/>
          <p:nvPr/>
        </p:nvSpPr>
        <p:spPr>
          <a:xfrm>
            <a:off x="6172200" y="2419502"/>
            <a:ext cx="1508760" cy="130759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70" name="Text 168"/>
          <p:cNvSpPr/>
          <p:nvPr/>
        </p:nvSpPr>
        <p:spPr>
          <a:xfrm>
            <a:off x="6172200" y="2419502"/>
            <a:ext cx="150876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—</a:t>
            </a:r>
            <a:endParaRPr lang="en-US" sz="800" dirty="0"/>
          </a:p>
        </p:txBody>
      </p:sp>
      <p:sp>
        <p:nvSpPr>
          <p:cNvPr id="171" name="Shape 169"/>
          <p:cNvSpPr/>
          <p:nvPr/>
        </p:nvSpPr>
        <p:spPr>
          <a:xfrm>
            <a:off x="7680960" y="2419502"/>
            <a:ext cx="457200" cy="130759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72" name="Text 170"/>
          <p:cNvSpPr/>
          <p:nvPr/>
        </p:nvSpPr>
        <p:spPr>
          <a:xfrm>
            <a:off x="7680960" y="2419502"/>
            <a:ext cx="45720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550" dirty="0"/>
          </a:p>
        </p:txBody>
      </p:sp>
      <p:sp>
        <p:nvSpPr>
          <p:cNvPr id="173" name="Shape 171"/>
          <p:cNvSpPr/>
          <p:nvPr/>
        </p:nvSpPr>
        <p:spPr>
          <a:xfrm>
            <a:off x="274320" y="2550262"/>
            <a:ext cx="1371600" cy="130759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174" name="Text 172"/>
          <p:cNvSpPr/>
          <p:nvPr/>
        </p:nvSpPr>
        <p:spPr>
          <a:xfrm>
            <a:off x="301752" y="2550262"/>
            <a:ext cx="1316736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服务直达</a:t>
            </a:r>
            <a:endParaRPr lang="en-US" sz="550" dirty="0"/>
          </a:p>
        </p:txBody>
      </p:sp>
      <p:sp>
        <p:nvSpPr>
          <p:cNvPr id="175" name="Shape 173"/>
          <p:cNvSpPr/>
          <p:nvPr/>
        </p:nvSpPr>
        <p:spPr>
          <a:xfrm>
            <a:off x="1645920" y="2550262"/>
            <a:ext cx="1508760" cy="130759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176" name="Text 174"/>
          <p:cNvSpPr/>
          <p:nvPr/>
        </p:nvSpPr>
        <p:spPr>
          <a:xfrm>
            <a:off x="1645920" y="2550262"/>
            <a:ext cx="150876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—</a:t>
            </a:r>
            <a:endParaRPr lang="en-US" sz="800" dirty="0"/>
          </a:p>
        </p:txBody>
      </p:sp>
      <p:sp>
        <p:nvSpPr>
          <p:cNvPr id="177" name="Shape 175"/>
          <p:cNvSpPr/>
          <p:nvPr/>
        </p:nvSpPr>
        <p:spPr>
          <a:xfrm>
            <a:off x="3154680" y="2550262"/>
            <a:ext cx="1508760" cy="130759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178" name="Text 176"/>
          <p:cNvSpPr/>
          <p:nvPr/>
        </p:nvSpPr>
        <p:spPr>
          <a:xfrm>
            <a:off x="3154680" y="2550262"/>
            <a:ext cx="150876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—</a:t>
            </a:r>
            <a:endParaRPr lang="en-US" sz="800" dirty="0"/>
          </a:p>
        </p:txBody>
      </p:sp>
      <p:sp>
        <p:nvSpPr>
          <p:cNvPr id="179" name="Shape 177"/>
          <p:cNvSpPr/>
          <p:nvPr/>
        </p:nvSpPr>
        <p:spPr>
          <a:xfrm>
            <a:off x="4663440" y="2550262"/>
            <a:ext cx="1508760" cy="130759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180" name="Text 178"/>
          <p:cNvSpPr/>
          <p:nvPr/>
        </p:nvSpPr>
        <p:spPr>
          <a:xfrm>
            <a:off x="4663440" y="2550262"/>
            <a:ext cx="150876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9770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●</a:t>
            </a:r>
            <a:endParaRPr lang="en-US" sz="800" dirty="0"/>
          </a:p>
        </p:txBody>
      </p:sp>
      <p:sp>
        <p:nvSpPr>
          <p:cNvPr id="181" name="Shape 179"/>
          <p:cNvSpPr/>
          <p:nvPr/>
        </p:nvSpPr>
        <p:spPr>
          <a:xfrm>
            <a:off x="6172200" y="2550262"/>
            <a:ext cx="1508760" cy="130759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182" name="Text 180"/>
          <p:cNvSpPr/>
          <p:nvPr/>
        </p:nvSpPr>
        <p:spPr>
          <a:xfrm>
            <a:off x="6172200" y="2550262"/>
            <a:ext cx="150876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—</a:t>
            </a:r>
            <a:endParaRPr lang="en-US" sz="800" dirty="0"/>
          </a:p>
        </p:txBody>
      </p:sp>
      <p:sp>
        <p:nvSpPr>
          <p:cNvPr id="183" name="Shape 181"/>
          <p:cNvSpPr/>
          <p:nvPr/>
        </p:nvSpPr>
        <p:spPr>
          <a:xfrm>
            <a:off x="7680960" y="2550262"/>
            <a:ext cx="457200" cy="130759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184" name="Text 182"/>
          <p:cNvSpPr/>
          <p:nvPr/>
        </p:nvSpPr>
        <p:spPr>
          <a:xfrm>
            <a:off x="7680960" y="2550262"/>
            <a:ext cx="45720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550" dirty="0"/>
          </a:p>
        </p:txBody>
      </p:sp>
      <p:sp>
        <p:nvSpPr>
          <p:cNvPr id="185" name="Shape 183"/>
          <p:cNvSpPr/>
          <p:nvPr/>
        </p:nvSpPr>
        <p:spPr>
          <a:xfrm>
            <a:off x="274320" y="2681021"/>
            <a:ext cx="1371600" cy="130759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86" name="Text 184"/>
          <p:cNvSpPr/>
          <p:nvPr/>
        </p:nvSpPr>
        <p:spPr>
          <a:xfrm>
            <a:off x="301752" y="2681021"/>
            <a:ext cx="1316736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缴费(气/水/电)</a:t>
            </a:r>
            <a:endParaRPr lang="en-US" sz="550" dirty="0"/>
          </a:p>
        </p:txBody>
      </p:sp>
      <p:sp>
        <p:nvSpPr>
          <p:cNvPr id="187" name="Shape 185"/>
          <p:cNvSpPr/>
          <p:nvPr/>
        </p:nvSpPr>
        <p:spPr>
          <a:xfrm>
            <a:off x="1645920" y="2681021"/>
            <a:ext cx="1508760" cy="130759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88" name="Text 186"/>
          <p:cNvSpPr/>
          <p:nvPr/>
        </p:nvSpPr>
        <p:spPr>
          <a:xfrm>
            <a:off x="1645920" y="2681021"/>
            <a:ext cx="150876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—</a:t>
            </a:r>
            <a:endParaRPr lang="en-US" sz="800" dirty="0"/>
          </a:p>
        </p:txBody>
      </p:sp>
      <p:sp>
        <p:nvSpPr>
          <p:cNvPr id="189" name="Shape 187"/>
          <p:cNvSpPr/>
          <p:nvPr/>
        </p:nvSpPr>
        <p:spPr>
          <a:xfrm>
            <a:off x="3154680" y="2681021"/>
            <a:ext cx="1508760" cy="130759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90" name="Text 188"/>
          <p:cNvSpPr/>
          <p:nvPr/>
        </p:nvSpPr>
        <p:spPr>
          <a:xfrm>
            <a:off x="3154680" y="2681021"/>
            <a:ext cx="150876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—</a:t>
            </a:r>
            <a:endParaRPr lang="en-US" sz="800" dirty="0"/>
          </a:p>
        </p:txBody>
      </p:sp>
      <p:sp>
        <p:nvSpPr>
          <p:cNvPr id="191" name="Shape 189"/>
          <p:cNvSpPr/>
          <p:nvPr/>
        </p:nvSpPr>
        <p:spPr>
          <a:xfrm>
            <a:off x="4663440" y="2681021"/>
            <a:ext cx="1508760" cy="130759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92" name="Text 190"/>
          <p:cNvSpPr/>
          <p:nvPr/>
        </p:nvSpPr>
        <p:spPr>
          <a:xfrm>
            <a:off x="4663440" y="2681021"/>
            <a:ext cx="150876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9770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●</a:t>
            </a:r>
            <a:endParaRPr lang="en-US" sz="800" dirty="0"/>
          </a:p>
        </p:txBody>
      </p:sp>
      <p:sp>
        <p:nvSpPr>
          <p:cNvPr id="193" name="Shape 191"/>
          <p:cNvSpPr/>
          <p:nvPr/>
        </p:nvSpPr>
        <p:spPr>
          <a:xfrm>
            <a:off x="6172200" y="2681021"/>
            <a:ext cx="1508760" cy="130759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94" name="Text 192"/>
          <p:cNvSpPr/>
          <p:nvPr/>
        </p:nvSpPr>
        <p:spPr>
          <a:xfrm>
            <a:off x="6172200" y="2681021"/>
            <a:ext cx="150876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—</a:t>
            </a:r>
            <a:endParaRPr lang="en-US" sz="800" dirty="0"/>
          </a:p>
        </p:txBody>
      </p:sp>
      <p:sp>
        <p:nvSpPr>
          <p:cNvPr id="195" name="Shape 193"/>
          <p:cNvSpPr/>
          <p:nvPr/>
        </p:nvSpPr>
        <p:spPr>
          <a:xfrm>
            <a:off x="7680960" y="2681021"/>
            <a:ext cx="457200" cy="130759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96" name="Text 194"/>
          <p:cNvSpPr/>
          <p:nvPr/>
        </p:nvSpPr>
        <p:spPr>
          <a:xfrm>
            <a:off x="7680960" y="2681021"/>
            <a:ext cx="45720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550" dirty="0"/>
          </a:p>
        </p:txBody>
      </p:sp>
      <p:sp>
        <p:nvSpPr>
          <p:cNvPr id="197" name="Shape 195"/>
          <p:cNvSpPr/>
          <p:nvPr/>
        </p:nvSpPr>
        <p:spPr>
          <a:xfrm>
            <a:off x="274320" y="2811780"/>
            <a:ext cx="1371600" cy="130759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198" name="Text 196"/>
          <p:cNvSpPr/>
          <p:nvPr/>
        </p:nvSpPr>
        <p:spPr>
          <a:xfrm>
            <a:off x="301752" y="2811780"/>
            <a:ext cx="1316736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园企交互</a:t>
            </a:r>
            <a:endParaRPr lang="en-US" sz="550" dirty="0"/>
          </a:p>
        </p:txBody>
      </p:sp>
      <p:sp>
        <p:nvSpPr>
          <p:cNvPr id="199" name="Shape 197"/>
          <p:cNvSpPr/>
          <p:nvPr/>
        </p:nvSpPr>
        <p:spPr>
          <a:xfrm>
            <a:off x="1645920" y="2811780"/>
            <a:ext cx="1508760" cy="130759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200" name="Text 198"/>
          <p:cNvSpPr/>
          <p:nvPr/>
        </p:nvSpPr>
        <p:spPr>
          <a:xfrm>
            <a:off x="1645920" y="2811780"/>
            <a:ext cx="150876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563E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●</a:t>
            </a:r>
            <a:endParaRPr lang="en-US" sz="800" dirty="0"/>
          </a:p>
        </p:txBody>
      </p:sp>
      <p:sp>
        <p:nvSpPr>
          <p:cNvPr id="201" name="Shape 199"/>
          <p:cNvSpPr/>
          <p:nvPr/>
        </p:nvSpPr>
        <p:spPr>
          <a:xfrm>
            <a:off x="3154680" y="2811780"/>
            <a:ext cx="1508760" cy="130759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202" name="Text 200"/>
          <p:cNvSpPr/>
          <p:nvPr/>
        </p:nvSpPr>
        <p:spPr>
          <a:xfrm>
            <a:off x="3154680" y="2811780"/>
            <a:ext cx="150876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5966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●</a:t>
            </a:r>
            <a:endParaRPr lang="en-US" sz="800" dirty="0"/>
          </a:p>
        </p:txBody>
      </p:sp>
      <p:sp>
        <p:nvSpPr>
          <p:cNvPr id="203" name="Shape 201"/>
          <p:cNvSpPr/>
          <p:nvPr/>
        </p:nvSpPr>
        <p:spPr>
          <a:xfrm>
            <a:off x="4663440" y="2811780"/>
            <a:ext cx="1508760" cy="130759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204" name="Text 202"/>
          <p:cNvSpPr/>
          <p:nvPr/>
        </p:nvSpPr>
        <p:spPr>
          <a:xfrm>
            <a:off x="4663440" y="2811780"/>
            <a:ext cx="150876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9770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●</a:t>
            </a:r>
            <a:endParaRPr lang="en-US" sz="800" dirty="0"/>
          </a:p>
        </p:txBody>
      </p:sp>
      <p:sp>
        <p:nvSpPr>
          <p:cNvPr id="205" name="Shape 203"/>
          <p:cNvSpPr/>
          <p:nvPr/>
        </p:nvSpPr>
        <p:spPr>
          <a:xfrm>
            <a:off x="6172200" y="2811780"/>
            <a:ext cx="1508760" cy="130759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206" name="Text 204"/>
          <p:cNvSpPr/>
          <p:nvPr/>
        </p:nvSpPr>
        <p:spPr>
          <a:xfrm>
            <a:off x="6172200" y="2811780"/>
            <a:ext cx="150876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—</a:t>
            </a:r>
            <a:endParaRPr lang="en-US" sz="800" dirty="0"/>
          </a:p>
        </p:txBody>
      </p:sp>
      <p:sp>
        <p:nvSpPr>
          <p:cNvPr id="207" name="Shape 205"/>
          <p:cNvSpPr/>
          <p:nvPr/>
        </p:nvSpPr>
        <p:spPr>
          <a:xfrm>
            <a:off x="7680960" y="2811780"/>
            <a:ext cx="457200" cy="130759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208" name="Text 206"/>
          <p:cNvSpPr/>
          <p:nvPr/>
        </p:nvSpPr>
        <p:spPr>
          <a:xfrm>
            <a:off x="7680960" y="2811780"/>
            <a:ext cx="45720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550" dirty="0"/>
          </a:p>
        </p:txBody>
      </p:sp>
      <p:sp>
        <p:nvSpPr>
          <p:cNvPr id="209" name="Shape 207"/>
          <p:cNvSpPr/>
          <p:nvPr/>
        </p:nvSpPr>
        <p:spPr>
          <a:xfrm>
            <a:off x="274320" y="2942539"/>
            <a:ext cx="1371600" cy="130759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10" name="Text 208"/>
          <p:cNvSpPr/>
          <p:nvPr/>
        </p:nvSpPr>
        <p:spPr>
          <a:xfrm>
            <a:off x="301752" y="2942539"/>
            <a:ext cx="1316736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供需对接</a:t>
            </a:r>
            <a:endParaRPr lang="en-US" sz="550" dirty="0"/>
          </a:p>
        </p:txBody>
      </p:sp>
      <p:sp>
        <p:nvSpPr>
          <p:cNvPr id="211" name="Shape 209"/>
          <p:cNvSpPr/>
          <p:nvPr/>
        </p:nvSpPr>
        <p:spPr>
          <a:xfrm>
            <a:off x="1645920" y="2942539"/>
            <a:ext cx="1508760" cy="130759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12" name="Text 210"/>
          <p:cNvSpPr/>
          <p:nvPr/>
        </p:nvSpPr>
        <p:spPr>
          <a:xfrm>
            <a:off x="1645920" y="2942539"/>
            <a:ext cx="150876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563E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●</a:t>
            </a:r>
            <a:endParaRPr lang="en-US" sz="800" dirty="0"/>
          </a:p>
        </p:txBody>
      </p:sp>
      <p:sp>
        <p:nvSpPr>
          <p:cNvPr id="213" name="Shape 211"/>
          <p:cNvSpPr/>
          <p:nvPr/>
        </p:nvSpPr>
        <p:spPr>
          <a:xfrm>
            <a:off x="3154680" y="2942539"/>
            <a:ext cx="1508760" cy="130759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14" name="Text 212"/>
          <p:cNvSpPr/>
          <p:nvPr/>
        </p:nvSpPr>
        <p:spPr>
          <a:xfrm>
            <a:off x="3154680" y="2942539"/>
            <a:ext cx="150876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5966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●</a:t>
            </a:r>
            <a:endParaRPr lang="en-US" sz="800" dirty="0"/>
          </a:p>
        </p:txBody>
      </p:sp>
      <p:sp>
        <p:nvSpPr>
          <p:cNvPr id="215" name="Shape 213"/>
          <p:cNvSpPr/>
          <p:nvPr/>
        </p:nvSpPr>
        <p:spPr>
          <a:xfrm>
            <a:off x="4663440" y="2942539"/>
            <a:ext cx="1508760" cy="130759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16" name="Text 214"/>
          <p:cNvSpPr/>
          <p:nvPr/>
        </p:nvSpPr>
        <p:spPr>
          <a:xfrm>
            <a:off x="4663440" y="2942539"/>
            <a:ext cx="150876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9770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●</a:t>
            </a:r>
            <a:endParaRPr lang="en-US" sz="800" dirty="0"/>
          </a:p>
        </p:txBody>
      </p:sp>
      <p:sp>
        <p:nvSpPr>
          <p:cNvPr id="217" name="Shape 215"/>
          <p:cNvSpPr/>
          <p:nvPr/>
        </p:nvSpPr>
        <p:spPr>
          <a:xfrm>
            <a:off x="6172200" y="2942539"/>
            <a:ext cx="1508760" cy="130759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18" name="Text 216"/>
          <p:cNvSpPr/>
          <p:nvPr/>
        </p:nvSpPr>
        <p:spPr>
          <a:xfrm>
            <a:off x="6172200" y="2942539"/>
            <a:ext cx="150876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—</a:t>
            </a:r>
            <a:endParaRPr lang="en-US" sz="800" dirty="0"/>
          </a:p>
        </p:txBody>
      </p:sp>
      <p:sp>
        <p:nvSpPr>
          <p:cNvPr id="219" name="Shape 217"/>
          <p:cNvSpPr/>
          <p:nvPr/>
        </p:nvSpPr>
        <p:spPr>
          <a:xfrm>
            <a:off x="7680960" y="2942539"/>
            <a:ext cx="457200" cy="130759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20" name="Text 218"/>
          <p:cNvSpPr/>
          <p:nvPr/>
        </p:nvSpPr>
        <p:spPr>
          <a:xfrm>
            <a:off x="7680960" y="2942539"/>
            <a:ext cx="45720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550" dirty="0"/>
          </a:p>
        </p:txBody>
      </p:sp>
      <p:sp>
        <p:nvSpPr>
          <p:cNvPr id="221" name="Shape 219"/>
          <p:cNvSpPr/>
          <p:nvPr/>
        </p:nvSpPr>
        <p:spPr>
          <a:xfrm>
            <a:off x="274320" y="3073298"/>
            <a:ext cx="1371600" cy="130759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222" name="Text 220"/>
          <p:cNvSpPr/>
          <p:nvPr/>
        </p:nvSpPr>
        <p:spPr>
          <a:xfrm>
            <a:off x="301752" y="3073298"/>
            <a:ext cx="1316736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政策推送</a:t>
            </a:r>
            <a:endParaRPr lang="en-US" sz="550" dirty="0"/>
          </a:p>
        </p:txBody>
      </p:sp>
      <p:sp>
        <p:nvSpPr>
          <p:cNvPr id="223" name="Shape 221"/>
          <p:cNvSpPr/>
          <p:nvPr/>
        </p:nvSpPr>
        <p:spPr>
          <a:xfrm>
            <a:off x="1645920" y="3073298"/>
            <a:ext cx="1508760" cy="130759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224" name="Text 222"/>
          <p:cNvSpPr/>
          <p:nvPr/>
        </p:nvSpPr>
        <p:spPr>
          <a:xfrm>
            <a:off x="1645920" y="3073298"/>
            <a:ext cx="150876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563E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●</a:t>
            </a:r>
            <a:endParaRPr lang="en-US" sz="800" dirty="0"/>
          </a:p>
        </p:txBody>
      </p:sp>
      <p:sp>
        <p:nvSpPr>
          <p:cNvPr id="225" name="Shape 223"/>
          <p:cNvSpPr/>
          <p:nvPr/>
        </p:nvSpPr>
        <p:spPr>
          <a:xfrm>
            <a:off x="3154680" y="3073298"/>
            <a:ext cx="1508760" cy="130759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226" name="Text 224"/>
          <p:cNvSpPr/>
          <p:nvPr/>
        </p:nvSpPr>
        <p:spPr>
          <a:xfrm>
            <a:off x="3154680" y="3073298"/>
            <a:ext cx="150876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5966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●</a:t>
            </a:r>
            <a:endParaRPr lang="en-US" sz="800" dirty="0"/>
          </a:p>
        </p:txBody>
      </p:sp>
      <p:sp>
        <p:nvSpPr>
          <p:cNvPr id="227" name="Shape 225"/>
          <p:cNvSpPr/>
          <p:nvPr/>
        </p:nvSpPr>
        <p:spPr>
          <a:xfrm>
            <a:off x="4663440" y="3073298"/>
            <a:ext cx="1508760" cy="130759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228" name="Text 226"/>
          <p:cNvSpPr/>
          <p:nvPr/>
        </p:nvSpPr>
        <p:spPr>
          <a:xfrm>
            <a:off x="4663440" y="3073298"/>
            <a:ext cx="150876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9770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●</a:t>
            </a:r>
            <a:endParaRPr lang="en-US" sz="800" dirty="0"/>
          </a:p>
        </p:txBody>
      </p:sp>
      <p:sp>
        <p:nvSpPr>
          <p:cNvPr id="229" name="Shape 227"/>
          <p:cNvSpPr/>
          <p:nvPr/>
        </p:nvSpPr>
        <p:spPr>
          <a:xfrm>
            <a:off x="6172200" y="3073298"/>
            <a:ext cx="1508760" cy="130759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230" name="Text 228"/>
          <p:cNvSpPr/>
          <p:nvPr/>
        </p:nvSpPr>
        <p:spPr>
          <a:xfrm>
            <a:off x="6172200" y="3073298"/>
            <a:ext cx="150876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—</a:t>
            </a:r>
            <a:endParaRPr lang="en-US" sz="800" dirty="0"/>
          </a:p>
        </p:txBody>
      </p:sp>
      <p:sp>
        <p:nvSpPr>
          <p:cNvPr id="231" name="Shape 229"/>
          <p:cNvSpPr/>
          <p:nvPr/>
        </p:nvSpPr>
        <p:spPr>
          <a:xfrm>
            <a:off x="7680960" y="3073298"/>
            <a:ext cx="457200" cy="130759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232" name="Text 230"/>
          <p:cNvSpPr/>
          <p:nvPr/>
        </p:nvSpPr>
        <p:spPr>
          <a:xfrm>
            <a:off x="7680960" y="3073298"/>
            <a:ext cx="45720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550" dirty="0"/>
          </a:p>
        </p:txBody>
      </p:sp>
      <p:sp>
        <p:nvSpPr>
          <p:cNvPr id="233" name="Shape 231"/>
          <p:cNvSpPr/>
          <p:nvPr/>
        </p:nvSpPr>
        <p:spPr>
          <a:xfrm>
            <a:off x="274320" y="3204058"/>
            <a:ext cx="1371600" cy="130759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34" name="Text 232"/>
          <p:cNvSpPr/>
          <p:nvPr/>
        </p:nvSpPr>
        <p:spPr>
          <a:xfrm>
            <a:off x="301752" y="3204058"/>
            <a:ext cx="1316736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场馆/活动/餐饮</a:t>
            </a:r>
            <a:endParaRPr lang="en-US" sz="550" dirty="0"/>
          </a:p>
        </p:txBody>
      </p:sp>
      <p:sp>
        <p:nvSpPr>
          <p:cNvPr id="235" name="Shape 233"/>
          <p:cNvSpPr/>
          <p:nvPr/>
        </p:nvSpPr>
        <p:spPr>
          <a:xfrm>
            <a:off x="1645920" y="3204058"/>
            <a:ext cx="1508760" cy="130759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36" name="Text 234"/>
          <p:cNvSpPr/>
          <p:nvPr/>
        </p:nvSpPr>
        <p:spPr>
          <a:xfrm>
            <a:off x="1645920" y="3204058"/>
            <a:ext cx="150876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—</a:t>
            </a:r>
            <a:endParaRPr lang="en-US" sz="800" dirty="0"/>
          </a:p>
        </p:txBody>
      </p:sp>
      <p:sp>
        <p:nvSpPr>
          <p:cNvPr id="237" name="Shape 235"/>
          <p:cNvSpPr/>
          <p:nvPr/>
        </p:nvSpPr>
        <p:spPr>
          <a:xfrm>
            <a:off x="3154680" y="3204058"/>
            <a:ext cx="1508760" cy="130759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38" name="Text 236"/>
          <p:cNvSpPr/>
          <p:nvPr/>
        </p:nvSpPr>
        <p:spPr>
          <a:xfrm>
            <a:off x="3154680" y="3204058"/>
            <a:ext cx="150876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5966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●</a:t>
            </a:r>
            <a:endParaRPr lang="en-US" sz="800" dirty="0"/>
          </a:p>
        </p:txBody>
      </p:sp>
      <p:sp>
        <p:nvSpPr>
          <p:cNvPr id="239" name="Shape 237"/>
          <p:cNvSpPr/>
          <p:nvPr/>
        </p:nvSpPr>
        <p:spPr>
          <a:xfrm>
            <a:off x="4663440" y="3204058"/>
            <a:ext cx="1508760" cy="130759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40" name="Text 238"/>
          <p:cNvSpPr/>
          <p:nvPr/>
        </p:nvSpPr>
        <p:spPr>
          <a:xfrm>
            <a:off x="4663440" y="3204058"/>
            <a:ext cx="150876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9770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●</a:t>
            </a:r>
            <a:endParaRPr lang="en-US" sz="800" dirty="0"/>
          </a:p>
        </p:txBody>
      </p:sp>
      <p:sp>
        <p:nvSpPr>
          <p:cNvPr id="241" name="Shape 239"/>
          <p:cNvSpPr/>
          <p:nvPr/>
        </p:nvSpPr>
        <p:spPr>
          <a:xfrm>
            <a:off x="6172200" y="3204058"/>
            <a:ext cx="1508760" cy="130759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42" name="Text 240"/>
          <p:cNvSpPr/>
          <p:nvPr/>
        </p:nvSpPr>
        <p:spPr>
          <a:xfrm>
            <a:off x="6172200" y="3204058"/>
            <a:ext cx="150876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C3AED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●</a:t>
            </a:r>
            <a:endParaRPr lang="en-US" sz="800" dirty="0"/>
          </a:p>
        </p:txBody>
      </p:sp>
      <p:sp>
        <p:nvSpPr>
          <p:cNvPr id="243" name="Shape 241"/>
          <p:cNvSpPr/>
          <p:nvPr/>
        </p:nvSpPr>
        <p:spPr>
          <a:xfrm>
            <a:off x="7680960" y="3204058"/>
            <a:ext cx="457200" cy="130759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44" name="Text 242"/>
          <p:cNvSpPr/>
          <p:nvPr/>
        </p:nvSpPr>
        <p:spPr>
          <a:xfrm>
            <a:off x="7680960" y="3204058"/>
            <a:ext cx="45720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550" dirty="0"/>
          </a:p>
        </p:txBody>
      </p:sp>
      <p:sp>
        <p:nvSpPr>
          <p:cNvPr id="245" name="Shape 243"/>
          <p:cNvSpPr/>
          <p:nvPr/>
        </p:nvSpPr>
        <p:spPr>
          <a:xfrm>
            <a:off x="274320" y="3334817"/>
            <a:ext cx="1371600" cy="130759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246" name="Text 244"/>
          <p:cNvSpPr/>
          <p:nvPr/>
        </p:nvSpPr>
        <p:spPr>
          <a:xfrm>
            <a:off x="301752" y="3334817"/>
            <a:ext cx="1316736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停车服务</a:t>
            </a:r>
            <a:endParaRPr lang="en-US" sz="550" dirty="0"/>
          </a:p>
        </p:txBody>
      </p:sp>
      <p:sp>
        <p:nvSpPr>
          <p:cNvPr id="247" name="Shape 245"/>
          <p:cNvSpPr/>
          <p:nvPr/>
        </p:nvSpPr>
        <p:spPr>
          <a:xfrm>
            <a:off x="1645920" y="3334817"/>
            <a:ext cx="1508760" cy="130759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248" name="Text 246"/>
          <p:cNvSpPr/>
          <p:nvPr/>
        </p:nvSpPr>
        <p:spPr>
          <a:xfrm>
            <a:off x="1645920" y="3334817"/>
            <a:ext cx="150876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—</a:t>
            </a:r>
            <a:endParaRPr lang="en-US" sz="800" dirty="0"/>
          </a:p>
        </p:txBody>
      </p:sp>
      <p:sp>
        <p:nvSpPr>
          <p:cNvPr id="249" name="Shape 247"/>
          <p:cNvSpPr/>
          <p:nvPr/>
        </p:nvSpPr>
        <p:spPr>
          <a:xfrm>
            <a:off x="3154680" y="3334817"/>
            <a:ext cx="1508760" cy="130759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250" name="Text 248"/>
          <p:cNvSpPr/>
          <p:nvPr/>
        </p:nvSpPr>
        <p:spPr>
          <a:xfrm>
            <a:off x="3154680" y="3334817"/>
            <a:ext cx="150876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5966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●</a:t>
            </a:r>
            <a:endParaRPr lang="en-US" sz="800" dirty="0"/>
          </a:p>
        </p:txBody>
      </p:sp>
      <p:sp>
        <p:nvSpPr>
          <p:cNvPr id="251" name="Shape 249"/>
          <p:cNvSpPr/>
          <p:nvPr/>
        </p:nvSpPr>
        <p:spPr>
          <a:xfrm>
            <a:off x="4663440" y="3334817"/>
            <a:ext cx="1508760" cy="130759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252" name="Text 250"/>
          <p:cNvSpPr/>
          <p:nvPr/>
        </p:nvSpPr>
        <p:spPr>
          <a:xfrm>
            <a:off x="4663440" y="3334817"/>
            <a:ext cx="150876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9770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●</a:t>
            </a:r>
            <a:endParaRPr lang="en-US" sz="800" dirty="0"/>
          </a:p>
        </p:txBody>
      </p:sp>
      <p:sp>
        <p:nvSpPr>
          <p:cNvPr id="253" name="Shape 251"/>
          <p:cNvSpPr/>
          <p:nvPr/>
        </p:nvSpPr>
        <p:spPr>
          <a:xfrm>
            <a:off x="6172200" y="3334817"/>
            <a:ext cx="1508760" cy="130759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254" name="Text 252"/>
          <p:cNvSpPr/>
          <p:nvPr/>
        </p:nvSpPr>
        <p:spPr>
          <a:xfrm>
            <a:off x="6172200" y="3334817"/>
            <a:ext cx="150876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C3AED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●</a:t>
            </a:r>
            <a:endParaRPr lang="en-US" sz="800" dirty="0"/>
          </a:p>
        </p:txBody>
      </p:sp>
      <p:sp>
        <p:nvSpPr>
          <p:cNvPr id="255" name="Shape 253"/>
          <p:cNvSpPr/>
          <p:nvPr/>
        </p:nvSpPr>
        <p:spPr>
          <a:xfrm>
            <a:off x="7680960" y="3334817"/>
            <a:ext cx="457200" cy="130759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256" name="Text 254"/>
          <p:cNvSpPr/>
          <p:nvPr/>
        </p:nvSpPr>
        <p:spPr>
          <a:xfrm>
            <a:off x="7680960" y="3334817"/>
            <a:ext cx="45720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550" dirty="0"/>
          </a:p>
        </p:txBody>
      </p:sp>
      <p:sp>
        <p:nvSpPr>
          <p:cNvPr id="257" name="Shape 255"/>
          <p:cNvSpPr/>
          <p:nvPr/>
        </p:nvSpPr>
        <p:spPr>
          <a:xfrm>
            <a:off x="274320" y="3465576"/>
            <a:ext cx="1371600" cy="130759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58" name="Text 256"/>
          <p:cNvSpPr/>
          <p:nvPr/>
        </p:nvSpPr>
        <p:spPr>
          <a:xfrm>
            <a:off x="301752" y="3465576"/>
            <a:ext cx="1316736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用工信息</a:t>
            </a:r>
            <a:endParaRPr lang="en-US" sz="550" dirty="0"/>
          </a:p>
        </p:txBody>
      </p:sp>
      <p:sp>
        <p:nvSpPr>
          <p:cNvPr id="259" name="Shape 257"/>
          <p:cNvSpPr/>
          <p:nvPr/>
        </p:nvSpPr>
        <p:spPr>
          <a:xfrm>
            <a:off x="1645920" y="3465576"/>
            <a:ext cx="1508760" cy="130759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60" name="Text 258"/>
          <p:cNvSpPr/>
          <p:nvPr/>
        </p:nvSpPr>
        <p:spPr>
          <a:xfrm>
            <a:off x="1645920" y="3465576"/>
            <a:ext cx="150876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563E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●</a:t>
            </a:r>
            <a:endParaRPr lang="en-US" sz="800" dirty="0"/>
          </a:p>
        </p:txBody>
      </p:sp>
      <p:sp>
        <p:nvSpPr>
          <p:cNvPr id="261" name="Shape 259"/>
          <p:cNvSpPr/>
          <p:nvPr/>
        </p:nvSpPr>
        <p:spPr>
          <a:xfrm>
            <a:off x="3154680" y="3465576"/>
            <a:ext cx="1508760" cy="130759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62" name="Text 260"/>
          <p:cNvSpPr/>
          <p:nvPr/>
        </p:nvSpPr>
        <p:spPr>
          <a:xfrm>
            <a:off x="3154680" y="3465576"/>
            <a:ext cx="150876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5966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●</a:t>
            </a:r>
            <a:endParaRPr lang="en-US" sz="800" dirty="0"/>
          </a:p>
        </p:txBody>
      </p:sp>
      <p:sp>
        <p:nvSpPr>
          <p:cNvPr id="263" name="Shape 261"/>
          <p:cNvSpPr/>
          <p:nvPr/>
        </p:nvSpPr>
        <p:spPr>
          <a:xfrm>
            <a:off x="4663440" y="3465576"/>
            <a:ext cx="1508760" cy="130759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64" name="Text 262"/>
          <p:cNvSpPr/>
          <p:nvPr/>
        </p:nvSpPr>
        <p:spPr>
          <a:xfrm>
            <a:off x="4663440" y="3465576"/>
            <a:ext cx="150876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9770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●</a:t>
            </a:r>
            <a:endParaRPr lang="en-US" sz="800" dirty="0"/>
          </a:p>
        </p:txBody>
      </p:sp>
      <p:sp>
        <p:nvSpPr>
          <p:cNvPr id="265" name="Shape 263"/>
          <p:cNvSpPr/>
          <p:nvPr/>
        </p:nvSpPr>
        <p:spPr>
          <a:xfrm>
            <a:off x="6172200" y="3465576"/>
            <a:ext cx="1508760" cy="130759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66" name="Text 264"/>
          <p:cNvSpPr/>
          <p:nvPr/>
        </p:nvSpPr>
        <p:spPr>
          <a:xfrm>
            <a:off x="6172200" y="3465576"/>
            <a:ext cx="150876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C3AED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●</a:t>
            </a:r>
            <a:endParaRPr lang="en-US" sz="800" dirty="0"/>
          </a:p>
        </p:txBody>
      </p:sp>
      <p:sp>
        <p:nvSpPr>
          <p:cNvPr id="267" name="Shape 265"/>
          <p:cNvSpPr/>
          <p:nvPr/>
        </p:nvSpPr>
        <p:spPr>
          <a:xfrm>
            <a:off x="7680960" y="3465576"/>
            <a:ext cx="457200" cy="130759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68" name="Text 266"/>
          <p:cNvSpPr/>
          <p:nvPr/>
        </p:nvSpPr>
        <p:spPr>
          <a:xfrm>
            <a:off x="7680960" y="3465576"/>
            <a:ext cx="45720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550" dirty="0"/>
          </a:p>
        </p:txBody>
      </p:sp>
      <p:sp>
        <p:nvSpPr>
          <p:cNvPr id="269" name="Shape 267"/>
          <p:cNvSpPr/>
          <p:nvPr/>
        </p:nvSpPr>
        <p:spPr>
          <a:xfrm>
            <a:off x="274320" y="3596335"/>
            <a:ext cx="1371600" cy="130759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270" name="Text 268"/>
          <p:cNvSpPr/>
          <p:nvPr/>
        </p:nvSpPr>
        <p:spPr>
          <a:xfrm>
            <a:off x="301752" y="3596335"/>
            <a:ext cx="1316736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能效监测分析</a:t>
            </a:r>
            <a:endParaRPr lang="en-US" sz="550" dirty="0"/>
          </a:p>
        </p:txBody>
      </p:sp>
      <p:sp>
        <p:nvSpPr>
          <p:cNvPr id="271" name="Shape 269"/>
          <p:cNvSpPr/>
          <p:nvPr/>
        </p:nvSpPr>
        <p:spPr>
          <a:xfrm>
            <a:off x="1645920" y="3596335"/>
            <a:ext cx="1508760" cy="130759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272" name="Text 270"/>
          <p:cNvSpPr/>
          <p:nvPr/>
        </p:nvSpPr>
        <p:spPr>
          <a:xfrm>
            <a:off x="1645920" y="3596335"/>
            <a:ext cx="150876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563E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●</a:t>
            </a:r>
            <a:endParaRPr lang="en-US" sz="800" dirty="0"/>
          </a:p>
        </p:txBody>
      </p:sp>
      <p:sp>
        <p:nvSpPr>
          <p:cNvPr id="273" name="Shape 271"/>
          <p:cNvSpPr/>
          <p:nvPr/>
        </p:nvSpPr>
        <p:spPr>
          <a:xfrm>
            <a:off x="3154680" y="3596335"/>
            <a:ext cx="1508760" cy="130759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274" name="Text 272"/>
          <p:cNvSpPr/>
          <p:nvPr/>
        </p:nvSpPr>
        <p:spPr>
          <a:xfrm>
            <a:off x="3154680" y="3596335"/>
            <a:ext cx="150876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5966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●</a:t>
            </a:r>
            <a:endParaRPr lang="en-US" sz="800" dirty="0"/>
          </a:p>
        </p:txBody>
      </p:sp>
      <p:sp>
        <p:nvSpPr>
          <p:cNvPr id="275" name="Shape 273"/>
          <p:cNvSpPr/>
          <p:nvPr/>
        </p:nvSpPr>
        <p:spPr>
          <a:xfrm>
            <a:off x="4663440" y="3596335"/>
            <a:ext cx="1508760" cy="130759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276" name="Text 274"/>
          <p:cNvSpPr/>
          <p:nvPr/>
        </p:nvSpPr>
        <p:spPr>
          <a:xfrm>
            <a:off x="4663440" y="3596335"/>
            <a:ext cx="150876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—</a:t>
            </a:r>
            <a:endParaRPr lang="en-US" sz="800" dirty="0"/>
          </a:p>
        </p:txBody>
      </p:sp>
      <p:sp>
        <p:nvSpPr>
          <p:cNvPr id="277" name="Shape 275"/>
          <p:cNvSpPr/>
          <p:nvPr/>
        </p:nvSpPr>
        <p:spPr>
          <a:xfrm>
            <a:off x="6172200" y="3596335"/>
            <a:ext cx="1508760" cy="130759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278" name="Text 276"/>
          <p:cNvSpPr/>
          <p:nvPr/>
        </p:nvSpPr>
        <p:spPr>
          <a:xfrm>
            <a:off x="6172200" y="3596335"/>
            <a:ext cx="150876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—</a:t>
            </a:r>
            <a:endParaRPr lang="en-US" sz="800" dirty="0"/>
          </a:p>
        </p:txBody>
      </p:sp>
      <p:sp>
        <p:nvSpPr>
          <p:cNvPr id="279" name="Shape 277"/>
          <p:cNvSpPr/>
          <p:nvPr/>
        </p:nvSpPr>
        <p:spPr>
          <a:xfrm>
            <a:off x="7680960" y="3596335"/>
            <a:ext cx="457200" cy="130759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280" name="Text 278"/>
          <p:cNvSpPr/>
          <p:nvPr/>
        </p:nvSpPr>
        <p:spPr>
          <a:xfrm>
            <a:off x="7680960" y="3596335"/>
            <a:ext cx="45720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550" dirty="0"/>
          </a:p>
        </p:txBody>
      </p:sp>
      <p:sp>
        <p:nvSpPr>
          <p:cNvPr id="281" name="Shape 279"/>
          <p:cNvSpPr/>
          <p:nvPr/>
        </p:nvSpPr>
        <p:spPr>
          <a:xfrm>
            <a:off x="274320" y="3727094"/>
            <a:ext cx="1371600" cy="130759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82" name="Text 280"/>
          <p:cNvSpPr/>
          <p:nvPr/>
        </p:nvSpPr>
        <p:spPr>
          <a:xfrm>
            <a:off x="301752" y="3727094"/>
            <a:ext cx="1316736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亩均论英雄</a:t>
            </a:r>
            <a:endParaRPr lang="en-US" sz="550" dirty="0"/>
          </a:p>
        </p:txBody>
      </p:sp>
      <p:sp>
        <p:nvSpPr>
          <p:cNvPr id="283" name="Shape 281"/>
          <p:cNvSpPr/>
          <p:nvPr/>
        </p:nvSpPr>
        <p:spPr>
          <a:xfrm>
            <a:off x="1645920" y="3727094"/>
            <a:ext cx="1508760" cy="130759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84" name="Text 282"/>
          <p:cNvSpPr/>
          <p:nvPr/>
        </p:nvSpPr>
        <p:spPr>
          <a:xfrm>
            <a:off x="1645920" y="3727094"/>
            <a:ext cx="150876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563E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●</a:t>
            </a:r>
            <a:endParaRPr lang="en-US" sz="800" dirty="0"/>
          </a:p>
        </p:txBody>
      </p:sp>
      <p:sp>
        <p:nvSpPr>
          <p:cNvPr id="285" name="Shape 283"/>
          <p:cNvSpPr/>
          <p:nvPr/>
        </p:nvSpPr>
        <p:spPr>
          <a:xfrm>
            <a:off x="3154680" y="3727094"/>
            <a:ext cx="1508760" cy="130759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86" name="Text 284"/>
          <p:cNvSpPr/>
          <p:nvPr/>
        </p:nvSpPr>
        <p:spPr>
          <a:xfrm>
            <a:off x="3154680" y="3727094"/>
            <a:ext cx="150876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5966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●</a:t>
            </a:r>
            <a:endParaRPr lang="en-US" sz="800" dirty="0"/>
          </a:p>
        </p:txBody>
      </p:sp>
      <p:sp>
        <p:nvSpPr>
          <p:cNvPr id="287" name="Shape 285"/>
          <p:cNvSpPr/>
          <p:nvPr/>
        </p:nvSpPr>
        <p:spPr>
          <a:xfrm>
            <a:off x="4663440" y="3727094"/>
            <a:ext cx="1508760" cy="130759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88" name="Text 286"/>
          <p:cNvSpPr/>
          <p:nvPr/>
        </p:nvSpPr>
        <p:spPr>
          <a:xfrm>
            <a:off x="4663440" y="3727094"/>
            <a:ext cx="150876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—</a:t>
            </a:r>
            <a:endParaRPr lang="en-US" sz="800" dirty="0"/>
          </a:p>
        </p:txBody>
      </p:sp>
      <p:sp>
        <p:nvSpPr>
          <p:cNvPr id="289" name="Shape 287"/>
          <p:cNvSpPr/>
          <p:nvPr/>
        </p:nvSpPr>
        <p:spPr>
          <a:xfrm>
            <a:off x="6172200" y="3727094"/>
            <a:ext cx="1508760" cy="130759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90" name="Text 288"/>
          <p:cNvSpPr/>
          <p:nvPr/>
        </p:nvSpPr>
        <p:spPr>
          <a:xfrm>
            <a:off x="6172200" y="3727094"/>
            <a:ext cx="150876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—</a:t>
            </a:r>
            <a:endParaRPr lang="en-US" sz="800" dirty="0"/>
          </a:p>
        </p:txBody>
      </p:sp>
      <p:sp>
        <p:nvSpPr>
          <p:cNvPr id="291" name="Shape 289"/>
          <p:cNvSpPr/>
          <p:nvPr/>
        </p:nvSpPr>
        <p:spPr>
          <a:xfrm>
            <a:off x="7680960" y="3727094"/>
            <a:ext cx="457200" cy="130759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92" name="Text 290"/>
          <p:cNvSpPr/>
          <p:nvPr/>
        </p:nvSpPr>
        <p:spPr>
          <a:xfrm>
            <a:off x="7680960" y="3727094"/>
            <a:ext cx="45720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550" dirty="0"/>
          </a:p>
        </p:txBody>
      </p:sp>
      <p:sp>
        <p:nvSpPr>
          <p:cNvPr id="293" name="Shape 291"/>
          <p:cNvSpPr/>
          <p:nvPr/>
        </p:nvSpPr>
        <p:spPr>
          <a:xfrm>
            <a:off x="274320" y="3857854"/>
            <a:ext cx="1371600" cy="130759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294" name="Text 292"/>
          <p:cNvSpPr/>
          <p:nvPr/>
        </p:nvSpPr>
        <p:spPr>
          <a:xfrm>
            <a:off x="301752" y="3857854"/>
            <a:ext cx="1316736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数据中心</a:t>
            </a:r>
            <a:endParaRPr lang="en-US" sz="550" dirty="0"/>
          </a:p>
        </p:txBody>
      </p:sp>
      <p:sp>
        <p:nvSpPr>
          <p:cNvPr id="295" name="Shape 293"/>
          <p:cNvSpPr/>
          <p:nvPr/>
        </p:nvSpPr>
        <p:spPr>
          <a:xfrm>
            <a:off x="1645920" y="3857854"/>
            <a:ext cx="1508760" cy="130759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296" name="Text 294"/>
          <p:cNvSpPr/>
          <p:nvPr/>
        </p:nvSpPr>
        <p:spPr>
          <a:xfrm>
            <a:off x="1645920" y="3857854"/>
            <a:ext cx="150876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563E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●</a:t>
            </a:r>
            <a:endParaRPr lang="en-US" sz="800" dirty="0"/>
          </a:p>
        </p:txBody>
      </p:sp>
      <p:sp>
        <p:nvSpPr>
          <p:cNvPr id="297" name="Shape 295"/>
          <p:cNvSpPr/>
          <p:nvPr/>
        </p:nvSpPr>
        <p:spPr>
          <a:xfrm>
            <a:off x="3154680" y="3857854"/>
            <a:ext cx="1508760" cy="130759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298" name="Text 296"/>
          <p:cNvSpPr/>
          <p:nvPr/>
        </p:nvSpPr>
        <p:spPr>
          <a:xfrm>
            <a:off x="3154680" y="3857854"/>
            <a:ext cx="150876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5966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●</a:t>
            </a:r>
            <a:endParaRPr lang="en-US" sz="800" dirty="0"/>
          </a:p>
        </p:txBody>
      </p:sp>
      <p:sp>
        <p:nvSpPr>
          <p:cNvPr id="299" name="Shape 297"/>
          <p:cNvSpPr/>
          <p:nvPr/>
        </p:nvSpPr>
        <p:spPr>
          <a:xfrm>
            <a:off x="4663440" y="3857854"/>
            <a:ext cx="1508760" cy="130759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300" name="Text 298"/>
          <p:cNvSpPr/>
          <p:nvPr/>
        </p:nvSpPr>
        <p:spPr>
          <a:xfrm>
            <a:off x="4663440" y="3857854"/>
            <a:ext cx="150876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—</a:t>
            </a:r>
            <a:endParaRPr lang="en-US" sz="800" dirty="0"/>
          </a:p>
        </p:txBody>
      </p:sp>
      <p:sp>
        <p:nvSpPr>
          <p:cNvPr id="301" name="Shape 299"/>
          <p:cNvSpPr/>
          <p:nvPr/>
        </p:nvSpPr>
        <p:spPr>
          <a:xfrm>
            <a:off x="6172200" y="3857854"/>
            <a:ext cx="1508760" cy="130759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302" name="Text 300"/>
          <p:cNvSpPr/>
          <p:nvPr/>
        </p:nvSpPr>
        <p:spPr>
          <a:xfrm>
            <a:off x="6172200" y="3857854"/>
            <a:ext cx="150876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—</a:t>
            </a:r>
            <a:endParaRPr lang="en-US" sz="800" dirty="0"/>
          </a:p>
        </p:txBody>
      </p:sp>
      <p:sp>
        <p:nvSpPr>
          <p:cNvPr id="303" name="Shape 301"/>
          <p:cNvSpPr/>
          <p:nvPr/>
        </p:nvSpPr>
        <p:spPr>
          <a:xfrm>
            <a:off x="7680960" y="3857854"/>
            <a:ext cx="457200" cy="130759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304" name="Text 302"/>
          <p:cNvSpPr/>
          <p:nvPr/>
        </p:nvSpPr>
        <p:spPr>
          <a:xfrm>
            <a:off x="7680960" y="3857854"/>
            <a:ext cx="45720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550" dirty="0"/>
          </a:p>
        </p:txBody>
      </p:sp>
      <p:sp>
        <p:nvSpPr>
          <p:cNvPr id="305" name="Shape 303"/>
          <p:cNvSpPr/>
          <p:nvPr/>
        </p:nvSpPr>
        <p:spPr>
          <a:xfrm>
            <a:off x="274320" y="3988613"/>
            <a:ext cx="1371600" cy="130759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06" name="Text 304"/>
          <p:cNvSpPr/>
          <p:nvPr/>
        </p:nvSpPr>
        <p:spPr>
          <a:xfrm>
            <a:off x="301752" y="3988613"/>
            <a:ext cx="1316736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数字化办公</a:t>
            </a:r>
            <a:endParaRPr lang="en-US" sz="550" dirty="0"/>
          </a:p>
        </p:txBody>
      </p:sp>
      <p:sp>
        <p:nvSpPr>
          <p:cNvPr id="307" name="Shape 305"/>
          <p:cNvSpPr/>
          <p:nvPr/>
        </p:nvSpPr>
        <p:spPr>
          <a:xfrm>
            <a:off x="1645920" y="3988613"/>
            <a:ext cx="1508760" cy="130759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08" name="Text 306"/>
          <p:cNvSpPr/>
          <p:nvPr/>
        </p:nvSpPr>
        <p:spPr>
          <a:xfrm>
            <a:off x="1645920" y="3988613"/>
            <a:ext cx="150876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—</a:t>
            </a:r>
            <a:endParaRPr lang="en-US" sz="800" dirty="0"/>
          </a:p>
        </p:txBody>
      </p:sp>
      <p:sp>
        <p:nvSpPr>
          <p:cNvPr id="309" name="Shape 307"/>
          <p:cNvSpPr/>
          <p:nvPr/>
        </p:nvSpPr>
        <p:spPr>
          <a:xfrm>
            <a:off x="3154680" y="3988613"/>
            <a:ext cx="1508760" cy="130759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10" name="Text 308"/>
          <p:cNvSpPr/>
          <p:nvPr/>
        </p:nvSpPr>
        <p:spPr>
          <a:xfrm>
            <a:off x="3154680" y="3988613"/>
            <a:ext cx="150876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5966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●</a:t>
            </a:r>
            <a:endParaRPr lang="en-US" sz="800" dirty="0"/>
          </a:p>
        </p:txBody>
      </p:sp>
      <p:sp>
        <p:nvSpPr>
          <p:cNvPr id="311" name="Shape 309"/>
          <p:cNvSpPr/>
          <p:nvPr/>
        </p:nvSpPr>
        <p:spPr>
          <a:xfrm>
            <a:off x="4663440" y="3988613"/>
            <a:ext cx="1508760" cy="130759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12" name="Text 310"/>
          <p:cNvSpPr/>
          <p:nvPr/>
        </p:nvSpPr>
        <p:spPr>
          <a:xfrm>
            <a:off x="4663440" y="3988613"/>
            <a:ext cx="150876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9770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●</a:t>
            </a:r>
            <a:endParaRPr lang="en-US" sz="800" dirty="0"/>
          </a:p>
        </p:txBody>
      </p:sp>
      <p:sp>
        <p:nvSpPr>
          <p:cNvPr id="313" name="Shape 311"/>
          <p:cNvSpPr/>
          <p:nvPr/>
        </p:nvSpPr>
        <p:spPr>
          <a:xfrm>
            <a:off x="6172200" y="3988613"/>
            <a:ext cx="1508760" cy="130759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14" name="Text 312"/>
          <p:cNvSpPr/>
          <p:nvPr/>
        </p:nvSpPr>
        <p:spPr>
          <a:xfrm>
            <a:off x="6172200" y="3988613"/>
            <a:ext cx="150876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—</a:t>
            </a:r>
            <a:endParaRPr lang="en-US" sz="800" dirty="0"/>
          </a:p>
        </p:txBody>
      </p:sp>
      <p:sp>
        <p:nvSpPr>
          <p:cNvPr id="315" name="Shape 313"/>
          <p:cNvSpPr/>
          <p:nvPr/>
        </p:nvSpPr>
        <p:spPr>
          <a:xfrm>
            <a:off x="7680960" y="3988613"/>
            <a:ext cx="457200" cy="130759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16" name="Text 314"/>
          <p:cNvSpPr/>
          <p:nvPr/>
        </p:nvSpPr>
        <p:spPr>
          <a:xfrm>
            <a:off x="7680960" y="3988613"/>
            <a:ext cx="45720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550" dirty="0"/>
          </a:p>
        </p:txBody>
      </p:sp>
      <p:sp>
        <p:nvSpPr>
          <p:cNvPr id="317" name="Shape 315"/>
          <p:cNvSpPr/>
          <p:nvPr/>
        </p:nvSpPr>
        <p:spPr>
          <a:xfrm>
            <a:off x="274320" y="4119372"/>
            <a:ext cx="1371600" cy="130759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318" name="Text 316"/>
          <p:cNvSpPr/>
          <p:nvPr/>
        </p:nvSpPr>
        <p:spPr>
          <a:xfrm>
            <a:off x="301752" y="4119372"/>
            <a:ext cx="1316736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访客/门禁管理</a:t>
            </a:r>
            <a:endParaRPr lang="en-US" sz="550" dirty="0"/>
          </a:p>
        </p:txBody>
      </p:sp>
      <p:sp>
        <p:nvSpPr>
          <p:cNvPr id="319" name="Shape 317"/>
          <p:cNvSpPr/>
          <p:nvPr/>
        </p:nvSpPr>
        <p:spPr>
          <a:xfrm>
            <a:off x="1645920" y="4119372"/>
            <a:ext cx="1508760" cy="130759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320" name="Text 318"/>
          <p:cNvSpPr/>
          <p:nvPr/>
        </p:nvSpPr>
        <p:spPr>
          <a:xfrm>
            <a:off x="1645920" y="4119372"/>
            <a:ext cx="150876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—</a:t>
            </a:r>
            <a:endParaRPr lang="en-US" sz="800" dirty="0"/>
          </a:p>
        </p:txBody>
      </p:sp>
      <p:sp>
        <p:nvSpPr>
          <p:cNvPr id="321" name="Shape 319"/>
          <p:cNvSpPr/>
          <p:nvPr/>
        </p:nvSpPr>
        <p:spPr>
          <a:xfrm>
            <a:off x="3154680" y="4119372"/>
            <a:ext cx="1508760" cy="130759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322" name="Text 320"/>
          <p:cNvSpPr/>
          <p:nvPr/>
        </p:nvSpPr>
        <p:spPr>
          <a:xfrm>
            <a:off x="3154680" y="4119372"/>
            <a:ext cx="150876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5966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●</a:t>
            </a:r>
            <a:endParaRPr lang="en-US" sz="800" dirty="0"/>
          </a:p>
        </p:txBody>
      </p:sp>
      <p:sp>
        <p:nvSpPr>
          <p:cNvPr id="323" name="Shape 321"/>
          <p:cNvSpPr/>
          <p:nvPr/>
        </p:nvSpPr>
        <p:spPr>
          <a:xfrm>
            <a:off x="4663440" y="4119372"/>
            <a:ext cx="1508760" cy="130759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324" name="Text 322"/>
          <p:cNvSpPr/>
          <p:nvPr/>
        </p:nvSpPr>
        <p:spPr>
          <a:xfrm>
            <a:off x="4663440" y="4119372"/>
            <a:ext cx="150876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9770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●</a:t>
            </a:r>
            <a:endParaRPr lang="en-US" sz="800" dirty="0"/>
          </a:p>
        </p:txBody>
      </p:sp>
      <p:sp>
        <p:nvSpPr>
          <p:cNvPr id="325" name="Shape 323"/>
          <p:cNvSpPr/>
          <p:nvPr/>
        </p:nvSpPr>
        <p:spPr>
          <a:xfrm>
            <a:off x="6172200" y="4119372"/>
            <a:ext cx="1508760" cy="130759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326" name="Text 324"/>
          <p:cNvSpPr/>
          <p:nvPr/>
        </p:nvSpPr>
        <p:spPr>
          <a:xfrm>
            <a:off x="6172200" y="4119372"/>
            <a:ext cx="150876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—</a:t>
            </a:r>
            <a:endParaRPr lang="en-US" sz="800" dirty="0"/>
          </a:p>
        </p:txBody>
      </p:sp>
      <p:sp>
        <p:nvSpPr>
          <p:cNvPr id="327" name="Shape 325"/>
          <p:cNvSpPr/>
          <p:nvPr/>
        </p:nvSpPr>
        <p:spPr>
          <a:xfrm>
            <a:off x="7680960" y="4119372"/>
            <a:ext cx="457200" cy="130759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328" name="Text 326"/>
          <p:cNvSpPr/>
          <p:nvPr/>
        </p:nvSpPr>
        <p:spPr>
          <a:xfrm>
            <a:off x="7680960" y="4119372"/>
            <a:ext cx="45720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550" dirty="0"/>
          </a:p>
        </p:txBody>
      </p:sp>
      <p:sp>
        <p:nvSpPr>
          <p:cNvPr id="329" name="Shape 327"/>
          <p:cNvSpPr/>
          <p:nvPr/>
        </p:nvSpPr>
        <p:spPr>
          <a:xfrm>
            <a:off x="274320" y="4250131"/>
            <a:ext cx="1371600" cy="130759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30" name="Text 328"/>
          <p:cNvSpPr/>
          <p:nvPr/>
        </p:nvSpPr>
        <p:spPr>
          <a:xfrm>
            <a:off x="301752" y="4250131"/>
            <a:ext cx="1316736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园区宣传/公告</a:t>
            </a:r>
            <a:endParaRPr lang="en-US" sz="550" dirty="0"/>
          </a:p>
        </p:txBody>
      </p:sp>
      <p:sp>
        <p:nvSpPr>
          <p:cNvPr id="331" name="Shape 329"/>
          <p:cNvSpPr/>
          <p:nvPr/>
        </p:nvSpPr>
        <p:spPr>
          <a:xfrm>
            <a:off x="1645920" y="4250131"/>
            <a:ext cx="1508760" cy="130759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32" name="Text 330"/>
          <p:cNvSpPr/>
          <p:nvPr/>
        </p:nvSpPr>
        <p:spPr>
          <a:xfrm>
            <a:off x="1645920" y="4250131"/>
            <a:ext cx="150876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563E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●</a:t>
            </a:r>
            <a:endParaRPr lang="en-US" sz="800" dirty="0"/>
          </a:p>
        </p:txBody>
      </p:sp>
      <p:sp>
        <p:nvSpPr>
          <p:cNvPr id="333" name="Shape 331"/>
          <p:cNvSpPr/>
          <p:nvPr/>
        </p:nvSpPr>
        <p:spPr>
          <a:xfrm>
            <a:off x="3154680" y="4250131"/>
            <a:ext cx="1508760" cy="130759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34" name="Text 332"/>
          <p:cNvSpPr/>
          <p:nvPr/>
        </p:nvSpPr>
        <p:spPr>
          <a:xfrm>
            <a:off x="3154680" y="4250131"/>
            <a:ext cx="150876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5966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●</a:t>
            </a:r>
            <a:endParaRPr lang="en-US" sz="800" dirty="0"/>
          </a:p>
        </p:txBody>
      </p:sp>
      <p:sp>
        <p:nvSpPr>
          <p:cNvPr id="335" name="Shape 333"/>
          <p:cNvSpPr/>
          <p:nvPr/>
        </p:nvSpPr>
        <p:spPr>
          <a:xfrm>
            <a:off x="4663440" y="4250131"/>
            <a:ext cx="1508760" cy="130759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36" name="Text 334"/>
          <p:cNvSpPr/>
          <p:nvPr/>
        </p:nvSpPr>
        <p:spPr>
          <a:xfrm>
            <a:off x="4663440" y="4250131"/>
            <a:ext cx="150876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9770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●</a:t>
            </a:r>
            <a:endParaRPr lang="en-US" sz="800" dirty="0"/>
          </a:p>
        </p:txBody>
      </p:sp>
      <p:sp>
        <p:nvSpPr>
          <p:cNvPr id="337" name="Shape 335"/>
          <p:cNvSpPr/>
          <p:nvPr/>
        </p:nvSpPr>
        <p:spPr>
          <a:xfrm>
            <a:off x="6172200" y="4250131"/>
            <a:ext cx="1508760" cy="130759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38" name="Text 336"/>
          <p:cNvSpPr/>
          <p:nvPr/>
        </p:nvSpPr>
        <p:spPr>
          <a:xfrm>
            <a:off x="6172200" y="4250131"/>
            <a:ext cx="150876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C3AED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●</a:t>
            </a:r>
            <a:endParaRPr lang="en-US" sz="800" dirty="0"/>
          </a:p>
        </p:txBody>
      </p:sp>
      <p:sp>
        <p:nvSpPr>
          <p:cNvPr id="339" name="Shape 337"/>
          <p:cNvSpPr/>
          <p:nvPr/>
        </p:nvSpPr>
        <p:spPr>
          <a:xfrm>
            <a:off x="7680960" y="4250131"/>
            <a:ext cx="457200" cy="130759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40" name="Text 338"/>
          <p:cNvSpPr/>
          <p:nvPr/>
        </p:nvSpPr>
        <p:spPr>
          <a:xfrm>
            <a:off x="7680960" y="4250131"/>
            <a:ext cx="45720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550" dirty="0"/>
          </a:p>
        </p:txBody>
      </p:sp>
      <p:sp>
        <p:nvSpPr>
          <p:cNvPr id="341" name="Shape 339"/>
          <p:cNvSpPr/>
          <p:nvPr/>
        </p:nvSpPr>
        <p:spPr>
          <a:xfrm>
            <a:off x="274320" y="4380890"/>
            <a:ext cx="1371600" cy="130759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342" name="Text 340"/>
          <p:cNvSpPr/>
          <p:nvPr/>
        </p:nvSpPr>
        <p:spPr>
          <a:xfrm>
            <a:off x="301752" y="4380890"/>
            <a:ext cx="1316736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数字化活动</a:t>
            </a:r>
            <a:endParaRPr lang="en-US" sz="550" dirty="0"/>
          </a:p>
        </p:txBody>
      </p:sp>
      <p:sp>
        <p:nvSpPr>
          <p:cNvPr id="343" name="Shape 341"/>
          <p:cNvSpPr/>
          <p:nvPr/>
        </p:nvSpPr>
        <p:spPr>
          <a:xfrm>
            <a:off x="1645920" y="4380890"/>
            <a:ext cx="1508760" cy="130759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344" name="Text 342"/>
          <p:cNvSpPr/>
          <p:nvPr/>
        </p:nvSpPr>
        <p:spPr>
          <a:xfrm>
            <a:off x="1645920" y="4380890"/>
            <a:ext cx="150876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—</a:t>
            </a:r>
            <a:endParaRPr lang="en-US" sz="800" dirty="0"/>
          </a:p>
        </p:txBody>
      </p:sp>
      <p:sp>
        <p:nvSpPr>
          <p:cNvPr id="345" name="Shape 343"/>
          <p:cNvSpPr/>
          <p:nvPr/>
        </p:nvSpPr>
        <p:spPr>
          <a:xfrm>
            <a:off x="3154680" y="4380890"/>
            <a:ext cx="1508760" cy="130759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346" name="Text 344"/>
          <p:cNvSpPr/>
          <p:nvPr/>
        </p:nvSpPr>
        <p:spPr>
          <a:xfrm>
            <a:off x="3154680" y="4380890"/>
            <a:ext cx="150876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5966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●</a:t>
            </a:r>
            <a:endParaRPr lang="en-US" sz="800" dirty="0"/>
          </a:p>
        </p:txBody>
      </p:sp>
      <p:sp>
        <p:nvSpPr>
          <p:cNvPr id="347" name="Shape 345"/>
          <p:cNvSpPr/>
          <p:nvPr/>
        </p:nvSpPr>
        <p:spPr>
          <a:xfrm>
            <a:off x="4663440" y="4380890"/>
            <a:ext cx="1508760" cy="130759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348" name="Text 346"/>
          <p:cNvSpPr/>
          <p:nvPr/>
        </p:nvSpPr>
        <p:spPr>
          <a:xfrm>
            <a:off x="4663440" y="4380890"/>
            <a:ext cx="150876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9770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●</a:t>
            </a:r>
            <a:endParaRPr lang="en-US" sz="800" dirty="0"/>
          </a:p>
        </p:txBody>
      </p:sp>
      <p:sp>
        <p:nvSpPr>
          <p:cNvPr id="349" name="Shape 347"/>
          <p:cNvSpPr/>
          <p:nvPr/>
        </p:nvSpPr>
        <p:spPr>
          <a:xfrm>
            <a:off x="6172200" y="4380890"/>
            <a:ext cx="1508760" cy="130759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350" name="Text 348"/>
          <p:cNvSpPr/>
          <p:nvPr/>
        </p:nvSpPr>
        <p:spPr>
          <a:xfrm>
            <a:off x="6172200" y="4380890"/>
            <a:ext cx="150876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—</a:t>
            </a:r>
            <a:endParaRPr lang="en-US" sz="800" dirty="0"/>
          </a:p>
        </p:txBody>
      </p:sp>
      <p:sp>
        <p:nvSpPr>
          <p:cNvPr id="351" name="Shape 349"/>
          <p:cNvSpPr/>
          <p:nvPr/>
        </p:nvSpPr>
        <p:spPr>
          <a:xfrm>
            <a:off x="7680960" y="4380890"/>
            <a:ext cx="457200" cy="130759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352" name="Text 350"/>
          <p:cNvSpPr/>
          <p:nvPr/>
        </p:nvSpPr>
        <p:spPr>
          <a:xfrm>
            <a:off x="7680960" y="4380890"/>
            <a:ext cx="457200" cy="1307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550" dirty="0"/>
          </a:p>
        </p:txBody>
      </p:sp>
      <p:sp>
        <p:nvSpPr>
          <p:cNvPr id="353" name="Shape 351"/>
          <p:cNvSpPr/>
          <p:nvPr/>
        </p:nvSpPr>
        <p:spPr>
          <a:xfrm>
            <a:off x="457200" y="4557370"/>
            <a:ext cx="8229600" cy="146304"/>
          </a:xfrm>
          <a:prstGeom prst="roundRect">
            <a:avLst>
              <a:gd name="adj" fmla="val 25000"/>
            </a:avLst>
          </a:prstGeom>
          <a:solidFill>
            <a:srgbClr val="0F172A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354" name="Text 352"/>
          <p:cNvSpPr/>
          <p:nvPr/>
        </p:nvSpPr>
        <p:spPr>
          <a:xfrm>
            <a:off x="640080" y="4557370"/>
            <a:ext cx="786384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● 主要功能  — 无直接关联   |   总计28个功能模块覆盖四大角色</a:t>
            </a:r>
            <a:endParaRPr lang="en-US" sz="700" dirty="0"/>
          </a:p>
        </p:txBody>
      </p:sp>
      <p:sp>
        <p:nvSpPr>
          <p:cNvPr id="355" name="Shape 353"/>
          <p:cNvSpPr/>
          <p:nvPr/>
        </p:nvSpPr>
        <p:spPr>
          <a:xfrm>
            <a:off x="8503920" y="4663440"/>
            <a:ext cx="320040" cy="320040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356" name="Text 354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投资与效益分析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548640"/>
            <a:ext cx="640080" cy="2286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5" name="Shape 3"/>
          <p:cNvSpPr/>
          <p:nvPr/>
        </p:nvSpPr>
        <p:spPr>
          <a:xfrm>
            <a:off x="7498080" y="73152"/>
            <a:ext cx="457200" cy="201168"/>
          </a:xfrm>
          <a:prstGeom prst="parallelogram">
            <a:avLst/>
          </a:prstGeom>
          <a:solidFill>
            <a:srgbClr val="F59E0B">
              <a:alpha val="75000"/>
            </a:srgbClr>
          </a:solidFill>
        </p:spPr>
      </p:sp>
      <p:sp>
        <p:nvSpPr>
          <p:cNvPr id="6" name="Shape 4"/>
          <p:cNvSpPr/>
          <p:nvPr/>
        </p:nvSpPr>
        <p:spPr>
          <a:xfrm>
            <a:off x="8046720" y="73152"/>
            <a:ext cx="457200" cy="201168"/>
          </a:xfrm>
          <a:prstGeom prst="parallelogram">
            <a:avLst/>
          </a:prstGeom>
          <a:solidFill>
            <a:srgbClr val="F59E0B">
              <a:alpha val="55000"/>
            </a:srgbClr>
          </a:solidFill>
        </p:spPr>
      </p:sp>
      <p:sp>
        <p:nvSpPr>
          <p:cNvPr id="7" name="Shape 5"/>
          <p:cNvSpPr/>
          <p:nvPr/>
        </p:nvSpPr>
        <p:spPr>
          <a:xfrm>
            <a:off x="457200" y="685800"/>
            <a:ext cx="82296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685800"/>
            <a:ext cx="8229600" cy="54864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9" name="Text 7"/>
          <p:cNvSpPr/>
          <p:nvPr/>
        </p:nvSpPr>
        <p:spPr>
          <a:xfrm>
            <a:off x="640080" y="777240"/>
            <a:ext cx="45720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智慧平台建设总投资概算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960120"/>
            <a:ext cx="3657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¥4,178,800.00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389120" y="1097280"/>
            <a:ext cx="914400" cy="365760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元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1856232"/>
            <a:ext cx="45720" cy="45720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13" name="Text 11"/>
          <p:cNvSpPr/>
          <p:nvPr/>
        </p:nvSpPr>
        <p:spPr>
          <a:xfrm>
            <a:off x="685800" y="1783080"/>
            <a:ext cx="3200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道路交通安全与地灾监控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931920" y="1783080"/>
            <a:ext cx="11887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D9770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¥1,580,000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212080" y="1837944"/>
            <a:ext cx="2286000" cy="109728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212080" y="1837944"/>
            <a:ext cx="868680" cy="10972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589520" y="1783080"/>
            <a:ext cx="6400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38%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548640" y="2203704"/>
            <a:ext cx="45720" cy="45720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19" name="Text 17"/>
          <p:cNvSpPr/>
          <p:nvPr/>
        </p:nvSpPr>
        <p:spPr>
          <a:xfrm>
            <a:off x="685800" y="2130552"/>
            <a:ext cx="3200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重点口子环保监控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931920" y="2130552"/>
            <a:ext cx="11887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D9770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¥428,600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212080" y="2185416"/>
            <a:ext cx="2286000" cy="109728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212080" y="2185416"/>
            <a:ext cx="228600" cy="10972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589520" y="2130552"/>
            <a:ext cx="6400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10%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548640" y="2551176"/>
            <a:ext cx="45720" cy="45720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25" name="Text 23"/>
          <p:cNvSpPr/>
          <p:nvPr/>
        </p:nvSpPr>
        <p:spPr>
          <a:xfrm>
            <a:off x="685800" y="2478024"/>
            <a:ext cx="3200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园区形象展示与AI招商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931920" y="2478024"/>
            <a:ext cx="11887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D9770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¥442,200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212080" y="2532888"/>
            <a:ext cx="2286000" cy="109728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212080" y="2532888"/>
            <a:ext cx="251460" cy="10972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589520" y="2478024"/>
            <a:ext cx="6400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11%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548640" y="2898648"/>
            <a:ext cx="45720" cy="45720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31" name="Text 29"/>
          <p:cNvSpPr/>
          <p:nvPr/>
        </p:nvSpPr>
        <p:spPr>
          <a:xfrm>
            <a:off x="685800" y="2825496"/>
            <a:ext cx="3200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企业用能监测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931920" y="2825496"/>
            <a:ext cx="11887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D9770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¥348,000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212080" y="2880360"/>
            <a:ext cx="2286000" cy="109728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212080" y="2880360"/>
            <a:ext cx="182880" cy="10972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589520" y="2825496"/>
            <a:ext cx="6400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8%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548640" y="3246120"/>
            <a:ext cx="45720" cy="45720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37" name="Text 35"/>
          <p:cNvSpPr/>
          <p:nvPr/>
        </p:nvSpPr>
        <p:spPr>
          <a:xfrm>
            <a:off x="685800" y="3172968"/>
            <a:ext cx="3200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智改数转赋能平台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931920" y="3172968"/>
            <a:ext cx="11887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D9770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¥280,000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212080" y="3227832"/>
            <a:ext cx="2286000" cy="109728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212080" y="3227832"/>
            <a:ext cx="160020" cy="10972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589520" y="3172968"/>
            <a:ext cx="6400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7%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548640" y="3593592"/>
            <a:ext cx="45720" cy="45720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43" name="Text 41"/>
          <p:cNvSpPr/>
          <p:nvPr/>
        </p:nvSpPr>
        <p:spPr>
          <a:xfrm>
            <a:off x="685800" y="3520440"/>
            <a:ext cx="3200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一体化数字平台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931920" y="3520440"/>
            <a:ext cx="11887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D9770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¥720,000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5212080" y="3575304"/>
            <a:ext cx="2286000" cy="109728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5212080" y="3575304"/>
            <a:ext cx="388620" cy="10972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7589520" y="3520440"/>
            <a:ext cx="6400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17%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548640" y="3941064"/>
            <a:ext cx="45720" cy="45720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49" name="Text 47"/>
          <p:cNvSpPr/>
          <p:nvPr/>
        </p:nvSpPr>
        <p:spPr>
          <a:xfrm>
            <a:off x="685800" y="3867912"/>
            <a:ext cx="3200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运营服务中心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931920" y="3867912"/>
            <a:ext cx="11887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D9770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¥380,000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5212080" y="3922776"/>
            <a:ext cx="2286000" cy="109728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5212080" y="3922776"/>
            <a:ext cx="205740" cy="10972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7589520" y="3867912"/>
            <a:ext cx="6400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9%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457200" y="4297680"/>
            <a:ext cx="8229600" cy="182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5" name="Text 53"/>
          <p:cNvSpPr/>
          <p:nvPr/>
        </p:nvSpPr>
        <p:spPr>
          <a:xfrm>
            <a:off x="457200" y="4434840"/>
            <a:ext cx="20116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管理效率提升30%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2606040" y="4434840"/>
            <a:ext cx="20116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96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应急响应提升60%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4754880" y="4434840"/>
            <a:ext cx="20116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770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¥20亿+年对接资金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903720" y="4434840"/>
            <a:ext cx="20116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监控覆盖率95%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8503920" y="4663440"/>
            <a:ext cx="320040" cy="320040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60" name="Text 58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21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未来展望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548640"/>
            <a:ext cx="640080" cy="2286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457200" y="603504"/>
            <a:ext cx="77724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以数字为帆，以智慧为桨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498080" y="73152"/>
            <a:ext cx="457200" cy="201168"/>
          </a:xfrm>
          <a:prstGeom prst="parallelogram">
            <a:avLst/>
          </a:prstGeom>
          <a:solidFill>
            <a:srgbClr val="2563EB">
              <a:alpha val="75000"/>
            </a:srgbClr>
          </a:solidFill>
        </p:spPr>
      </p:sp>
      <p:sp>
        <p:nvSpPr>
          <p:cNvPr id="7" name="Shape 5"/>
          <p:cNvSpPr/>
          <p:nvPr/>
        </p:nvSpPr>
        <p:spPr>
          <a:xfrm>
            <a:off x="8046720" y="73152"/>
            <a:ext cx="457200" cy="201168"/>
          </a:xfrm>
          <a:prstGeom prst="parallelogram">
            <a:avLst/>
          </a:prstGeom>
          <a:solidFill>
            <a:srgbClr val="2563EB">
              <a:alpha val="55000"/>
            </a:srgbClr>
          </a:solidFill>
        </p:spPr>
      </p:sp>
      <p:sp>
        <p:nvSpPr>
          <p:cNvPr id="8" name="Shape 6"/>
          <p:cNvSpPr/>
          <p:nvPr/>
        </p:nvSpPr>
        <p:spPr>
          <a:xfrm>
            <a:off x="457200" y="914400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36576" cy="530352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10" name="Shape 8"/>
          <p:cNvSpPr/>
          <p:nvPr/>
        </p:nvSpPr>
        <p:spPr>
          <a:xfrm>
            <a:off x="594360" y="1005840"/>
            <a:ext cx="411480" cy="347472"/>
          </a:xfrm>
          <a:prstGeom prst="parallelogram">
            <a:avLst/>
          </a:prstGeom>
          <a:solidFill>
            <a:srgbClr val="2563EB"/>
          </a:solidFill>
        </p:spPr>
      </p:sp>
      <p:sp>
        <p:nvSpPr>
          <p:cNvPr id="11" name="Text 9"/>
          <p:cNvSpPr/>
          <p:nvPr/>
        </p:nvSpPr>
        <p:spPr>
          <a:xfrm>
            <a:off x="594360" y="1005840"/>
            <a:ext cx="411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43000" y="969264"/>
            <a:ext cx="22860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AIoT深度融合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43000" y="1188720"/>
            <a:ext cx="71323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引入物联网传感设备，实现万物互联、全域感知与智能控制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7200" y="1572768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1572768"/>
            <a:ext cx="36576" cy="530352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16" name="Shape 14"/>
          <p:cNvSpPr/>
          <p:nvPr/>
        </p:nvSpPr>
        <p:spPr>
          <a:xfrm>
            <a:off x="594360" y="1664208"/>
            <a:ext cx="411480" cy="347472"/>
          </a:xfrm>
          <a:prstGeom prst="parallelogram">
            <a:avLst/>
          </a:prstGeom>
          <a:solidFill>
            <a:srgbClr val="059669"/>
          </a:solidFill>
        </p:spPr>
      </p:sp>
      <p:sp>
        <p:nvSpPr>
          <p:cNvPr id="17" name="Text 15"/>
          <p:cNvSpPr/>
          <p:nvPr/>
        </p:nvSpPr>
        <p:spPr>
          <a:xfrm>
            <a:off x="594360" y="1664208"/>
            <a:ext cx="411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1627632"/>
            <a:ext cx="22860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数字孪生园区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43000" y="1847088"/>
            <a:ext cx="71323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1:1三维建模，全要素、全时域可视化运营管理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57200" y="2231136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2231136"/>
            <a:ext cx="36576" cy="530352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22" name="Shape 20"/>
          <p:cNvSpPr/>
          <p:nvPr/>
        </p:nvSpPr>
        <p:spPr>
          <a:xfrm>
            <a:off x="594360" y="2322576"/>
            <a:ext cx="411480" cy="347472"/>
          </a:xfrm>
          <a:prstGeom prst="parallelogram">
            <a:avLst/>
          </a:prstGeom>
          <a:solidFill>
            <a:srgbClr val="D97706"/>
          </a:solidFill>
        </p:spPr>
      </p:sp>
      <p:sp>
        <p:nvSpPr>
          <p:cNvPr id="23" name="Text 21"/>
          <p:cNvSpPr/>
          <p:nvPr/>
        </p:nvSpPr>
        <p:spPr>
          <a:xfrm>
            <a:off x="594360" y="2322576"/>
            <a:ext cx="411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43000" y="2286000"/>
            <a:ext cx="22860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Agent智能化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43000" y="2505456"/>
            <a:ext cx="71323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智能客服、智能调度、智能预警，AI驱动园区自动化运营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57200" y="2889504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2889504"/>
            <a:ext cx="36576" cy="530352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28" name="Shape 26"/>
          <p:cNvSpPr/>
          <p:nvPr/>
        </p:nvSpPr>
        <p:spPr>
          <a:xfrm>
            <a:off x="594360" y="2980944"/>
            <a:ext cx="411480" cy="347472"/>
          </a:xfrm>
          <a:prstGeom prst="parallelogram">
            <a:avLst/>
          </a:prstGeom>
          <a:solidFill>
            <a:srgbClr val="7C3AED"/>
          </a:solidFill>
        </p:spPr>
      </p:sp>
      <p:sp>
        <p:nvSpPr>
          <p:cNvPr id="29" name="Text 27"/>
          <p:cNvSpPr/>
          <p:nvPr/>
        </p:nvSpPr>
        <p:spPr>
          <a:xfrm>
            <a:off x="594360" y="2980944"/>
            <a:ext cx="411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143000" y="2944368"/>
            <a:ext cx="22860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产业大脑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143000" y="3163824"/>
            <a:ext cx="71323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基于大数据与AI算法辅助产业招商决策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57200" y="3547872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7200" y="3547872"/>
            <a:ext cx="36576" cy="530352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34" name="Shape 32"/>
          <p:cNvSpPr/>
          <p:nvPr/>
        </p:nvSpPr>
        <p:spPr>
          <a:xfrm>
            <a:off x="594360" y="3639312"/>
            <a:ext cx="411480" cy="347472"/>
          </a:xfrm>
          <a:prstGeom prst="parallelogram">
            <a:avLst/>
          </a:prstGeom>
          <a:solidFill>
            <a:srgbClr val="F59E0B"/>
          </a:solidFill>
        </p:spPr>
      </p:sp>
      <p:sp>
        <p:nvSpPr>
          <p:cNvPr id="35" name="Text 33"/>
          <p:cNvSpPr/>
          <p:nvPr/>
        </p:nvSpPr>
        <p:spPr>
          <a:xfrm>
            <a:off x="594360" y="3639312"/>
            <a:ext cx="411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5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143000" y="3602736"/>
            <a:ext cx="22860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跨园区协同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143000" y="3822192"/>
            <a:ext cx="71323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对接省市智慧平台，实现数据共享与业务协同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57200" y="4297680"/>
            <a:ext cx="8229600" cy="13716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9" name="Text 37"/>
          <p:cNvSpPr/>
          <p:nvPr/>
        </p:nvSpPr>
        <p:spPr>
          <a:xfrm>
            <a:off x="457200" y="4434840"/>
            <a:ext cx="8229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驱动园区沿着“省级开发区→绿色园区→国家级经开区培育对象”的航向全速前进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8503920" y="4663440"/>
            <a:ext cx="320040" cy="320040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41" name="Text 39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22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3" name="Shape 1"/>
          <p:cNvSpPr/>
          <p:nvPr/>
        </p:nvSpPr>
        <p:spPr>
          <a:xfrm>
            <a:off x="2743200" y="457200"/>
            <a:ext cx="3657600" cy="3657600"/>
          </a:xfrm>
          <a:prstGeom prst="ellipse">
            <a:avLst/>
          </a:prstGeom>
          <a:solidFill>
            <a:srgbClr val="EFF6FF"/>
          </a:solidFill>
        </p:spPr>
      </p:sp>
      <p:sp>
        <p:nvSpPr>
          <p:cNvPr id="5" name="Text 3"/>
          <p:cNvSpPr/>
          <p:nvPr/>
        </p:nvSpPr>
        <p:spPr>
          <a:xfrm>
            <a:off x="914400" y="1097280"/>
            <a:ext cx="73152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感谢</a:t>
            </a:r>
            <a:r>
              <a:rPr lang="zh-CN" altLang="en-US" sz="34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倾</a:t>
            </a:r>
            <a:r>
              <a:rPr lang="en-US" sz="34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听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840480" y="1828800"/>
            <a:ext cx="1463040" cy="27432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7" name="Text 5"/>
          <p:cNvSpPr/>
          <p:nvPr/>
        </p:nvSpPr>
        <p:spPr>
          <a:xfrm>
            <a:off x="914400" y="196596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以数字为帆，以智慧为桨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10896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四川青川经济开发区管理委员会</a:t>
            </a:r>
            <a:endParaRPr lang="en-US" sz="1000" dirty="0">
              <a:solidFill>
                <a:srgbClr val="64748B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914400" y="342900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技术支持：中国移动通信集团四川有限公司青川分公司</a:t>
            </a:r>
            <a:endParaRPr lang="en-US" sz="1000" dirty="0">
              <a:solidFill>
                <a:srgbClr val="64748B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14400" y="374904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地址：四川省广元市青川县竹园镇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5130</Words>
  <Application>WPS 表格</Application>
  <PresentationFormat>On-screen Show (16:9)</PresentationFormat>
  <Paragraphs>1406</Paragraphs>
  <Slides>23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40" baseType="lpstr">
      <vt:lpstr>Arial</vt:lpstr>
      <vt:lpstr>宋体</vt:lpstr>
      <vt:lpstr>Wingdings</vt:lpstr>
      <vt:lpstr>微软雅黑</vt:lpstr>
      <vt:lpstr>汉仪旗黑</vt:lpstr>
      <vt:lpstr>微软雅黑</vt:lpstr>
      <vt:lpstr>微软雅黑</vt:lpstr>
      <vt:lpstr>Arial</vt:lpstr>
      <vt:lpstr>Arial</vt:lpstr>
      <vt:lpstr>Calibri</vt:lpstr>
      <vt:lpstr>Helvetica Neue</vt:lpstr>
      <vt:lpstr>宋体</vt:lpstr>
      <vt:lpstr>Arial Unicode MS</vt:lpstr>
      <vt:lpstr>等线</vt:lpstr>
      <vt:lpstr>汉仪中等线KW</vt:lpstr>
      <vt:lpstr>汉仪书宋二KW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青川县庄子上工业园区智慧平台产品介绍</dc:title>
  <dc:creator>青迅科技</dc:creator>
  <dc:subject>PptxGenJS Presentation</dc:subject>
  <cp:lastModifiedBy>虾哥</cp:lastModifiedBy>
  <cp:revision>6</cp:revision>
  <dcterms:created xsi:type="dcterms:W3CDTF">2026-05-12T06:43:35Z</dcterms:created>
  <dcterms:modified xsi:type="dcterms:W3CDTF">2026-05-12T06:43:35Z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2052-12.1.25869.25869</vt:lpwstr>
  </property>
  <property fmtid="{D5CDD505-2E9C-101B-9397-08002B2CF9AE}" pid="3" name="ICV">
    <vt:lpwstr>C6CFF6CF989FADA758C9026ABA158E05_42</vt:lpwstr>
  </property>
</Properties>
</file>