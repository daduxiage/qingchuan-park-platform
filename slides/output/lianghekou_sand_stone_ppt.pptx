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91440"/>
            <a:ext cx="457200" cy="228600"/>
          </a:xfrm>
          <a:prstGeom prst="parallelogram">
            <a:avLst/>
          </a:prstGeom>
          <a:solidFill>
            <a:srgbClr val="059669">
              <a:alpha val="7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7498080" y="91440"/>
            <a:ext cx="457200" cy="228600"/>
          </a:xfrm>
          <a:prstGeom prst="parallelogram">
            <a:avLst/>
          </a:prstGeom>
          <a:solidFill>
            <a:srgbClr val="D97706">
              <a:alpha val="7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8046720" y="91440"/>
            <a:ext cx="457200" cy="228600"/>
          </a:xfrm>
          <a:prstGeom prst="parallelogram">
            <a:avLst/>
          </a:prstGeom>
          <a:solidFill>
            <a:srgbClr val="7C3AED">
              <a:alpha val="7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457200" y="457200"/>
            <a:ext cx="54864" cy="25603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6" name="Text 4"/>
          <p:cNvSpPr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两河口砂石智能建造基地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777240"/>
            <a:ext cx="6400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智慧化管控平台产品介绍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BIM+GIS · 数字孪生 · AI视频 · DCS自控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2563EB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10312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智慧管控平台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0" y="210312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059669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0" y="210312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数字孪生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10312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D97706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210312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AI视频分析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210312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7C3AED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210312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DCS自动控制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13436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637280"/>
            <a:ext cx="8229600" cy="13716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9" name="Text 17"/>
          <p:cNvSpPr/>
          <p:nvPr/>
        </p:nvSpPr>
        <p:spPr>
          <a:xfrm>
            <a:off x="731520" y="3225800"/>
            <a:ext cx="2560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砂石行业智能化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3408680"/>
            <a:ext cx="2560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全流程智慧管控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74720" y="3225800"/>
            <a:ext cx="2560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数字孪生建模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0" y="3408680"/>
            <a:ext cx="2560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3D可视化运营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7920" y="3225800"/>
            <a:ext cx="2560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AI视频分析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3408680"/>
            <a:ext cx="2560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智能安全监控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产品目录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965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31520"/>
            <a:ext cx="1965960" cy="54864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" name="Shape 4"/>
          <p:cNvSpPr/>
          <p:nvPr/>
        </p:nvSpPr>
        <p:spPr>
          <a:xfrm>
            <a:off x="548640" y="914400"/>
            <a:ext cx="420624" cy="420624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7" name="Text 5"/>
          <p:cNvSpPr/>
          <p:nvPr/>
        </p:nvSpPr>
        <p:spPr>
          <a:xfrm>
            <a:off x="548640" y="914400"/>
            <a:ext cx="42062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896112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产品概述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124712"/>
            <a:ext cx="1280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背景与架构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463040"/>
            <a:ext cx="178308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1" name="Text 9"/>
          <p:cNvSpPr/>
          <p:nvPr/>
        </p:nvSpPr>
        <p:spPr>
          <a:xfrm>
            <a:off x="566928" y="155448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背景与架构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60320" y="731520"/>
            <a:ext cx="1965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0" y="731520"/>
            <a:ext cx="1965960" cy="5486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4" name="Shape 12"/>
          <p:cNvSpPr/>
          <p:nvPr/>
        </p:nvSpPr>
        <p:spPr>
          <a:xfrm>
            <a:off x="2651760" y="914400"/>
            <a:ext cx="420624" cy="420624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5" name="Text 13"/>
          <p:cNvSpPr/>
          <p:nvPr/>
        </p:nvSpPr>
        <p:spPr>
          <a:xfrm>
            <a:off x="2651760" y="914400"/>
            <a:ext cx="42062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154680" y="896112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核心模块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54680" y="1124712"/>
            <a:ext cx="1280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BIM+GIS / 数字孪生 / AI / DCS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51760" y="1463040"/>
            <a:ext cx="178308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9" name="Text 17"/>
          <p:cNvSpPr/>
          <p:nvPr/>
        </p:nvSpPr>
        <p:spPr>
          <a:xfrm>
            <a:off x="2670048" y="155448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BIM+GIS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70048" y="2139696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数字孪生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670048" y="2432304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670048" y="2724912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AI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670048" y="301752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/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670048" y="3310128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DCS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63440" y="731520"/>
            <a:ext cx="1965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731520"/>
            <a:ext cx="1965960" cy="54864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8" name="Shape 26"/>
          <p:cNvSpPr/>
          <p:nvPr/>
        </p:nvSpPr>
        <p:spPr>
          <a:xfrm>
            <a:off x="4754880" y="914400"/>
            <a:ext cx="420624" cy="420624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29" name="Text 27"/>
          <p:cNvSpPr/>
          <p:nvPr/>
        </p:nvSpPr>
        <p:spPr>
          <a:xfrm>
            <a:off x="4754880" y="914400"/>
            <a:ext cx="42062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257800" y="896112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硬件设备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57800" y="1124712"/>
            <a:ext cx="1280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监控 / 服务器 / 网络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1463040"/>
            <a:ext cx="178308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3" name="Text 31"/>
          <p:cNvSpPr/>
          <p:nvPr/>
        </p:nvSpPr>
        <p:spPr>
          <a:xfrm>
            <a:off x="4773168" y="155448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监控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73168" y="2139696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服务器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73168" y="2432304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73168" y="2724912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网络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766560" y="731520"/>
            <a:ext cx="1965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766560" y="731520"/>
            <a:ext cx="1965960" cy="54864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40" name="Shape 38"/>
          <p:cNvSpPr/>
          <p:nvPr/>
        </p:nvSpPr>
        <p:spPr>
          <a:xfrm>
            <a:off x="6858000" y="914400"/>
            <a:ext cx="420624" cy="420624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41" name="Text 39"/>
          <p:cNvSpPr/>
          <p:nvPr/>
        </p:nvSpPr>
        <p:spPr>
          <a:xfrm>
            <a:off x="6858000" y="914400"/>
            <a:ext cx="42062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04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7360920" y="896112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应用场景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360920" y="1124712"/>
            <a:ext cx="1280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采运销全流程管控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858000" y="1463040"/>
            <a:ext cx="178308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5" name="Text 43"/>
          <p:cNvSpPr/>
          <p:nvPr/>
        </p:nvSpPr>
        <p:spPr>
          <a:xfrm>
            <a:off x="6876288" y="155448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采运销全流程管控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7200" y="2560320"/>
            <a:ext cx="1965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7200" y="2560320"/>
            <a:ext cx="1965960" cy="54864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48" name="Shape 46"/>
          <p:cNvSpPr/>
          <p:nvPr/>
        </p:nvSpPr>
        <p:spPr>
          <a:xfrm>
            <a:off x="548640" y="2743200"/>
            <a:ext cx="420624" cy="420624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49" name="Text 47"/>
          <p:cNvSpPr/>
          <p:nvPr/>
        </p:nvSpPr>
        <p:spPr>
          <a:xfrm>
            <a:off x="548640" y="2743200"/>
            <a:ext cx="42062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05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1051560" y="2724912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案例一览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051560" y="2953512"/>
            <a:ext cx="1280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项目数据与客户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48640" y="3291840"/>
            <a:ext cx="178308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3" name="Text 51"/>
          <p:cNvSpPr/>
          <p:nvPr/>
        </p:nvSpPr>
        <p:spPr>
          <a:xfrm>
            <a:off x="566928" y="338328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项目数据与客户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560320" y="2560320"/>
            <a:ext cx="1965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2560320" y="2560320"/>
            <a:ext cx="1965960" cy="54864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6" name="Shape 54"/>
          <p:cNvSpPr/>
          <p:nvPr/>
        </p:nvSpPr>
        <p:spPr>
          <a:xfrm>
            <a:off x="2651760" y="2743200"/>
            <a:ext cx="420624" cy="420624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57" name="Text 55"/>
          <p:cNvSpPr/>
          <p:nvPr/>
        </p:nvSpPr>
        <p:spPr>
          <a:xfrm>
            <a:off x="2651760" y="2743200"/>
            <a:ext cx="42062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06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3154680" y="2724912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案例详解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3154680" y="2953512"/>
            <a:ext cx="1280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代表性项目展示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651760" y="3291840"/>
            <a:ext cx="178308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1" name="Text 59"/>
          <p:cNvSpPr/>
          <p:nvPr/>
        </p:nvSpPr>
        <p:spPr>
          <a:xfrm>
            <a:off x="2670048" y="338328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代表性项目展示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663440" y="2560320"/>
            <a:ext cx="1965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663440" y="2560320"/>
            <a:ext cx="1965960" cy="54864"/>
          </a:xfrm>
          <a:prstGeom prst="rect">
            <a:avLst/>
          </a:prstGeom>
          <a:solidFill>
            <a:srgbClr val="059669"/>
          </a:solidFill>
        </p:spPr>
        <p:txBody>
          <a:bodyPr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4754880" y="2743200"/>
            <a:ext cx="420624" cy="420624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65" name="Text 63"/>
          <p:cNvSpPr/>
          <p:nvPr/>
        </p:nvSpPr>
        <p:spPr>
          <a:xfrm>
            <a:off x="4754880" y="2743200"/>
            <a:ext cx="42062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07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5257800" y="2724912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产品收益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5257800" y="2953512"/>
            <a:ext cx="1280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价值与效益分析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754880" y="3291840"/>
            <a:ext cx="178308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9" name="Text 67"/>
          <p:cNvSpPr/>
          <p:nvPr/>
        </p:nvSpPr>
        <p:spPr>
          <a:xfrm>
            <a:off x="4773168" y="338328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价值与效益分析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766560" y="2560320"/>
            <a:ext cx="1965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6766560" y="2560320"/>
            <a:ext cx="1965960" cy="5486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72" name="Shape 70"/>
          <p:cNvSpPr/>
          <p:nvPr/>
        </p:nvSpPr>
        <p:spPr>
          <a:xfrm>
            <a:off x="6858000" y="2743200"/>
            <a:ext cx="420624" cy="420624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73" name="Text 71"/>
          <p:cNvSpPr/>
          <p:nvPr/>
        </p:nvSpPr>
        <p:spPr>
          <a:xfrm>
            <a:off x="6858000" y="2743200"/>
            <a:ext cx="42062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08</a:t>
            </a:r>
            <a:endParaRPr lang="en-US" sz="1500" dirty="0"/>
          </a:p>
        </p:txBody>
      </p:sp>
      <p:sp>
        <p:nvSpPr>
          <p:cNvPr id="74" name="Text 72"/>
          <p:cNvSpPr/>
          <p:nvPr/>
        </p:nvSpPr>
        <p:spPr>
          <a:xfrm>
            <a:off x="7360920" y="2724912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未来展望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7360920" y="2953512"/>
            <a:ext cx="1280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发展规划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858000" y="3291840"/>
            <a:ext cx="178308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7" name="Text 75"/>
          <p:cNvSpPr/>
          <p:nvPr/>
        </p:nvSpPr>
        <p:spPr>
          <a:xfrm>
            <a:off x="6876288" y="338328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发展规划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79" name="Text 77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产品概述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640080" cy="228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457200" y="603504"/>
            <a:ext cx="7772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两河口砂石智能建造基地智慧化管控平台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98080" y="73152"/>
            <a:ext cx="457200" cy="201168"/>
          </a:xfrm>
          <a:prstGeom prst="parallelogram">
            <a:avLst/>
          </a:prstGeom>
          <a:solidFill>
            <a:srgbClr val="2563EB">
              <a:alpha val="75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8046720" y="73152"/>
            <a:ext cx="457200" cy="201168"/>
          </a:xfrm>
          <a:prstGeom prst="parallelogram">
            <a:avLst/>
          </a:prstGeom>
          <a:solidFill>
            <a:srgbClr val="2563EB">
              <a:alpha val="55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457200" y="868680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877824"/>
            <a:ext cx="78638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平台致力于构建砂石行业全流程智慧管控体系，集成BIM+GIS数字孪生、AI视频分析、DCS集散控制、物联网监控等核心能力，实现从采矿、生产、运输到销售的全链条数字化管控。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536192"/>
            <a:ext cx="1920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7大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1901952"/>
            <a:ext cx="1920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核心模块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121408"/>
            <a:ext cx="1920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BIM/GIS/AI/DCS等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40080" y="2423160"/>
            <a:ext cx="1554480" cy="1828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5" name="Shape 13"/>
          <p:cNvSpPr/>
          <p:nvPr/>
        </p:nvSpPr>
        <p:spPr>
          <a:xfrm>
            <a:off x="2560320" y="146304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60320" y="1536192"/>
            <a:ext cx="1920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596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20+个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560320" y="1901952"/>
            <a:ext cx="1920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确认案例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2121408"/>
            <a:ext cx="1920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累计多年实践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0" y="2423160"/>
            <a:ext cx="1554480" cy="18288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0" name="Shape 18"/>
          <p:cNvSpPr/>
          <p:nvPr/>
        </p:nvSpPr>
        <p:spPr>
          <a:xfrm>
            <a:off x="4663440" y="146304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1536192"/>
            <a:ext cx="1920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0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10+家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663440" y="1901952"/>
            <a:ext cx="1920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合作客户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2121408"/>
            <a:ext cx="1920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国企/民企全覆盖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846320" y="2423160"/>
            <a:ext cx="1554480" cy="18288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25" name="Shape 23"/>
          <p:cNvSpPr/>
          <p:nvPr/>
        </p:nvSpPr>
        <p:spPr>
          <a:xfrm>
            <a:off x="6766560" y="146304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66560" y="1536192"/>
            <a:ext cx="1920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516%增强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766560" y="1901952"/>
            <a:ext cx="1920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管控能力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66560" y="2121408"/>
            <a:ext cx="1920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数字化转型升级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949440" y="2423160"/>
            <a:ext cx="1554480" cy="1828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0" name="Text 28"/>
          <p:cNvSpPr/>
          <p:nvPr/>
        </p:nvSpPr>
        <p:spPr>
          <a:xfrm>
            <a:off x="457200" y="274320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平台架构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063240"/>
            <a:ext cx="8229600" cy="292608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3063240"/>
            <a:ext cx="1097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展示层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737360" y="3063240"/>
            <a:ext cx="6766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数字孪生3D可视化 | 大屏数据驾驶舱 | 移动端APP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645920" y="3081528"/>
            <a:ext cx="27432" cy="256032"/>
          </a:xfrm>
          <a:prstGeom prst="roundRect">
            <a:avLst>
              <a:gd name="adj" fmla="val 33333"/>
            </a:avLst>
          </a:prstGeom>
          <a:solidFill>
            <a:srgbClr val="FFFFFF">
              <a:alpha val="50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457200" y="3410712"/>
            <a:ext cx="8229600" cy="292608"/>
          </a:xfrm>
          <a:prstGeom prst="roundRect">
            <a:avLst>
              <a:gd name="adj" fmla="val 12500"/>
            </a:avLst>
          </a:prstGeom>
          <a:solidFill>
            <a:srgbClr val="059669"/>
          </a:solidFill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8640" y="3410712"/>
            <a:ext cx="1097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应用层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737360" y="3410712"/>
            <a:ext cx="6766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AI视频分析 | DCS集散控制 | 生产管理 | 安全监控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645920" y="3429000"/>
            <a:ext cx="27432" cy="256032"/>
          </a:xfrm>
          <a:prstGeom prst="roundRect">
            <a:avLst>
              <a:gd name="adj" fmla="val 33333"/>
            </a:avLst>
          </a:prstGeom>
          <a:solidFill>
            <a:srgbClr val="FFFFFF">
              <a:alpha val="50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457200" y="3758184"/>
            <a:ext cx="8229600" cy="292608"/>
          </a:xfrm>
          <a:prstGeom prst="roundRect">
            <a:avLst>
              <a:gd name="adj" fmla="val 12500"/>
            </a:avLst>
          </a:prstGeom>
          <a:solidFill>
            <a:srgbClr val="D97706"/>
          </a:solidFill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48640" y="3758184"/>
            <a:ext cx="1097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数据层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737360" y="3758184"/>
            <a:ext cx="6766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数字孪生引擎 | 物联网数据湖 | 视频分析平台 | GIS地理信息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645920" y="3776472"/>
            <a:ext cx="27432" cy="256032"/>
          </a:xfrm>
          <a:prstGeom prst="roundRect">
            <a:avLst>
              <a:gd name="adj" fmla="val 33333"/>
            </a:avLst>
          </a:prstGeom>
          <a:solidFill>
            <a:srgbClr val="FFFFFF">
              <a:alpha val="50000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457200" y="4105656"/>
            <a:ext cx="8229600" cy="292608"/>
          </a:xfrm>
          <a:prstGeom prst="roundRect">
            <a:avLst>
              <a:gd name="adj" fmla="val 12500"/>
            </a:avLst>
          </a:prstGeom>
          <a:solidFill>
            <a:srgbClr val="7C3AED"/>
          </a:solidFill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48640" y="4105656"/>
            <a:ext cx="1097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设施层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737360" y="4105656"/>
            <a:ext cx="6766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摄像头网络 | 传感器 | 智能表计 | 边缘计算箱 | 雷达测量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645920" y="4123944"/>
            <a:ext cx="27432" cy="256032"/>
          </a:xfrm>
          <a:prstGeom prst="roundRect">
            <a:avLst>
              <a:gd name="adj" fmla="val 33333"/>
            </a:avLst>
          </a:prstGeom>
          <a:solidFill>
            <a:srgbClr val="FFFFFF">
              <a:alpha val="50000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457200" y="4453128"/>
            <a:ext cx="8229600" cy="292608"/>
          </a:xfrm>
          <a:prstGeom prst="roundRect">
            <a:avLst>
              <a:gd name="adj" fmla="val 12500"/>
            </a:avLst>
          </a:prstGeom>
          <a:solidFill>
            <a:srgbClr val="475569"/>
          </a:solidFill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48640" y="4453128"/>
            <a:ext cx="1097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对接层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737360" y="4453128"/>
            <a:ext cx="6766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省水利大数据平台 | 电子采运单 | 生产系统 | 财务系统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1645920" y="4471416"/>
            <a:ext cx="27432" cy="256032"/>
          </a:xfrm>
          <a:prstGeom prst="roundRect">
            <a:avLst>
              <a:gd name="adj" fmla="val 33333"/>
            </a:avLst>
          </a:prstGeom>
          <a:solidFill>
            <a:srgbClr val="FFFFFF">
              <a:alpha val="50000"/>
            </a:srgbClr>
          </a:solidFill>
        </p:spPr>
      </p:sp>
      <p:sp>
        <p:nvSpPr>
          <p:cNvPr id="51" name="Shape 49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52" name="Text 50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核心功能模块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640080" cy="2286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" name="Text 3"/>
          <p:cNvSpPr/>
          <p:nvPr/>
        </p:nvSpPr>
        <p:spPr>
          <a:xfrm>
            <a:off x="457200" y="603504"/>
            <a:ext cx="7772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五大核心能力驱动砂石行业智能化升级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98080" y="73152"/>
            <a:ext cx="457200" cy="201168"/>
          </a:xfrm>
          <a:prstGeom prst="parallelogram">
            <a:avLst/>
          </a:prstGeom>
          <a:solidFill>
            <a:srgbClr val="F59E0B">
              <a:alpha val="75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8046720" y="73152"/>
            <a:ext cx="457200" cy="201168"/>
          </a:xfrm>
          <a:prstGeom prst="parallelogram">
            <a:avLst/>
          </a:prstGeom>
          <a:solidFill>
            <a:srgbClr val="F59E0B">
              <a:alpha val="55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457200" y="86868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868680"/>
            <a:ext cx="3977640" cy="457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0" name="Shape 8"/>
          <p:cNvSpPr/>
          <p:nvPr/>
        </p:nvSpPr>
        <p:spPr>
          <a:xfrm>
            <a:off x="594360" y="1005840"/>
            <a:ext cx="365760" cy="36576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1" name="Text 9"/>
          <p:cNvSpPr/>
          <p:nvPr/>
        </p:nvSpPr>
        <p:spPr>
          <a:xfrm>
            <a:off x="594360" y="10058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978408"/>
            <a:ext cx="3200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BIM+GIS数字孪生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1179576"/>
            <a:ext cx="32004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3D可视化运营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4360" y="1417320"/>
            <a:ext cx="370332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5" name="Text 13"/>
          <p:cNvSpPr/>
          <p:nvPr/>
        </p:nvSpPr>
        <p:spPr>
          <a:xfrm>
            <a:off x="594360" y="1508760"/>
            <a:ext cx="37033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通过BIM建模与GIS地理信息融合，构建砂石厂区1:1三维数字孪生体，实现设备状态、生产过程、环境数据的全要素可视化与实时监控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94360" y="2148840"/>
            <a:ext cx="1097280" cy="164592"/>
          </a:xfrm>
          <a:prstGeom prst="roundRect">
            <a:avLst>
              <a:gd name="adj" fmla="val 11111"/>
            </a:avLst>
          </a:prstGeom>
          <a:solidFill>
            <a:srgbClr val="2563EB"/>
          </a:solidFill>
        </p:spPr>
      </p:sp>
      <p:sp>
        <p:nvSpPr>
          <p:cNvPr id="17" name="Text 15"/>
          <p:cNvSpPr/>
          <p:nvPr/>
        </p:nvSpPr>
        <p:spPr>
          <a:xfrm>
            <a:off x="594360" y="2148840"/>
            <a:ext cx="10972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核心能力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4709160" y="86868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868680"/>
            <a:ext cx="3977640" cy="4572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0" name="Shape 18"/>
          <p:cNvSpPr/>
          <p:nvPr/>
        </p:nvSpPr>
        <p:spPr>
          <a:xfrm>
            <a:off x="4846320" y="1005840"/>
            <a:ext cx="365760" cy="365760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21" name="Text 19"/>
          <p:cNvSpPr/>
          <p:nvPr/>
        </p:nvSpPr>
        <p:spPr>
          <a:xfrm>
            <a:off x="4846320" y="10058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303520" y="978408"/>
            <a:ext cx="3200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DCS集散控制系统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1179576"/>
            <a:ext cx="32004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生产过程自动化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846320" y="1417320"/>
            <a:ext cx="370332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5" name="Text 23"/>
          <p:cNvSpPr/>
          <p:nvPr/>
        </p:nvSpPr>
        <p:spPr>
          <a:xfrm>
            <a:off x="4846320" y="1508760"/>
            <a:ext cx="37033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集成砂石生产线各环节控制系统，实现破碎、筛分、洗涤、传送等工序的集中监控与远程调控，提升生产效率与安全性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846320" y="2148840"/>
            <a:ext cx="1097280" cy="164592"/>
          </a:xfrm>
          <a:prstGeom prst="roundRect">
            <a:avLst>
              <a:gd name="adj" fmla="val 11111"/>
            </a:avLst>
          </a:prstGeom>
          <a:solidFill>
            <a:srgbClr val="059669"/>
          </a:solidFill>
        </p:spPr>
      </p:sp>
      <p:sp>
        <p:nvSpPr>
          <p:cNvPr id="27" name="Text 25"/>
          <p:cNvSpPr/>
          <p:nvPr/>
        </p:nvSpPr>
        <p:spPr>
          <a:xfrm>
            <a:off x="4846320" y="2148840"/>
            <a:ext cx="10972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核心能力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457200" y="86868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868680"/>
            <a:ext cx="3977640" cy="4572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30" name="Shape 28"/>
          <p:cNvSpPr/>
          <p:nvPr/>
        </p:nvSpPr>
        <p:spPr>
          <a:xfrm>
            <a:off x="594360" y="1005840"/>
            <a:ext cx="365760" cy="36576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31" name="Text 29"/>
          <p:cNvSpPr/>
          <p:nvPr/>
        </p:nvSpPr>
        <p:spPr>
          <a:xfrm>
            <a:off x="594360" y="10058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51560" y="978408"/>
            <a:ext cx="3200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AI视频分析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51560" y="1179576"/>
            <a:ext cx="32004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智能安全监控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94360" y="1417320"/>
            <a:ext cx="370332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5" name="Text 33"/>
          <p:cNvSpPr/>
          <p:nvPr/>
        </p:nvSpPr>
        <p:spPr>
          <a:xfrm>
            <a:off x="594360" y="1508760"/>
            <a:ext cx="37033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基于深度学习的视频分析引擎，实现违章作业识别、安全帽检测、车辆识别、边界越界告警、火灾检测等多种AI能力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94360" y="2148840"/>
            <a:ext cx="1097280" cy="164592"/>
          </a:xfrm>
          <a:prstGeom prst="roundRect">
            <a:avLst>
              <a:gd name="adj" fmla="val 11111"/>
            </a:avLst>
          </a:prstGeom>
          <a:solidFill>
            <a:srgbClr val="D97706"/>
          </a:solidFill>
        </p:spPr>
      </p:sp>
      <p:sp>
        <p:nvSpPr>
          <p:cNvPr id="37" name="Text 35"/>
          <p:cNvSpPr/>
          <p:nvPr/>
        </p:nvSpPr>
        <p:spPr>
          <a:xfrm>
            <a:off x="594360" y="2148840"/>
            <a:ext cx="10972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核心能力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4709160" y="256032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9160" y="2560320"/>
            <a:ext cx="3977640" cy="4572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40" name="Shape 38"/>
          <p:cNvSpPr/>
          <p:nvPr/>
        </p:nvSpPr>
        <p:spPr>
          <a:xfrm>
            <a:off x="4846320" y="2697480"/>
            <a:ext cx="365760" cy="36576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41" name="Text 39"/>
          <p:cNvSpPr/>
          <p:nvPr/>
        </p:nvSpPr>
        <p:spPr>
          <a:xfrm>
            <a:off x="4846320" y="269748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303520" y="2670048"/>
            <a:ext cx="3200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AI智能算法平台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03520" y="2871216"/>
            <a:ext cx="32004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多场景算法引擎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846320" y="3108960"/>
            <a:ext cx="370332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5" name="Text 43"/>
          <p:cNvSpPr/>
          <p:nvPr/>
        </p:nvSpPr>
        <p:spPr>
          <a:xfrm>
            <a:off x="4846320" y="3200400"/>
            <a:ext cx="37033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提供超过7种砂石行业专用AI算法，包括车辆识别、人员识别、异常事件、环境检测等，支持边缘计算与云端协同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846320" y="3840480"/>
            <a:ext cx="1097280" cy="164592"/>
          </a:xfrm>
          <a:prstGeom prst="roundRect">
            <a:avLst>
              <a:gd name="adj" fmla="val 11111"/>
            </a:avLst>
          </a:prstGeom>
          <a:solidFill>
            <a:srgbClr val="7C3AED"/>
          </a:solidFill>
        </p:spPr>
      </p:sp>
      <p:sp>
        <p:nvSpPr>
          <p:cNvPr id="47" name="Text 45"/>
          <p:cNvSpPr/>
          <p:nvPr/>
        </p:nvSpPr>
        <p:spPr>
          <a:xfrm>
            <a:off x="4846320" y="3840480"/>
            <a:ext cx="10972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核心能力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57200" y="256032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57200" y="2560320"/>
            <a:ext cx="3977640" cy="457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0" name="Shape 48"/>
          <p:cNvSpPr/>
          <p:nvPr/>
        </p:nvSpPr>
        <p:spPr>
          <a:xfrm>
            <a:off x="594360" y="2697480"/>
            <a:ext cx="365760" cy="36576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51" name="Text 49"/>
          <p:cNvSpPr/>
          <p:nvPr/>
        </p:nvSpPr>
        <p:spPr>
          <a:xfrm>
            <a:off x="594360" y="269748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1051560" y="2670048"/>
            <a:ext cx="3200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物联网监控与设备管理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051560" y="2871216"/>
            <a:ext cx="32004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全域感知联动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94360" y="3108960"/>
            <a:ext cx="3703320" cy="457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5" name="Text 53"/>
          <p:cNvSpPr/>
          <p:nvPr/>
        </p:nvSpPr>
        <p:spPr>
          <a:xfrm>
            <a:off x="594360" y="3200400"/>
            <a:ext cx="37033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集成摄像头、雷达、智能表计、环境传感器等设备，实现对砂石厂区人、车、物、环境的全方位实时感知与智能管理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594360" y="3840480"/>
            <a:ext cx="1097280" cy="164592"/>
          </a:xfrm>
          <a:prstGeom prst="roundRect">
            <a:avLst>
              <a:gd name="adj" fmla="val 11111"/>
            </a:avLst>
          </a:prstGeom>
          <a:solidFill>
            <a:srgbClr val="F59E0B"/>
          </a:solidFill>
        </p:spPr>
      </p:sp>
      <p:sp>
        <p:nvSpPr>
          <p:cNvPr id="57" name="Text 55"/>
          <p:cNvSpPr/>
          <p:nvPr/>
        </p:nvSpPr>
        <p:spPr>
          <a:xfrm>
            <a:off x="594360" y="3840480"/>
            <a:ext cx="10972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核心能力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59" name="Text 57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硬件设备与基础设施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640080" cy="2286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5" name="Text 3"/>
          <p:cNvSpPr/>
          <p:nvPr/>
        </p:nvSpPr>
        <p:spPr>
          <a:xfrm>
            <a:off x="457200" y="603504"/>
            <a:ext cx="7772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三大硬件体系支撑平台运行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98080" y="73152"/>
            <a:ext cx="457200" cy="201168"/>
          </a:xfrm>
          <a:prstGeom prst="parallelogram">
            <a:avLst/>
          </a:prstGeom>
          <a:solidFill>
            <a:srgbClr val="059669">
              <a:alpha val="75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8046720" y="73152"/>
            <a:ext cx="457200" cy="201168"/>
          </a:xfrm>
          <a:prstGeom prst="parallelogram">
            <a:avLst/>
          </a:prstGeom>
          <a:solidFill>
            <a:srgbClr val="059669">
              <a:alpha val="55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7315200" y="91440"/>
            <a:ext cx="548640" cy="274320"/>
          </a:xfrm>
          <a:prstGeom prst="parallelogram">
            <a:avLst/>
          </a:prstGeom>
          <a:solidFill>
            <a:srgbClr val="059669">
              <a:alpha val="70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7955280" y="91440"/>
            <a:ext cx="548640" cy="274320"/>
          </a:xfrm>
          <a:prstGeom prst="parallelogram">
            <a:avLst/>
          </a:prstGeom>
          <a:solidFill>
            <a:srgbClr val="059669">
              <a:alpha val="5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457200" y="77724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777240"/>
            <a:ext cx="2651760" cy="54864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2" name="Text 10"/>
          <p:cNvSpPr/>
          <p:nvPr/>
        </p:nvSpPr>
        <p:spPr>
          <a:xfrm>
            <a:off x="457200" y="868680"/>
            <a:ext cx="26517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监控与感知层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1097280"/>
            <a:ext cx="26517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安全监控与环境感知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1520" y="1325880"/>
            <a:ext cx="2103120" cy="1371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5" name="Shape 13"/>
          <p:cNvSpPr/>
          <p:nvPr/>
        </p:nvSpPr>
        <p:spPr>
          <a:xfrm>
            <a:off x="566928" y="1508760"/>
            <a:ext cx="45720" cy="4572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6" name="Text 14"/>
          <p:cNvSpPr/>
          <p:nvPr/>
        </p:nvSpPr>
        <p:spPr>
          <a:xfrm>
            <a:off x="685800" y="146304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高清摄像头（7台）：400万像素，IP67防护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66928" y="1892808"/>
            <a:ext cx="45720" cy="4572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8" name="Text 16"/>
          <p:cNvSpPr/>
          <p:nvPr/>
        </p:nvSpPr>
        <p:spPr>
          <a:xfrm>
            <a:off x="685800" y="1847088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智能边缘计算箱（12台）：支持AI推理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66928" y="2276856"/>
            <a:ext cx="45720" cy="4572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0" name="Text 18"/>
          <p:cNvSpPr/>
          <p:nvPr/>
        </p:nvSpPr>
        <p:spPr>
          <a:xfrm>
            <a:off x="685800" y="2231136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雷达测量设备：堆料场三维扫描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66928" y="2660904"/>
            <a:ext cx="45720" cy="4572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2" name="Text 20"/>
          <p:cNvSpPr/>
          <p:nvPr/>
        </p:nvSpPr>
        <p:spPr>
          <a:xfrm>
            <a:off x="685800" y="2615184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环境传感器：DCS集成监测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66928" y="3044952"/>
            <a:ext cx="45720" cy="4572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685800" y="2999232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智能表计：能耗/水质/PH监测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337560" y="77724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37560" y="777240"/>
            <a:ext cx="2651760" cy="54864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7" name="Text 25"/>
          <p:cNvSpPr/>
          <p:nvPr/>
        </p:nvSpPr>
        <p:spPr>
          <a:xfrm>
            <a:off x="3337560" y="868680"/>
            <a:ext cx="26517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边缘计算层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1097280"/>
            <a:ext cx="26517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AI算力与数据处理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11880" y="1325880"/>
            <a:ext cx="2103120" cy="13716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30" name="Shape 28"/>
          <p:cNvSpPr/>
          <p:nvPr/>
        </p:nvSpPr>
        <p:spPr>
          <a:xfrm>
            <a:off x="3447288" y="1508760"/>
            <a:ext cx="45720" cy="45720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31" name="Text 29"/>
          <p:cNvSpPr/>
          <p:nvPr/>
        </p:nvSpPr>
        <p:spPr>
          <a:xfrm>
            <a:off x="3566160" y="146304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AI边缘计算服务器：Intel Xeon 4314 + Tesla T4 GPU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447288" y="1892808"/>
            <a:ext cx="45720" cy="45720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33" name="Text 31"/>
          <p:cNvSpPr/>
          <p:nvPr/>
        </p:nvSpPr>
        <p:spPr>
          <a:xfrm>
            <a:off x="3566160" y="1847088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内存32GB DDR5，4TB存储，支持RAID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447288" y="2276856"/>
            <a:ext cx="45720" cy="45720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35" name="Text 33"/>
          <p:cNvSpPr/>
          <p:nvPr/>
        </p:nvSpPr>
        <p:spPr>
          <a:xfrm>
            <a:off x="3566160" y="2231136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可同时处理多路视频流AI分析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447288" y="2660904"/>
            <a:ext cx="45720" cy="45720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37" name="Text 35"/>
          <p:cNvSpPr/>
          <p:nvPr/>
        </p:nvSpPr>
        <p:spPr>
          <a:xfrm>
            <a:off x="3566160" y="2615184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支持本地化部署，低延迟响应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217920" y="77724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17920" y="777240"/>
            <a:ext cx="2651760" cy="54864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40" name="Text 38"/>
          <p:cNvSpPr/>
          <p:nvPr/>
        </p:nvSpPr>
        <p:spPr>
          <a:xfrm>
            <a:off x="6217920" y="868680"/>
            <a:ext cx="26517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网络与通信层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17920" y="1097280"/>
            <a:ext cx="26517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数据传输与设备对接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492240" y="1325880"/>
            <a:ext cx="2103120" cy="13716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43" name="Shape 41"/>
          <p:cNvSpPr/>
          <p:nvPr/>
        </p:nvSpPr>
        <p:spPr>
          <a:xfrm>
            <a:off x="6327648" y="1508760"/>
            <a:ext cx="45720" cy="4572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44" name="Text 42"/>
          <p:cNvSpPr/>
          <p:nvPr/>
        </p:nvSpPr>
        <p:spPr>
          <a:xfrm>
            <a:off x="6446520" y="146304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24口千兆交换机：支持全网管理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327648" y="1892808"/>
            <a:ext cx="45720" cy="4572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46" name="Text 44"/>
          <p:cNvSpPr/>
          <p:nvPr/>
        </p:nvSpPr>
        <p:spPr>
          <a:xfrm>
            <a:off x="6446520" y="1847088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工业网关：多协议对接DCS及物联设备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327648" y="2276856"/>
            <a:ext cx="45720" cy="4572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48" name="Text 46"/>
          <p:cNvSpPr/>
          <p:nvPr/>
        </p:nvSpPr>
        <p:spPr>
          <a:xfrm>
            <a:off x="6446520" y="2231136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控制柜柜（600*1000*2000mm）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327648" y="2660904"/>
            <a:ext cx="45720" cy="4572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50" name="Text 48"/>
          <p:cNvSpPr/>
          <p:nvPr/>
        </p:nvSpPr>
        <p:spPr>
          <a:xfrm>
            <a:off x="6446520" y="2615184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支持以太网/5G/组态网多种通信方式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52" name="Text 50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应用场景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640080" cy="2286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5" name="Text 3"/>
          <p:cNvSpPr/>
          <p:nvPr/>
        </p:nvSpPr>
        <p:spPr>
          <a:xfrm>
            <a:off x="457200" y="603504"/>
            <a:ext cx="7772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覆盖砂石采运销全流程智能化管控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98080" y="73152"/>
            <a:ext cx="457200" cy="201168"/>
          </a:xfrm>
          <a:prstGeom prst="parallelogram">
            <a:avLst/>
          </a:prstGeom>
          <a:solidFill>
            <a:srgbClr val="7C3AED">
              <a:alpha val="75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8046720" y="73152"/>
            <a:ext cx="457200" cy="201168"/>
          </a:xfrm>
          <a:prstGeom prst="parallelogram">
            <a:avLst/>
          </a:prstGeom>
          <a:solidFill>
            <a:srgbClr val="7C3AED">
              <a:alpha val="55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7315200" y="91440"/>
            <a:ext cx="548640" cy="274320"/>
          </a:xfrm>
          <a:prstGeom prst="parallelogram">
            <a:avLst/>
          </a:prstGeom>
          <a:solidFill>
            <a:srgbClr val="7C3AED">
              <a:alpha val="70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7955280" y="91440"/>
            <a:ext cx="548640" cy="274320"/>
          </a:xfrm>
          <a:prstGeom prst="parallelogram">
            <a:avLst/>
          </a:prstGeom>
          <a:solidFill>
            <a:srgbClr val="7C3AED">
              <a:alpha val="5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457200" y="777240"/>
            <a:ext cx="3977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777240"/>
            <a:ext cx="36576" cy="86868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2" name="Shape 10"/>
          <p:cNvSpPr/>
          <p:nvPr/>
        </p:nvSpPr>
        <p:spPr>
          <a:xfrm>
            <a:off x="566928" y="914400"/>
            <a:ext cx="274320" cy="27432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3" name="Text 11"/>
          <p:cNvSpPr/>
          <p:nvPr/>
        </p:nvSpPr>
        <p:spPr>
          <a:xfrm>
            <a:off x="566928" y="91440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868680"/>
            <a:ext cx="3383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生产过程监控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123444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实时监控砂石破碎、筛分、洗涤等工序运行状态，可视化展示生产线运行参数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09160" y="777240"/>
            <a:ext cx="3977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777240"/>
            <a:ext cx="36576" cy="868680"/>
          </a:xfrm>
          <a:prstGeom prst="rect">
            <a:avLst/>
          </a:prstGeom>
          <a:solidFill>
            <a:srgbClr val="6D28D9"/>
          </a:solidFill>
        </p:spPr>
      </p:sp>
      <p:sp>
        <p:nvSpPr>
          <p:cNvPr id="18" name="Shape 16"/>
          <p:cNvSpPr/>
          <p:nvPr/>
        </p:nvSpPr>
        <p:spPr>
          <a:xfrm>
            <a:off x="4818888" y="914400"/>
            <a:ext cx="274320" cy="274320"/>
          </a:xfrm>
          <a:prstGeom prst="ellipse">
            <a:avLst/>
          </a:prstGeom>
          <a:solidFill>
            <a:srgbClr val="6D28D9"/>
          </a:solidFill>
        </p:spPr>
      </p:sp>
      <p:sp>
        <p:nvSpPr>
          <p:cNvPr id="19" name="Text 17"/>
          <p:cNvSpPr/>
          <p:nvPr/>
        </p:nvSpPr>
        <p:spPr>
          <a:xfrm>
            <a:off x="4818888" y="91440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66360" y="868680"/>
            <a:ext cx="3383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安全监控与预警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18888" y="123444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视频AI分析识别违章作业，边界越界告警，智能检测安全帽、火灾等异常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1783080"/>
            <a:ext cx="3977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1783080"/>
            <a:ext cx="36576" cy="868680"/>
          </a:xfrm>
          <a:prstGeom prst="rect">
            <a:avLst/>
          </a:prstGeom>
          <a:solidFill>
            <a:srgbClr val="5B21B6"/>
          </a:solidFill>
        </p:spPr>
      </p:sp>
      <p:sp>
        <p:nvSpPr>
          <p:cNvPr id="24" name="Shape 22"/>
          <p:cNvSpPr/>
          <p:nvPr/>
        </p:nvSpPr>
        <p:spPr>
          <a:xfrm>
            <a:off x="566928" y="1920240"/>
            <a:ext cx="274320" cy="274320"/>
          </a:xfrm>
          <a:prstGeom prst="ellipse">
            <a:avLst/>
          </a:prstGeom>
          <a:solidFill>
            <a:srgbClr val="5B21B6"/>
          </a:solidFill>
        </p:spPr>
      </p:sp>
      <p:sp>
        <p:nvSpPr>
          <p:cNvPr id="25" name="Text 23"/>
          <p:cNvSpPr/>
          <p:nvPr/>
        </p:nvSpPr>
        <p:spPr>
          <a:xfrm>
            <a:off x="566928" y="192024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1874520"/>
            <a:ext cx="3383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21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车辆与物流管理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" y="224028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车辆识别、称重数据联动、车辆轨迹追踪，支持电子采运单联动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09160" y="1783080"/>
            <a:ext cx="3977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1783080"/>
            <a:ext cx="36576" cy="86868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0" name="Shape 28"/>
          <p:cNvSpPr/>
          <p:nvPr/>
        </p:nvSpPr>
        <p:spPr>
          <a:xfrm>
            <a:off x="4818888" y="1920240"/>
            <a:ext cx="274320" cy="27432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31" name="Text 29"/>
          <p:cNvSpPr/>
          <p:nvPr/>
        </p:nvSpPr>
        <p:spPr>
          <a:xfrm>
            <a:off x="4818888" y="192024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66360" y="1874520"/>
            <a:ext cx="3383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环境监测与资源管理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18888" y="224028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尘尘、噪声、水质PH等环境指标实时监测，砂石储量雷达扫描自动计算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2788920"/>
            <a:ext cx="3977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2788920"/>
            <a:ext cx="36576" cy="868680"/>
          </a:xfrm>
          <a:prstGeom prst="rect">
            <a:avLst/>
          </a:prstGeom>
          <a:solidFill>
            <a:srgbClr val="6D28D9"/>
          </a:solidFill>
        </p:spPr>
      </p:sp>
      <p:sp>
        <p:nvSpPr>
          <p:cNvPr id="36" name="Shape 34"/>
          <p:cNvSpPr/>
          <p:nvPr/>
        </p:nvSpPr>
        <p:spPr>
          <a:xfrm>
            <a:off x="566928" y="2926080"/>
            <a:ext cx="274320" cy="274320"/>
          </a:xfrm>
          <a:prstGeom prst="ellipse">
            <a:avLst/>
          </a:prstGeom>
          <a:solidFill>
            <a:srgbClr val="6D28D9"/>
          </a:solidFill>
        </p:spPr>
      </p:sp>
      <p:sp>
        <p:nvSpPr>
          <p:cNvPr id="37" name="Text 35"/>
          <p:cNvSpPr/>
          <p:nvPr/>
        </p:nvSpPr>
        <p:spPr>
          <a:xfrm>
            <a:off x="566928" y="292608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14400" y="2880360"/>
            <a:ext cx="3383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采运单数字化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6928" y="324612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对接省水利大数据平台，电子采运单全流程线上化管理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09160" y="2788920"/>
            <a:ext cx="3977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2788920"/>
            <a:ext cx="36576" cy="86868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42" name="Shape 40"/>
          <p:cNvSpPr/>
          <p:nvPr/>
        </p:nvSpPr>
        <p:spPr>
          <a:xfrm>
            <a:off x="4818888" y="2926080"/>
            <a:ext cx="274320" cy="27432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43" name="Text 41"/>
          <p:cNvSpPr/>
          <p:nvPr/>
        </p:nvSpPr>
        <p:spPr>
          <a:xfrm>
            <a:off x="4818888" y="292608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6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166360" y="2880360"/>
            <a:ext cx="3383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设备维护与远程诊断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18888" y="324612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设备运行状态实时监控，故障预警、远程诊断与维护提示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47" name="Text 45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案例一览 — 项目时间线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640080" cy="2286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5" name="Text 3"/>
          <p:cNvSpPr/>
          <p:nvPr/>
        </p:nvSpPr>
        <p:spPr>
          <a:xfrm>
            <a:off x="457200" y="603504"/>
            <a:ext cx="7772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累计18个确认案例，覆盖18年至25年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98080" y="73152"/>
            <a:ext cx="457200" cy="201168"/>
          </a:xfrm>
          <a:prstGeom prst="parallelogram">
            <a:avLst/>
          </a:prstGeom>
          <a:solidFill>
            <a:srgbClr val="D97706">
              <a:alpha val="75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8046720" y="73152"/>
            <a:ext cx="457200" cy="201168"/>
          </a:xfrm>
          <a:prstGeom prst="parallelogram">
            <a:avLst/>
          </a:prstGeom>
          <a:solidFill>
            <a:srgbClr val="D97706">
              <a:alpha val="55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7315200" y="91440"/>
            <a:ext cx="548640" cy="274320"/>
          </a:xfrm>
          <a:prstGeom prst="parallelogram">
            <a:avLst/>
          </a:prstGeom>
          <a:solidFill>
            <a:srgbClr val="D97706">
              <a:alpha val="70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7955280" y="91440"/>
            <a:ext cx="548640" cy="274320"/>
          </a:xfrm>
          <a:prstGeom prst="parallelogram">
            <a:avLst/>
          </a:prstGeom>
          <a:solidFill>
            <a:srgbClr val="D97706">
              <a:alpha val="5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457200" y="77724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777240"/>
            <a:ext cx="1920240" cy="36576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2" name="Text 10"/>
          <p:cNvSpPr/>
          <p:nvPr/>
        </p:nvSpPr>
        <p:spPr>
          <a:xfrm>
            <a:off x="457200" y="841248"/>
            <a:ext cx="1920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2022年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1051560"/>
            <a:ext cx="1920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砂石数据对接网关项目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68880" y="1097280"/>
            <a:ext cx="137160" cy="109728"/>
          </a:xfrm>
          <a:prstGeom prst="rightArrow">
            <a:avLst/>
          </a:prstGeom>
          <a:solidFill>
            <a:srgbClr val="E2E8F0"/>
          </a:solidFill>
        </p:spPr>
      </p:sp>
      <p:sp>
        <p:nvSpPr>
          <p:cNvPr id="15" name="Shape 13"/>
          <p:cNvSpPr/>
          <p:nvPr/>
        </p:nvSpPr>
        <p:spPr>
          <a:xfrm>
            <a:off x="2560320" y="77724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0" y="777240"/>
            <a:ext cx="1920240" cy="36576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17" name="Text 15"/>
          <p:cNvSpPr/>
          <p:nvPr/>
        </p:nvSpPr>
        <p:spPr>
          <a:xfrm>
            <a:off x="2560320" y="841248"/>
            <a:ext cx="1920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4530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2023年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0320" y="1051560"/>
            <a:ext cx="1920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大数据云平台运维服务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0" y="1097280"/>
            <a:ext cx="137160" cy="109728"/>
          </a:xfrm>
          <a:prstGeom prst="rightArrow">
            <a:avLst/>
          </a:prstGeom>
          <a:solidFill>
            <a:srgbClr val="E2E8F0"/>
          </a:solidFill>
        </p:spPr>
      </p:sp>
      <p:sp>
        <p:nvSpPr>
          <p:cNvPr id="20" name="Shape 18"/>
          <p:cNvSpPr/>
          <p:nvPr/>
        </p:nvSpPr>
        <p:spPr>
          <a:xfrm>
            <a:off x="4663440" y="77724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777240"/>
            <a:ext cx="1920240" cy="36576"/>
          </a:xfrm>
          <a:prstGeom prst="rect">
            <a:avLst/>
          </a:prstGeom>
          <a:solidFill>
            <a:srgbClr val="92400E"/>
          </a:solidFill>
        </p:spPr>
      </p:sp>
      <p:sp>
        <p:nvSpPr>
          <p:cNvPr id="22" name="Text 20"/>
          <p:cNvSpPr/>
          <p:nvPr/>
        </p:nvSpPr>
        <p:spPr>
          <a:xfrm>
            <a:off x="4663440" y="841248"/>
            <a:ext cx="1920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40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2024年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63440" y="1051560"/>
            <a:ext cx="1920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积累12个项目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675120" y="1097280"/>
            <a:ext cx="137160" cy="109728"/>
          </a:xfrm>
          <a:prstGeom prst="rightArrow">
            <a:avLst/>
          </a:prstGeom>
          <a:solidFill>
            <a:srgbClr val="E2E8F0"/>
          </a:solidFill>
        </p:spPr>
      </p:sp>
      <p:sp>
        <p:nvSpPr>
          <p:cNvPr id="25" name="Shape 23"/>
          <p:cNvSpPr/>
          <p:nvPr/>
        </p:nvSpPr>
        <p:spPr>
          <a:xfrm>
            <a:off x="6766560" y="77724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66560" y="777240"/>
            <a:ext cx="1920240" cy="36576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27" name="Text 25"/>
          <p:cNvSpPr/>
          <p:nvPr/>
        </p:nvSpPr>
        <p:spPr>
          <a:xfrm>
            <a:off x="6766560" y="841248"/>
            <a:ext cx="1920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2025年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66560" y="1051560"/>
            <a:ext cx="1920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视频监控+电子围栏+雷达测量等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192024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1920240"/>
            <a:ext cx="27432" cy="73152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31" name="Shape 29"/>
          <p:cNvSpPr/>
          <p:nvPr/>
        </p:nvSpPr>
        <p:spPr>
          <a:xfrm>
            <a:off x="548640" y="2011680"/>
            <a:ext cx="54864" cy="54864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32" name="Text 30"/>
          <p:cNvSpPr/>
          <p:nvPr/>
        </p:nvSpPr>
        <p:spPr>
          <a:xfrm>
            <a:off x="658368" y="1975104"/>
            <a:ext cx="23774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成都空港兴城建材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8640" y="2176272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砂石堆场智慧化管理平台建设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48640" y="2423160"/>
            <a:ext cx="548640" cy="146304"/>
          </a:xfrm>
          <a:prstGeom prst="roundRect">
            <a:avLst>
              <a:gd name="adj" fmla="val 12500"/>
            </a:avLst>
          </a:prstGeom>
          <a:solidFill>
            <a:srgbClr val="FFFBEB"/>
          </a:solidFill>
        </p:spPr>
      </p:sp>
      <p:sp>
        <p:nvSpPr>
          <p:cNvPr id="35" name="Text 33"/>
          <p:cNvSpPr/>
          <p:nvPr/>
        </p:nvSpPr>
        <p:spPr>
          <a:xfrm>
            <a:off x="548640" y="2423160"/>
            <a:ext cx="54864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2022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3291840" y="192024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91840" y="1920240"/>
            <a:ext cx="27432" cy="73152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38" name="Shape 36"/>
          <p:cNvSpPr/>
          <p:nvPr/>
        </p:nvSpPr>
        <p:spPr>
          <a:xfrm>
            <a:off x="3383280" y="2011680"/>
            <a:ext cx="54864" cy="54864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39" name="Text 37"/>
          <p:cNvSpPr/>
          <p:nvPr/>
        </p:nvSpPr>
        <p:spPr>
          <a:xfrm>
            <a:off x="3493008" y="1975104"/>
            <a:ext cx="23774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绵竹建投建材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383280" y="2176272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长江河道砂石电子采运管理单服务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383280" y="2423160"/>
            <a:ext cx="548640" cy="146304"/>
          </a:xfrm>
          <a:prstGeom prst="roundRect">
            <a:avLst>
              <a:gd name="adj" fmla="val 12500"/>
            </a:avLst>
          </a:prstGeom>
          <a:solidFill>
            <a:srgbClr val="FFFBEB"/>
          </a:solidFill>
        </p:spPr>
      </p:sp>
      <p:sp>
        <p:nvSpPr>
          <p:cNvPr id="42" name="Text 40"/>
          <p:cNvSpPr/>
          <p:nvPr/>
        </p:nvSpPr>
        <p:spPr>
          <a:xfrm>
            <a:off x="3383280" y="2423160"/>
            <a:ext cx="54864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6126480" y="192024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26480" y="1920240"/>
            <a:ext cx="27432" cy="73152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45" name="Shape 43"/>
          <p:cNvSpPr/>
          <p:nvPr/>
        </p:nvSpPr>
        <p:spPr>
          <a:xfrm>
            <a:off x="6217920" y="2011680"/>
            <a:ext cx="54864" cy="54864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46" name="Text 44"/>
          <p:cNvSpPr/>
          <p:nvPr/>
        </p:nvSpPr>
        <p:spPr>
          <a:xfrm>
            <a:off x="6327648" y="1975104"/>
            <a:ext cx="23774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绵竹建投建材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217920" y="2176272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堆料场雷达测量项目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217920" y="2423160"/>
            <a:ext cx="548640" cy="146304"/>
          </a:xfrm>
          <a:prstGeom prst="roundRect">
            <a:avLst>
              <a:gd name="adj" fmla="val 12500"/>
            </a:avLst>
          </a:prstGeom>
          <a:solidFill>
            <a:srgbClr val="FFFBEB"/>
          </a:solidFill>
        </p:spPr>
      </p:sp>
      <p:sp>
        <p:nvSpPr>
          <p:cNvPr id="49" name="Text 47"/>
          <p:cNvSpPr/>
          <p:nvPr/>
        </p:nvSpPr>
        <p:spPr>
          <a:xfrm>
            <a:off x="6217920" y="2423160"/>
            <a:ext cx="54864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457200" y="283464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57200" y="2834640"/>
            <a:ext cx="27432" cy="73152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52" name="Shape 50"/>
          <p:cNvSpPr/>
          <p:nvPr/>
        </p:nvSpPr>
        <p:spPr>
          <a:xfrm>
            <a:off x="548640" y="2926080"/>
            <a:ext cx="54864" cy="54864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53" name="Text 51"/>
          <p:cNvSpPr/>
          <p:nvPr/>
        </p:nvSpPr>
        <p:spPr>
          <a:xfrm>
            <a:off x="658368" y="2889504"/>
            <a:ext cx="23774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中国移动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48640" y="3090672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绵竹市采砂视频监控和电子围栏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48640" y="3337560"/>
            <a:ext cx="548640" cy="146304"/>
          </a:xfrm>
          <a:prstGeom prst="roundRect">
            <a:avLst>
              <a:gd name="adj" fmla="val 12500"/>
            </a:avLst>
          </a:prstGeom>
          <a:solidFill>
            <a:srgbClr val="FFFBEB"/>
          </a:solidFill>
        </p:spPr>
      </p:sp>
      <p:sp>
        <p:nvSpPr>
          <p:cNvPr id="56" name="Text 54"/>
          <p:cNvSpPr/>
          <p:nvPr/>
        </p:nvSpPr>
        <p:spPr>
          <a:xfrm>
            <a:off x="548640" y="3337560"/>
            <a:ext cx="54864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3291840" y="283464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291840" y="2834640"/>
            <a:ext cx="27432" cy="73152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59" name="Shape 57"/>
          <p:cNvSpPr/>
          <p:nvPr/>
        </p:nvSpPr>
        <p:spPr>
          <a:xfrm>
            <a:off x="3383280" y="2926080"/>
            <a:ext cx="54864" cy="54864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60" name="Text 58"/>
          <p:cNvSpPr/>
          <p:nvPr/>
        </p:nvSpPr>
        <p:spPr>
          <a:xfrm>
            <a:off x="3493008" y="2889504"/>
            <a:ext cx="23774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</a:t>
            </a:r>
            <a:r>
              <a:rPr lang="zh-CN" altLang="en-US" sz="85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都湔</a:t>
            </a:r>
            <a:r>
              <a:rPr lang="en-US" sz="85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江环境新材料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383280" y="3090672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进销系统硬件设备采购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383280" y="3337560"/>
            <a:ext cx="548640" cy="146304"/>
          </a:xfrm>
          <a:prstGeom prst="roundRect">
            <a:avLst>
              <a:gd name="adj" fmla="val 12500"/>
            </a:avLst>
          </a:prstGeom>
          <a:solidFill>
            <a:srgbClr val="FFFBEB"/>
          </a:solidFill>
        </p:spPr>
      </p:sp>
      <p:sp>
        <p:nvSpPr>
          <p:cNvPr id="63" name="Text 61"/>
          <p:cNvSpPr/>
          <p:nvPr/>
        </p:nvSpPr>
        <p:spPr>
          <a:xfrm>
            <a:off x="3383280" y="3337560"/>
            <a:ext cx="54864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6126480" y="283464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6126480" y="2834640"/>
            <a:ext cx="27432" cy="73152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66" name="Shape 64"/>
          <p:cNvSpPr/>
          <p:nvPr/>
        </p:nvSpPr>
        <p:spPr>
          <a:xfrm>
            <a:off x="6217920" y="2926080"/>
            <a:ext cx="54864" cy="54864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67" name="Text 65"/>
          <p:cNvSpPr/>
          <p:nvPr/>
        </p:nvSpPr>
        <p:spPr>
          <a:xfrm>
            <a:off x="6327648" y="2889504"/>
            <a:ext cx="23774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绵竹建投建材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217920" y="3090672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零碳运输车辆定位与轨迹开发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217920" y="3337560"/>
            <a:ext cx="548640" cy="146304"/>
          </a:xfrm>
          <a:prstGeom prst="roundRect">
            <a:avLst>
              <a:gd name="adj" fmla="val 12500"/>
            </a:avLst>
          </a:prstGeom>
          <a:solidFill>
            <a:srgbClr val="FFFBEB"/>
          </a:solidFill>
        </p:spPr>
      </p:sp>
      <p:sp>
        <p:nvSpPr>
          <p:cNvPr id="70" name="Text 68"/>
          <p:cNvSpPr/>
          <p:nvPr/>
        </p:nvSpPr>
        <p:spPr>
          <a:xfrm>
            <a:off x="6217920" y="3337560"/>
            <a:ext cx="54864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2024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72" name="Text 70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案例详解 — 服务类型一览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640080" cy="228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457200" y="603504"/>
            <a:ext cx="7772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四大服务类型覆盖客户全生命周期需求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98080" y="73152"/>
            <a:ext cx="457200" cy="201168"/>
          </a:xfrm>
          <a:prstGeom prst="parallelogram">
            <a:avLst/>
          </a:prstGeom>
          <a:solidFill>
            <a:srgbClr val="2563EB">
              <a:alpha val="75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8046720" y="73152"/>
            <a:ext cx="457200" cy="201168"/>
          </a:xfrm>
          <a:prstGeom prst="parallelogram">
            <a:avLst/>
          </a:prstGeom>
          <a:solidFill>
            <a:srgbClr val="2563EB">
              <a:alpha val="55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457200" y="777240"/>
            <a:ext cx="39776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777240"/>
            <a:ext cx="3977640" cy="457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0" name="Text 8"/>
          <p:cNvSpPr/>
          <p:nvPr/>
        </p:nvSpPr>
        <p:spPr>
          <a:xfrm>
            <a:off x="566928" y="868680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平台实施服务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1179576"/>
            <a:ext cx="36576" cy="36576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2" name="Text 10"/>
          <p:cNvSpPr/>
          <p:nvPr/>
        </p:nvSpPr>
        <p:spPr>
          <a:xfrm>
            <a:off x="658368" y="1143000"/>
            <a:ext cx="3566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砂石堆场智慧化管理平台建设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66928" y="1417320"/>
            <a:ext cx="36576" cy="36576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4" name="Text 12"/>
          <p:cNvSpPr/>
          <p:nvPr/>
        </p:nvSpPr>
        <p:spPr>
          <a:xfrm>
            <a:off x="658368" y="1380744"/>
            <a:ext cx="3566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视频监控和电子围栏项目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66928" y="1655064"/>
            <a:ext cx="36576" cy="36576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6" name="Text 14"/>
          <p:cNvSpPr/>
          <p:nvPr/>
        </p:nvSpPr>
        <p:spPr>
          <a:xfrm>
            <a:off x="658368" y="1618488"/>
            <a:ext cx="3566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进销系统硬件设备采购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66928" y="1892808"/>
            <a:ext cx="36576" cy="36576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8" name="Text 16"/>
          <p:cNvSpPr/>
          <p:nvPr/>
        </p:nvSpPr>
        <p:spPr>
          <a:xfrm>
            <a:off x="658368" y="1856232"/>
            <a:ext cx="3566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堆料场雷达测量项目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66928" y="2130552"/>
            <a:ext cx="36576" cy="36576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0" name="Text 18"/>
          <p:cNvSpPr/>
          <p:nvPr/>
        </p:nvSpPr>
        <p:spPr>
          <a:xfrm>
            <a:off x="658368" y="2093976"/>
            <a:ext cx="3566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零碳运输车辆定位与轨迹开发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709160" y="777240"/>
            <a:ext cx="39776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777240"/>
            <a:ext cx="3977640" cy="4572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3" name="Text 21"/>
          <p:cNvSpPr/>
          <p:nvPr/>
        </p:nvSpPr>
        <p:spPr>
          <a:xfrm>
            <a:off x="4818888" y="868680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监管接入服务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18888" y="1179576"/>
            <a:ext cx="36576" cy="36576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25" name="Text 23"/>
          <p:cNvSpPr/>
          <p:nvPr/>
        </p:nvSpPr>
        <p:spPr>
          <a:xfrm>
            <a:off x="4910328" y="1143000"/>
            <a:ext cx="3566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省水利大数据平台接入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818888" y="1417320"/>
            <a:ext cx="36576" cy="36576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27" name="Text 25"/>
          <p:cNvSpPr/>
          <p:nvPr/>
        </p:nvSpPr>
        <p:spPr>
          <a:xfrm>
            <a:off x="4910328" y="1380744"/>
            <a:ext cx="3566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电子采运单在线监管安装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818888" y="1655064"/>
            <a:ext cx="36576" cy="36576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29" name="Text 27"/>
          <p:cNvSpPr/>
          <p:nvPr/>
        </p:nvSpPr>
        <p:spPr>
          <a:xfrm>
            <a:off x="4910328" y="1618488"/>
            <a:ext cx="3566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砂石采运销环节在线监管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818888" y="1892808"/>
            <a:ext cx="36576" cy="36576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31" name="Text 29"/>
          <p:cNvSpPr/>
          <p:nvPr/>
        </p:nvSpPr>
        <p:spPr>
          <a:xfrm>
            <a:off x="4910328" y="1856232"/>
            <a:ext cx="3566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数据接入与平台对接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57200" y="2423160"/>
            <a:ext cx="39776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2423160"/>
            <a:ext cx="3977640" cy="4572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34" name="Text 32"/>
          <p:cNvSpPr/>
          <p:nvPr/>
        </p:nvSpPr>
        <p:spPr>
          <a:xfrm>
            <a:off x="566928" y="2514600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运维服务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66928" y="2825496"/>
            <a:ext cx="36576" cy="36576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36" name="Text 34"/>
          <p:cNvSpPr/>
          <p:nvPr/>
        </p:nvSpPr>
        <p:spPr>
          <a:xfrm>
            <a:off x="658368" y="2788920"/>
            <a:ext cx="3566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砂</a:t>
            </a: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石资源经营管理大数据平台运维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66928" y="3063240"/>
            <a:ext cx="36576" cy="36576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38" name="Text 36"/>
          <p:cNvSpPr/>
          <p:nvPr/>
        </p:nvSpPr>
        <p:spPr>
          <a:xfrm>
            <a:off x="658368" y="3026664"/>
            <a:ext cx="3566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平台安全组件搭建与等保评测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66928" y="3300984"/>
            <a:ext cx="36576" cy="36576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40" name="Text 38"/>
          <p:cNvSpPr/>
          <p:nvPr/>
        </p:nvSpPr>
        <p:spPr>
          <a:xfrm>
            <a:off x="658368" y="3264408"/>
            <a:ext cx="3566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长期运维服务合作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709160" y="2423160"/>
            <a:ext cx="39776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2423160"/>
            <a:ext cx="3977640" cy="4572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43" name="Text 41"/>
          <p:cNvSpPr/>
          <p:nvPr/>
        </p:nvSpPr>
        <p:spPr>
          <a:xfrm>
            <a:off x="4818888" y="2514600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综合服务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818888" y="2825496"/>
            <a:ext cx="36576" cy="3657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45" name="Text 43"/>
          <p:cNvSpPr/>
          <p:nvPr/>
        </p:nvSpPr>
        <p:spPr>
          <a:xfrm>
            <a:off x="4910328" y="2788920"/>
            <a:ext cx="3566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安全组件搭建与等级保护二级评测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818888" y="3063240"/>
            <a:ext cx="36576" cy="3657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47" name="Text 45"/>
          <p:cNvSpPr/>
          <p:nvPr/>
        </p:nvSpPr>
        <p:spPr>
          <a:xfrm>
            <a:off x="4910328" y="3026664"/>
            <a:ext cx="3566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数据接入与平台实施一体化服务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49" name="Text 47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案例详解 — 代表性客户与项目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640080" cy="228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457200" y="603504"/>
            <a:ext cx="7772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服务超过10家客户，涵盖国企、民企、运营商等多类客户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98080" y="73152"/>
            <a:ext cx="457200" cy="201168"/>
          </a:xfrm>
          <a:prstGeom prst="parallelogram">
            <a:avLst/>
          </a:prstGeom>
          <a:solidFill>
            <a:srgbClr val="2563EB">
              <a:alpha val="75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8046720" y="73152"/>
            <a:ext cx="457200" cy="201168"/>
          </a:xfrm>
          <a:prstGeom prst="parallelogram">
            <a:avLst/>
          </a:prstGeom>
          <a:solidFill>
            <a:srgbClr val="2563EB">
              <a:alpha val="55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457200" y="77724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777240"/>
            <a:ext cx="1920240" cy="3657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0" name="Text 8"/>
          <p:cNvSpPr/>
          <p:nvPr/>
        </p:nvSpPr>
        <p:spPr>
          <a:xfrm>
            <a:off x="457200" y="841248"/>
            <a:ext cx="19202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绵竹建投建材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051560"/>
            <a:ext cx="19202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最高频客户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914400" y="1325880"/>
            <a:ext cx="1005840" cy="164592"/>
          </a:xfrm>
          <a:prstGeom prst="roundRect">
            <a:avLst>
              <a:gd name="adj" fmla="val 11111"/>
            </a:avLst>
          </a:prstGeom>
          <a:solidFill>
            <a:srgbClr val="E2E8F0"/>
          </a:solidFill>
        </p:spPr>
      </p:sp>
      <p:sp>
        <p:nvSpPr>
          <p:cNvPr id="13" name="Text 11"/>
          <p:cNvSpPr/>
          <p:nvPr/>
        </p:nvSpPr>
        <p:spPr>
          <a:xfrm>
            <a:off x="914400" y="1325880"/>
            <a:ext cx="10058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全方位</a:t>
            </a:r>
            <a:r>
              <a:rPr lang="en-US" sz="650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合作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2560320" y="77724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0" y="777240"/>
            <a:ext cx="1920240" cy="36576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6" name="Text 14"/>
          <p:cNvSpPr/>
          <p:nvPr/>
        </p:nvSpPr>
        <p:spPr>
          <a:xfrm>
            <a:off x="2560320" y="841248"/>
            <a:ext cx="19202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中国移动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60320" y="1051560"/>
            <a:ext cx="19202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运营商合作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017520" y="1325880"/>
            <a:ext cx="1005840" cy="164592"/>
          </a:xfrm>
          <a:prstGeom prst="roundRect">
            <a:avLst>
              <a:gd name="adj" fmla="val 11111"/>
            </a:avLst>
          </a:prstGeom>
          <a:solidFill>
            <a:srgbClr val="E2E8F0"/>
          </a:solidFill>
        </p:spPr>
      </p:sp>
      <p:sp>
        <p:nvSpPr>
          <p:cNvPr id="19" name="Text 17"/>
          <p:cNvSpPr/>
          <p:nvPr/>
        </p:nvSpPr>
        <p:spPr>
          <a:xfrm>
            <a:off x="3017520" y="1325880"/>
            <a:ext cx="10058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视频围栏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4663440" y="77724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777240"/>
            <a:ext cx="1920240" cy="36576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22" name="Text 20"/>
          <p:cNvSpPr/>
          <p:nvPr/>
        </p:nvSpPr>
        <p:spPr>
          <a:xfrm>
            <a:off x="4663440" y="841248"/>
            <a:ext cx="19202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成都空港兴城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63440" y="1051560"/>
            <a:ext cx="19202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大型国企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1325880"/>
            <a:ext cx="1005840" cy="164592"/>
          </a:xfrm>
          <a:prstGeom prst="roundRect">
            <a:avLst>
              <a:gd name="adj" fmla="val 11111"/>
            </a:avLst>
          </a:prstGeom>
          <a:solidFill>
            <a:srgbClr val="E2E8F0"/>
          </a:solidFill>
        </p:spPr>
      </p:sp>
      <p:sp>
        <p:nvSpPr>
          <p:cNvPr id="25" name="Text 23"/>
          <p:cNvSpPr/>
          <p:nvPr/>
        </p:nvSpPr>
        <p:spPr>
          <a:xfrm>
            <a:off x="5120640" y="1325880"/>
            <a:ext cx="10058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智慧砂石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6766560" y="77724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66560" y="777240"/>
            <a:ext cx="1920240" cy="36576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8" name="Text 26"/>
          <p:cNvSpPr/>
          <p:nvPr/>
        </p:nvSpPr>
        <p:spPr>
          <a:xfrm>
            <a:off x="6766560" y="841248"/>
            <a:ext cx="19202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成都</a:t>
            </a:r>
            <a:r>
              <a:rPr lang="zh-CN" altLang="en-US" sz="9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湔</a:t>
            </a:r>
            <a:r>
              <a:rPr lang="en-US" sz="9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江环境</a:t>
            </a:r>
            <a:r>
              <a:rPr lang="zh-CN" altLang="en-US" sz="9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</a:t>
            </a:r>
            <a:r>
              <a:rPr lang="zh-CN" altLang="en-US" sz="9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材料</a:t>
            </a:r>
            <a:endParaRPr lang="zh-CN" altLang="en-US" sz="900" b="1" dirty="0">
              <a:solidFill>
                <a:srgbClr val="7C3AED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766560" y="1051560"/>
            <a:ext cx="19202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7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</a:t>
            </a:r>
            <a:r>
              <a:rPr lang="en-US" sz="7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企客户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223760" y="1325880"/>
            <a:ext cx="1005840" cy="164592"/>
          </a:xfrm>
          <a:prstGeom prst="roundRect">
            <a:avLst>
              <a:gd name="adj" fmla="val 11111"/>
            </a:avLst>
          </a:prstGeom>
          <a:solidFill>
            <a:srgbClr val="E2E8F0"/>
          </a:solidFill>
        </p:spPr>
      </p:sp>
      <p:sp>
        <p:nvSpPr>
          <p:cNvPr id="31" name="Text 29"/>
          <p:cNvSpPr/>
          <p:nvPr/>
        </p:nvSpPr>
        <p:spPr>
          <a:xfrm>
            <a:off x="7223760" y="1325880"/>
            <a:ext cx="10058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进销系统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457200" y="182880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0080" y="1874520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部分代表性项目列表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2057400"/>
            <a:ext cx="8229600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5" name="Shape 33"/>
          <p:cNvSpPr/>
          <p:nvPr/>
        </p:nvSpPr>
        <p:spPr>
          <a:xfrm>
            <a:off x="548640" y="2240280"/>
            <a:ext cx="36576" cy="36576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36" name="Text 34"/>
          <p:cNvSpPr/>
          <p:nvPr/>
        </p:nvSpPr>
        <p:spPr>
          <a:xfrm>
            <a:off x="658368" y="2194560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绵竹市采砂视频监控和电子围栏项目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389120" y="2194560"/>
            <a:ext cx="1645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中国移动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126480" y="2212848"/>
            <a:ext cx="1097280" cy="155448"/>
          </a:xfrm>
          <a:prstGeom prst="roundRect">
            <a:avLst>
              <a:gd name="adj" fmla="val 11765"/>
            </a:avLst>
          </a:prstGeom>
          <a:solidFill>
            <a:srgbClr val="E2E8F0"/>
          </a:solidFill>
        </p:spPr>
      </p:sp>
      <p:sp>
        <p:nvSpPr>
          <p:cNvPr id="39" name="Text 37"/>
          <p:cNvSpPr/>
          <p:nvPr/>
        </p:nvSpPr>
        <p:spPr>
          <a:xfrm>
            <a:off x="6126480" y="2212848"/>
            <a:ext cx="109728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平台实施+监管接入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548640" y="2532888"/>
            <a:ext cx="36576" cy="36576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41" name="Text 39"/>
          <p:cNvSpPr/>
          <p:nvPr/>
        </p:nvSpPr>
        <p:spPr>
          <a:xfrm>
            <a:off x="658368" y="2487168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长江河道砂石电子采运管理单服务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389120" y="2487168"/>
            <a:ext cx="1645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绵竹建投建材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126480" y="2505456"/>
            <a:ext cx="1097280" cy="155448"/>
          </a:xfrm>
          <a:prstGeom prst="roundRect">
            <a:avLst>
              <a:gd name="adj" fmla="val 11765"/>
            </a:avLst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6126480" y="2505456"/>
            <a:ext cx="109728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平台实施+监管接入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548640" y="2825496"/>
            <a:ext cx="36576" cy="36576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46" name="Text 44"/>
          <p:cNvSpPr/>
          <p:nvPr/>
        </p:nvSpPr>
        <p:spPr>
          <a:xfrm>
            <a:off x="658368" y="2779776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堆料场雷达测量项目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389120" y="2779776"/>
            <a:ext cx="1645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绵竹建投建材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126480" y="2798064"/>
            <a:ext cx="1097280" cy="155448"/>
          </a:xfrm>
          <a:prstGeom prst="roundRect">
            <a:avLst>
              <a:gd name="adj" fmla="val 11765"/>
            </a:avLst>
          </a:prstGeom>
          <a:solidFill>
            <a:srgbClr val="E2E8F0"/>
          </a:solidFill>
        </p:spPr>
      </p:sp>
      <p:sp>
        <p:nvSpPr>
          <p:cNvPr id="49" name="Text 47"/>
          <p:cNvSpPr/>
          <p:nvPr/>
        </p:nvSpPr>
        <p:spPr>
          <a:xfrm>
            <a:off x="6126480" y="2798064"/>
            <a:ext cx="109728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平台实施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548640" y="3118104"/>
            <a:ext cx="36576" cy="3657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51" name="Text 49"/>
          <p:cNvSpPr/>
          <p:nvPr/>
        </p:nvSpPr>
        <p:spPr>
          <a:xfrm>
            <a:off x="658368" y="3072384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砂石堆场智慧化管理平台建设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389120" y="3072384"/>
            <a:ext cx="1645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成都空港兴城建材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6126480" y="3090672"/>
            <a:ext cx="1097280" cy="155448"/>
          </a:xfrm>
          <a:prstGeom prst="roundRect">
            <a:avLst>
              <a:gd name="adj" fmla="val 11765"/>
            </a:avLst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6126480" y="3090672"/>
            <a:ext cx="109728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平台实施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548640" y="3410712"/>
            <a:ext cx="36576" cy="36576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56" name="Text 54"/>
          <p:cNvSpPr/>
          <p:nvPr/>
        </p:nvSpPr>
        <p:spPr>
          <a:xfrm>
            <a:off x="658368" y="3364992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砂石资源经营管理大数据平台运维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389120" y="3364992"/>
            <a:ext cx="1645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绵竹建投建材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6126480" y="3383280"/>
            <a:ext cx="1097280" cy="155448"/>
          </a:xfrm>
          <a:prstGeom prst="roundRect">
            <a:avLst>
              <a:gd name="adj" fmla="val 11765"/>
            </a:avLst>
          </a:prstGeom>
          <a:solidFill>
            <a:srgbClr val="E2E8F0"/>
          </a:solidFill>
        </p:spPr>
      </p:sp>
      <p:sp>
        <p:nvSpPr>
          <p:cNvPr id="59" name="Text 57"/>
          <p:cNvSpPr/>
          <p:nvPr/>
        </p:nvSpPr>
        <p:spPr>
          <a:xfrm>
            <a:off x="6126480" y="3383280"/>
            <a:ext cx="109728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运维服务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548640" y="3703320"/>
            <a:ext cx="36576" cy="36576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61" name="Text 59"/>
          <p:cNvSpPr/>
          <p:nvPr/>
        </p:nvSpPr>
        <p:spPr>
          <a:xfrm>
            <a:off x="658368" y="3657600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零碳运输车辆定位与轨迹开发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389120" y="3657600"/>
            <a:ext cx="1645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绵竹建投建材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6126480" y="3675888"/>
            <a:ext cx="1097280" cy="155448"/>
          </a:xfrm>
          <a:prstGeom prst="roundRect">
            <a:avLst>
              <a:gd name="adj" fmla="val 11765"/>
            </a:avLst>
          </a:prstGeom>
          <a:solidFill>
            <a:srgbClr val="E2E8F0"/>
          </a:solidFill>
        </p:spPr>
      </p:sp>
      <p:sp>
        <p:nvSpPr>
          <p:cNvPr id="64" name="Text 62"/>
          <p:cNvSpPr/>
          <p:nvPr/>
        </p:nvSpPr>
        <p:spPr>
          <a:xfrm>
            <a:off x="6126480" y="3675888"/>
            <a:ext cx="109728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平台实施</a:t>
            </a:r>
            <a:endParaRPr lang="en-US" sz="600" dirty="0"/>
          </a:p>
        </p:txBody>
      </p:sp>
      <p:sp>
        <p:nvSpPr>
          <p:cNvPr id="65" name="Shape 63"/>
          <p:cNvSpPr/>
          <p:nvPr/>
        </p:nvSpPr>
        <p:spPr>
          <a:xfrm>
            <a:off x="548640" y="3995928"/>
            <a:ext cx="36576" cy="36576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66" name="Text 64"/>
          <p:cNvSpPr/>
          <p:nvPr/>
        </p:nvSpPr>
        <p:spPr>
          <a:xfrm>
            <a:off x="658368" y="3950208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安全组件搭建与等级保护评测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4389120" y="3950208"/>
            <a:ext cx="1645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绵竹建投建材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6126480" y="3968496"/>
            <a:ext cx="1097280" cy="155448"/>
          </a:xfrm>
          <a:prstGeom prst="roundRect">
            <a:avLst>
              <a:gd name="adj" fmla="val 11765"/>
            </a:avLst>
          </a:prstGeom>
          <a:solidFill>
            <a:srgbClr val="E2E8F0"/>
          </a:solidFill>
        </p:spPr>
      </p:sp>
      <p:sp>
        <p:nvSpPr>
          <p:cNvPr id="69" name="Text 67"/>
          <p:cNvSpPr/>
          <p:nvPr/>
        </p:nvSpPr>
        <p:spPr>
          <a:xfrm>
            <a:off x="6126480" y="3968496"/>
            <a:ext cx="109728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综合服务</a:t>
            </a:r>
            <a:endParaRPr lang="en-US" sz="600" dirty="0"/>
          </a:p>
        </p:txBody>
      </p:sp>
      <p:sp>
        <p:nvSpPr>
          <p:cNvPr id="70" name="Shape 68"/>
          <p:cNvSpPr/>
          <p:nvPr/>
        </p:nvSpPr>
        <p:spPr>
          <a:xfrm>
            <a:off x="548640" y="4288536"/>
            <a:ext cx="36576" cy="3657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71" name="Text 69"/>
          <p:cNvSpPr/>
          <p:nvPr/>
        </p:nvSpPr>
        <p:spPr>
          <a:xfrm>
            <a:off x="658368" y="4242816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省水利大数据平台接入服务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4389120" y="4242816"/>
            <a:ext cx="1645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建投建材罗江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6126480" y="4261104"/>
            <a:ext cx="1097280" cy="155448"/>
          </a:xfrm>
          <a:prstGeom prst="roundRect">
            <a:avLst>
              <a:gd name="adj" fmla="val 11765"/>
            </a:avLst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6126480" y="4261104"/>
            <a:ext cx="109728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监管接入</a:t>
            </a:r>
            <a:endParaRPr lang="en-US" sz="600" dirty="0"/>
          </a:p>
        </p:txBody>
      </p:sp>
      <p:sp>
        <p:nvSpPr>
          <p:cNvPr id="75" name="Shape 73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76" name="Text 74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产品收益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640080" cy="2286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5" name="Text 3"/>
          <p:cNvSpPr/>
          <p:nvPr/>
        </p:nvSpPr>
        <p:spPr>
          <a:xfrm>
            <a:off x="457200" y="603504"/>
            <a:ext cx="7772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智慧化管控平台带来的多维度价值与效益提升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98080" y="73152"/>
            <a:ext cx="457200" cy="201168"/>
          </a:xfrm>
          <a:prstGeom prst="parallelogram">
            <a:avLst/>
          </a:prstGeom>
          <a:solidFill>
            <a:srgbClr val="059669">
              <a:alpha val="75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8046720" y="73152"/>
            <a:ext cx="457200" cy="201168"/>
          </a:xfrm>
          <a:prstGeom prst="parallelogram">
            <a:avLst/>
          </a:prstGeom>
          <a:solidFill>
            <a:srgbClr val="059669">
              <a:alpha val="55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457200" y="86868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868680"/>
            <a:ext cx="2651760" cy="6400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2" name="Shape 10"/>
          <p:cNvSpPr/>
          <p:nvPr/>
        </p:nvSpPr>
        <p:spPr>
          <a:xfrm>
            <a:off x="1463040" y="1051560"/>
            <a:ext cx="640080" cy="64008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3" name="Text 11"/>
          <p:cNvSpPr/>
          <p:nvPr/>
        </p:nvSpPr>
        <p:spPr>
          <a:xfrm>
            <a:off x="1463040" y="105156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+30~</a:t>
            </a: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50%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1737360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生产效率提升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2011680"/>
            <a:ext cx="1737360" cy="1828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6" name="Shape 14"/>
          <p:cNvSpPr/>
          <p:nvPr/>
        </p:nvSpPr>
        <p:spPr>
          <a:xfrm>
            <a:off x="640080" y="2185416"/>
            <a:ext cx="45720" cy="4572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7" name="Text 15"/>
          <p:cNvSpPr/>
          <p:nvPr/>
        </p:nvSpPr>
        <p:spPr>
          <a:xfrm>
            <a:off x="777240" y="214884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DCS集散控制实现生产线自动化运行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0080" y="2551176"/>
            <a:ext cx="45720" cy="4572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9" name="Text 17"/>
          <p:cNvSpPr/>
          <p:nvPr/>
        </p:nvSpPr>
        <p:spPr>
          <a:xfrm>
            <a:off x="777240" y="251460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生产过程可视化减少停机时间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40080" y="2916936"/>
            <a:ext cx="45720" cy="4572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1" name="Text 19"/>
          <p:cNvSpPr/>
          <p:nvPr/>
        </p:nvSpPr>
        <p:spPr>
          <a:xfrm>
            <a:off x="777240" y="288036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AI视频分析减少安全事故风险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40080" y="3282696"/>
            <a:ext cx="45720" cy="4572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3" name="Text 21"/>
          <p:cNvSpPr/>
          <p:nvPr/>
        </p:nvSpPr>
        <p:spPr>
          <a:xfrm>
            <a:off x="777240" y="324612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数据自动采集减少人工记录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337560" y="86868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868680"/>
            <a:ext cx="2651760" cy="64008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6" name="Shape 24"/>
          <p:cNvSpPr/>
          <p:nvPr/>
        </p:nvSpPr>
        <p:spPr>
          <a:xfrm>
            <a:off x="4343400" y="1051560"/>
            <a:ext cx="640080" cy="640080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27" name="Text 25"/>
          <p:cNvSpPr/>
          <p:nvPr/>
        </p:nvSpPr>
        <p:spPr>
          <a:xfrm>
            <a:off x="4343400" y="105156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¥约25%节省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74720" y="1737360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运营成本优化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794760" y="2011680"/>
            <a:ext cx="1737360" cy="18288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30" name="Shape 28"/>
          <p:cNvSpPr/>
          <p:nvPr/>
        </p:nvSpPr>
        <p:spPr>
          <a:xfrm>
            <a:off x="3520440" y="2185416"/>
            <a:ext cx="45720" cy="45720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31" name="Text 29"/>
          <p:cNvSpPr/>
          <p:nvPr/>
        </p:nvSpPr>
        <p:spPr>
          <a:xfrm>
            <a:off x="3657600" y="214884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设备远程管控减少现场人员配置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520440" y="2551176"/>
            <a:ext cx="45720" cy="45720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33" name="Text 31"/>
          <p:cNvSpPr/>
          <p:nvPr/>
        </p:nvSpPr>
        <p:spPr>
          <a:xfrm>
            <a:off x="3657600" y="251460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能耗监控减少能源浪费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520440" y="2916936"/>
            <a:ext cx="45720" cy="45720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35" name="Text 33"/>
          <p:cNvSpPr/>
          <p:nvPr/>
        </p:nvSpPr>
        <p:spPr>
          <a:xfrm>
            <a:off x="3657600" y="288036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智能预警减少设备故障损失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520440" y="3282696"/>
            <a:ext cx="45720" cy="45720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37" name="Text 35"/>
          <p:cNvSpPr/>
          <p:nvPr/>
        </p:nvSpPr>
        <p:spPr>
          <a:xfrm>
            <a:off x="3657600" y="324612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数字化管理减少纸质流程成本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217920" y="86868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17920" y="868680"/>
            <a:ext cx="2651760" cy="64008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40" name="Shape 38"/>
          <p:cNvSpPr/>
          <p:nvPr/>
        </p:nvSpPr>
        <p:spPr>
          <a:xfrm>
            <a:off x="7223760" y="1051560"/>
            <a:ext cx="640080" cy="64008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41" name="Text 39"/>
          <p:cNvSpPr/>
          <p:nvPr/>
        </p:nvSpPr>
        <p:spPr>
          <a:xfrm>
            <a:off x="7223760" y="105156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全流程可视化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355080" y="1737360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管控能力提升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675120" y="2011680"/>
            <a:ext cx="1737360" cy="18288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44" name="Shape 42"/>
          <p:cNvSpPr/>
          <p:nvPr/>
        </p:nvSpPr>
        <p:spPr>
          <a:xfrm>
            <a:off x="6400800" y="2185416"/>
            <a:ext cx="45720" cy="4572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45" name="Text 43"/>
          <p:cNvSpPr/>
          <p:nvPr/>
        </p:nvSpPr>
        <p:spPr>
          <a:xfrm>
            <a:off x="6537960" y="214884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采运销全链条数字化管控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400800" y="2551176"/>
            <a:ext cx="45720" cy="4572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47" name="Text 45"/>
          <p:cNvSpPr/>
          <p:nvPr/>
        </p:nvSpPr>
        <p:spPr>
          <a:xfrm>
            <a:off x="6537960" y="251460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省平台数据实时接入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400800" y="2916936"/>
            <a:ext cx="45720" cy="4572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49" name="Text 47"/>
          <p:cNvSpPr/>
          <p:nvPr/>
        </p:nvSpPr>
        <p:spPr>
          <a:xfrm>
            <a:off x="6537960" y="288036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电子采运单全线上化管理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400800" y="3282696"/>
            <a:ext cx="45720" cy="4572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51" name="Text 49"/>
          <p:cNvSpPr/>
          <p:nvPr/>
        </p:nvSpPr>
        <p:spPr>
          <a:xfrm>
            <a:off x="6537960" y="324612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多场景AI智能预警与应对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57200" y="4663440"/>
            <a:ext cx="8229600" cy="2286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40080" y="4681728"/>
            <a:ext cx="78638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综合效益：平台建设带来生产效率、运营成本、管控能力三维度提升，短期投入长期回报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55" name="Text 53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未来展望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640080" cy="228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457200" y="603504"/>
            <a:ext cx="7772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持续赋能砂石行业数字化转型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98080" y="73152"/>
            <a:ext cx="457200" cy="201168"/>
          </a:xfrm>
          <a:prstGeom prst="parallelogram">
            <a:avLst/>
          </a:prstGeom>
          <a:solidFill>
            <a:srgbClr val="2563EB">
              <a:alpha val="75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8046720" y="73152"/>
            <a:ext cx="457200" cy="201168"/>
          </a:xfrm>
          <a:prstGeom prst="parallelogram">
            <a:avLst/>
          </a:prstGeom>
          <a:solidFill>
            <a:srgbClr val="2563EB">
              <a:alpha val="55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457200" y="91440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36576" cy="53035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0" name="Shape 8"/>
          <p:cNvSpPr/>
          <p:nvPr/>
        </p:nvSpPr>
        <p:spPr>
          <a:xfrm>
            <a:off x="594360" y="1005840"/>
            <a:ext cx="411480" cy="347472"/>
          </a:xfrm>
          <a:prstGeom prst="parallelogram">
            <a:avLst/>
          </a:prstGeom>
          <a:solidFill>
            <a:srgbClr val="2563EB"/>
          </a:solidFill>
        </p:spPr>
      </p:sp>
      <p:sp>
        <p:nvSpPr>
          <p:cNvPr id="11" name="Text 9"/>
          <p:cNvSpPr/>
          <p:nvPr/>
        </p:nvSpPr>
        <p:spPr>
          <a:xfrm>
            <a:off x="594360" y="1005840"/>
            <a:ext cx="411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969264"/>
            <a:ext cx="2286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AI多场景深化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1188720"/>
            <a:ext cx="7132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引入更多行业专用AI算法，覆盖质量检测、设备预知维护、能耗优化等场景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1572768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572768"/>
            <a:ext cx="36576" cy="530352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6" name="Shape 14"/>
          <p:cNvSpPr/>
          <p:nvPr/>
        </p:nvSpPr>
        <p:spPr>
          <a:xfrm>
            <a:off x="594360" y="1664208"/>
            <a:ext cx="411480" cy="347472"/>
          </a:xfrm>
          <a:prstGeom prst="parallelogram">
            <a:avLst/>
          </a:prstGeom>
          <a:solidFill>
            <a:srgbClr val="059669"/>
          </a:solidFill>
        </p:spPr>
      </p:sp>
      <p:sp>
        <p:nvSpPr>
          <p:cNvPr id="17" name="Text 15"/>
          <p:cNvSpPr/>
          <p:nvPr/>
        </p:nvSpPr>
        <p:spPr>
          <a:xfrm>
            <a:off x="594360" y="1664208"/>
            <a:ext cx="411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1627632"/>
            <a:ext cx="2286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产业链数字化协同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1847088"/>
            <a:ext cx="7132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打通砂石产业链上下游数据，实现从矿山到工地的全链条数字化协同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2231136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231136"/>
            <a:ext cx="36576" cy="530352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22" name="Shape 20"/>
          <p:cNvSpPr/>
          <p:nvPr/>
        </p:nvSpPr>
        <p:spPr>
          <a:xfrm>
            <a:off x="594360" y="2322576"/>
            <a:ext cx="411480" cy="347472"/>
          </a:xfrm>
          <a:prstGeom prst="parallelogram">
            <a:avLst/>
          </a:prstGeom>
          <a:solidFill>
            <a:srgbClr val="D97706"/>
          </a:solidFill>
        </p:spPr>
      </p:sp>
      <p:sp>
        <p:nvSpPr>
          <p:cNvPr id="23" name="Text 21"/>
          <p:cNvSpPr/>
          <p:nvPr/>
        </p:nvSpPr>
        <p:spPr>
          <a:xfrm>
            <a:off x="594360" y="2322576"/>
            <a:ext cx="411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2286000"/>
            <a:ext cx="2286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5G+边缘计算深化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43000" y="2505456"/>
            <a:ext cx="7132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构建高速、低延迟的物联网通信网络，支撑更多实时性要求高的应用场景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2889504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89504"/>
            <a:ext cx="36576" cy="53035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8" name="Shape 26"/>
          <p:cNvSpPr/>
          <p:nvPr/>
        </p:nvSpPr>
        <p:spPr>
          <a:xfrm>
            <a:off x="594360" y="2980944"/>
            <a:ext cx="411480" cy="347472"/>
          </a:xfrm>
          <a:prstGeom prst="parallelogram">
            <a:avLst/>
          </a:prstGeom>
          <a:solidFill>
            <a:srgbClr val="7C3AED"/>
          </a:solidFill>
        </p:spPr>
      </p:sp>
      <p:sp>
        <p:nvSpPr>
          <p:cNvPr id="29" name="Text 27"/>
          <p:cNvSpPr/>
          <p:nvPr/>
        </p:nvSpPr>
        <p:spPr>
          <a:xfrm>
            <a:off x="594360" y="2980944"/>
            <a:ext cx="411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43000" y="2944368"/>
            <a:ext cx="2286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省市平台深度对接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43000" y="3163824"/>
            <a:ext cx="7132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进一步深化与省水利、监管部门数据平台的对接，支撑监管要求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3547872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effectLst>
            <a:outerShdw blurRad="50800" dist="1905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547872"/>
            <a:ext cx="36576" cy="530352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4" name="Shape 32"/>
          <p:cNvSpPr/>
          <p:nvPr/>
        </p:nvSpPr>
        <p:spPr>
          <a:xfrm>
            <a:off x="594360" y="3639312"/>
            <a:ext cx="411480" cy="347472"/>
          </a:xfrm>
          <a:prstGeom prst="parallelogram">
            <a:avLst/>
          </a:prstGeom>
          <a:solidFill>
            <a:srgbClr val="F59E0B"/>
          </a:solidFill>
        </p:spPr>
      </p:sp>
      <p:sp>
        <p:nvSpPr>
          <p:cNvPr id="35" name="Text 33"/>
          <p:cNvSpPr/>
          <p:nvPr/>
        </p:nvSpPr>
        <p:spPr>
          <a:xfrm>
            <a:off x="594360" y="3639312"/>
            <a:ext cx="411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43000" y="3602736"/>
            <a:ext cx="2286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数字孪生全场景覆盖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43000" y="3822192"/>
            <a:ext cx="7132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从生产区扩展到整个砂石基地，实现1:1数字孪生全覆盖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39" name="Text 37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</a:t>
            </a:r>
            <a:r>
              <a:rPr lang="zh-CN" altLang="en-US" sz="3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聆听</a:t>
            </a:r>
            <a:endParaRPr lang="zh-CN" altLang="en-US" sz="3400" b="1" dirty="0">
              <a:solidFill>
                <a:srgbClr val="1E29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840480" y="1828800"/>
            <a:ext cx="1463040" cy="27432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" name="Text 3"/>
          <p:cNvSpPr/>
          <p:nvPr/>
        </p:nvSpPr>
        <p:spPr>
          <a:xfrm>
            <a:off x="914400" y="19659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以数字为帆，以智慧为桨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两河口砂石智能建造基地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技术支持：青迅科技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2888</Words>
  <Application>WPS 表格</Application>
  <PresentationFormat>On-screen Show (16:9)</PresentationFormat>
  <Paragraphs>570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Arial</vt:lpstr>
      <vt:lpstr>Arial</vt:lpstr>
      <vt:lpstr>Calibri</vt:lpstr>
      <vt:lpstr>Helvetica Neue</vt:lpstr>
      <vt:lpstr>宋体</vt:lpstr>
      <vt:lpstr>Arial Unicode MS</vt:lpstr>
      <vt:lpstr>等线</vt:lpstr>
      <vt:lpstr>汉仪中等线KW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两河口砂石智能建造基地智慧化管控平台</dc:title>
  <dc:creator>青迅科技</dc:creator>
  <dc:subject>PptxGenJS Presentation</dc:subject>
  <cp:lastModifiedBy>虾哥</cp:lastModifiedBy>
  <cp:revision>2</cp:revision>
  <dcterms:created xsi:type="dcterms:W3CDTF">2026-05-13T06:09:09Z</dcterms:created>
  <dcterms:modified xsi:type="dcterms:W3CDTF">2026-05-13T06:09:09Z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2052-12.1.25869.25869</vt:lpwstr>
  </property>
  <property fmtid="{D5CDD505-2E9C-101B-9397-08002B2CF9AE}" pid="3" name="ICV">
    <vt:lpwstr>A90BA7FCD66DD9848515046A94F643E1_42</vt:lpwstr>
  </property>
</Properties>
</file>