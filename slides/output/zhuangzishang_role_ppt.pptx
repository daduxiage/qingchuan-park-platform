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828800"/>
            <a:ext cx="5486400" cy="5486400"/>
          </a:xfrm>
          <a:prstGeom prst="ellipse">
            <a:avLst/>
          </a:prstGeom>
          <a:solidFill>
            <a:srgbClr val="1E3A5F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2286000"/>
            <a:ext cx="3657600" cy="3657600"/>
          </a:xfrm>
          <a:prstGeom prst="ellipse">
            <a:avLst/>
          </a:prstGeom>
          <a:solidFill>
            <a:srgbClr val="1E3A5F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64008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475488" y="64008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64008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64008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" y="64008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1280160" y="64008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1481328" y="64008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1682496" y="64008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1883664" y="64008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2084832" y="64008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731520"/>
            <a:ext cx="64008" cy="2560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青川县庄子上工业园区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1188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智慧园区平台汇报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31520" y="2103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分角色功能展示 · 建设方案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2926080"/>
            <a:ext cx="1828800" cy="320040"/>
          </a:xfrm>
          <a:prstGeom prst="roundRect">
            <a:avLst>
              <a:gd name="adj" fmla="val 17143"/>
            </a:avLst>
          </a:prstGeom>
          <a:solidFill>
            <a:srgbClr val="1E40A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政府领导层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697480" y="2926080"/>
            <a:ext cx="1828800" cy="320040"/>
          </a:xfrm>
          <a:prstGeom prst="roundRect">
            <a:avLst>
              <a:gd name="adj" fmla="val 17143"/>
            </a:avLst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269748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园区管理层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2926080"/>
            <a:ext cx="1828800" cy="320040"/>
          </a:xfrm>
          <a:prstGeom prst="roundRect">
            <a:avLst>
              <a:gd name="adj" fmla="val 17143"/>
            </a:avLst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入驻企业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629400" y="2926080"/>
            <a:ext cx="1828800" cy="320040"/>
          </a:xfrm>
          <a:prstGeom prst="roundRect">
            <a:avLst>
              <a:gd name="adj" fmla="val 17143"/>
            </a:avLst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公众用户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3520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四川省广元市青川县竹园镇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3794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2025年前三季度GDP 57.68亿元 · 全县增长15% · 2026年5月</a:t>
            </a:r>
            <a:endParaRPr lang="en-US" sz="1000" dirty="0"/>
          </a:p>
        </p:txBody>
      </p:sp>
      <p:pic>
        <p:nvPicPr>
          <p:cNvPr id="29" name="Image 0" descr="/Users/wangcaihua/WorkBuddy/20260427142154/slides/imgs/ai_smart_park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3200400"/>
            <a:ext cx="338328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64008"/>
            <a:ext cx="32004" cy="320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4008"/>
            <a:ext cx="32004" cy="320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"/>
            <a:ext cx="32004" cy="320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64008"/>
            <a:ext cx="32004" cy="320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64008"/>
            <a:ext cx="32004" cy="320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64008"/>
            <a:ext cx="32004" cy="320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64008"/>
            <a:ext cx="32004" cy="320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0" name="Shape 8"/>
          <p:cNvSpPr/>
          <p:nvPr/>
        </p:nvSpPr>
        <p:spPr>
          <a:xfrm>
            <a:off x="1554480" y="64008"/>
            <a:ext cx="32004" cy="320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汇报目录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91440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914400"/>
            <a:ext cx="292608" cy="384048"/>
          </a:xfrm>
          <a:prstGeom prst="roundRect">
            <a:avLst>
              <a:gd name="adj" fmla="val 9375"/>
            </a:avLst>
          </a:prstGeom>
          <a:solidFill>
            <a:srgbClr val="1E40A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914400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21040" y="1042416"/>
            <a:ext cx="54864" cy="5486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91440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项目背景与青川数据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137160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1371600"/>
            <a:ext cx="292608" cy="384048"/>
          </a:xfrm>
          <a:prstGeom prst="roundRect">
            <a:avLst>
              <a:gd name="adj" fmla="val 9375"/>
            </a:avLst>
          </a:prstGeom>
          <a:solidFill>
            <a:srgbClr val="1E40A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1371600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321040" y="1499616"/>
            <a:ext cx="54864" cy="5486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137160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政府领导层视角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182880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1828800"/>
            <a:ext cx="292608" cy="384048"/>
          </a:xfrm>
          <a:prstGeom prst="roundRect">
            <a:avLst>
              <a:gd name="adj" fmla="val 9375"/>
            </a:avLst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1828800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321040" y="1956816"/>
            <a:ext cx="54864" cy="5486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182880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园区管理层视角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228600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2286000"/>
            <a:ext cx="292608" cy="384048"/>
          </a:xfrm>
          <a:prstGeom prst="roundRect">
            <a:avLst>
              <a:gd name="adj" fmla="val 9375"/>
            </a:avLst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2286000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321040" y="2414016"/>
            <a:ext cx="54864" cy="5486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228600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入驻企业视角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274320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2743200"/>
            <a:ext cx="292608" cy="384048"/>
          </a:xfrm>
          <a:prstGeom prst="roundRect">
            <a:avLst>
              <a:gd name="adj" fmla="val 9375"/>
            </a:avLst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2743200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321040" y="2871216"/>
            <a:ext cx="54864" cy="5486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868680" y="274320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公众用户视角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320040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" y="3200400"/>
            <a:ext cx="292608" cy="384048"/>
          </a:xfrm>
          <a:prstGeom prst="roundRect">
            <a:avLst>
              <a:gd name="adj" fmla="val 9375"/>
            </a:avLst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3200400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321040" y="3328416"/>
            <a:ext cx="54864" cy="548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868680" y="320040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四类角色功能矩阵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57200" y="365760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7200" y="3657600"/>
            <a:ext cx="292608" cy="384048"/>
          </a:xfrm>
          <a:prstGeom prst="roundRect">
            <a:avLst>
              <a:gd name="adj" fmla="val 9375"/>
            </a:avLst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3657600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321040" y="3785616"/>
            <a:ext cx="54864" cy="548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365760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投资与效益分析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57200" y="411480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7200" y="4114800"/>
            <a:ext cx="292608" cy="384048"/>
          </a:xfrm>
          <a:prstGeom prst="roundRect">
            <a:avLst>
              <a:gd name="adj" fmla="val 9375"/>
            </a:avLst>
          </a:prstGeom>
          <a:solidFill>
            <a:srgbClr val="1E40AF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4114800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321040" y="4242816"/>
            <a:ext cx="54864" cy="5486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51" name="Text 49"/>
          <p:cNvSpPr/>
          <p:nvPr/>
        </p:nvSpPr>
        <p:spPr>
          <a:xfrm>
            <a:off x="868680" y="411480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53" name="Text 51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64008"/>
            <a:ext cx="32004" cy="320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4008"/>
            <a:ext cx="32004" cy="320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"/>
            <a:ext cx="32004" cy="320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64008"/>
            <a:ext cx="32004" cy="320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64008"/>
            <a:ext cx="32004" cy="320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64008"/>
            <a:ext cx="32004" cy="320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64008"/>
            <a:ext cx="32004" cy="320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0" name="Shape 8"/>
          <p:cNvSpPr/>
          <p:nvPr/>
        </p:nvSpPr>
        <p:spPr>
          <a:xfrm>
            <a:off x="1554480" y="64008"/>
            <a:ext cx="32004" cy="320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项目背景与青川数据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庄子上工业园区 · 四川省广元市青川县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96012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DBEAF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青川县位于四川省北部边缘，川甘陕三省结合部，素有“金三角”之称。庄子上工业园区规划面积2.1平方公里，已开发1.6平方公里。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164592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1645920"/>
            <a:ext cx="192024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1783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57.68亿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7200" y="21945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2025前三季度GDP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24688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全县增长15%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0" y="164592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0" y="1645920"/>
            <a:ext cx="192024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2560320" y="1783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137亿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2560320" y="21945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县属国企资产总额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51760" y="24688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营业收入3.44亿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164592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645920"/>
            <a:ext cx="192024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1783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45家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663440" y="21945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国家科技型中小企业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24688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新增高新技术企8家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766560" y="164592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66560" y="1645920"/>
            <a:ext cx="192024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1783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47家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766560" y="21945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园区入驻企业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0" y="24688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从业人员3,000+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战略定位：以智慧园区建设驱动庄子上工业园区能级跃升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3611880"/>
            <a:ext cx="82296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566928" y="3675888"/>
            <a:ext cx="54864" cy="5486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3611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赋能创建：为申报省级经开区、绿色工业园区提供数据支撑与管理工具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3931920"/>
            <a:ext cx="82296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566928" y="3995928"/>
            <a:ext cx="54864" cy="5486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39319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赋能企业：打造“智改数转”公共服务平台，破解中小企业转型难题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4251960"/>
            <a:ext cx="82296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566928" y="4315968"/>
            <a:ext cx="54864" cy="5486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44" name="Text 42"/>
          <p:cNvSpPr/>
          <p:nvPr/>
        </p:nvSpPr>
        <p:spPr>
          <a:xfrm>
            <a:off x="731520" y="4251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赋能决策：构建园区数字大脑，实现一屏统览、一图统管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46" name="Text 44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64008"/>
            <a:ext cx="32004" cy="320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4008"/>
            <a:ext cx="32004" cy="320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"/>
            <a:ext cx="32004" cy="320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64008"/>
            <a:ext cx="32004" cy="320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64008"/>
            <a:ext cx="32004" cy="320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64008"/>
            <a:ext cx="32004" cy="320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0" y="10972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1E40AF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1097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政府领导层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政府领导层视角 — 数据驱动决策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594360"/>
            <a:ext cx="731520" cy="27432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877824"/>
            <a:ext cx="64008" cy="6400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804672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8046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AI招商服务：基于大数据和AI算法精准匹配目标企业，提升招商效率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225296"/>
            <a:ext cx="64008" cy="6400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1152144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11521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数字沙盘：3D可视化展示园区规划与土地资源，沉浸式招商展示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1572768"/>
            <a:ext cx="64008" cy="6400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1499616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14996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产业链图谱：可视化展示产业链上下游关系，精准强链补链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1920240"/>
            <a:ext cx="64008" cy="6400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1847088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数据驾驶舱：一屏统览园区运行状态，为决策提供数据支撑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267712"/>
            <a:ext cx="64008" cy="6400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2194560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7240" y="2194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投资概算：“三步走”创建路径与项目投资监督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615184"/>
            <a:ext cx="64008" cy="6400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" y="2542032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7240" y="25420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政策制定：基于数据分析制定惠企政策，精准对接省市资金</a:t>
            </a:r>
            <a:endParaRPr lang="en-US" sz="1000" dirty="0"/>
          </a:p>
        </p:txBody>
      </p:sp>
      <p:pic>
        <p:nvPicPr>
          <p:cNvPr id="31" name="Image 0" descr="/Users/wangcaihua/WorkBuddy/20260427142154/slides/imgs/featured_suppl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457200"/>
            <a:ext cx="3931920" cy="4297680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4937760" y="457200"/>
            <a:ext cx="3931920" cy="4297680"/>
          </a:xfrm>
          <a:prstGeom prst="rect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34" name="Text 31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64008"/>
            <a:ext cx="32004" cy="320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4008"/>
            <a:ext cx="32004" cy="320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"/>
            <a:ext cx="32004" cy="320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64008"/>
            <a:ext cx="32004" cy="320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64008"/>
            <a:ext cx="32004" cy="320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64008"/>
            <a:ext cx="32004" cy="320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0" y="10972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1E40AF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1097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政府领导层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政府领导层视角 — 创建监督与规划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594360"/>
            <a:ext cx="731520" cy="27432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877824"/>
            <a:ext cx="64008" cy="6400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804672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8046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三步走创建路径：省级经济开发区→绿色工业园区→国家级经开区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225296"/>
            <a:ext cx="64008" cy="6400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1152144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11521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环保监控数据：为申报绿色工业园区提供真实、可追溯的在线监测数据证据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1572768"/>
            <a:ext cx="64008" cy="6400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1499616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14996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能耗监测：“亩均论英雄”大数据评价体系，为工业用地节约约束提供科学依据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1920240"/>
            <a:ext cx="64008" cy="6400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1847088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安全监控：天眼+哨兵+慧眼全域覆盖，保障园区安全运行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267712"/>
            <a:ext cx="64008" cy="6400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2194560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7240" y="2194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数据中心：汇聚园区全量数据，构建统一数据湖，支撑统计与分析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615184"/>
            <a:ext cx="64008" cy="6400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" y="2542032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7240" y="25420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政策奖励：成功创建绿色园区可获百万级一次性奖励</a:t>
            </a:r>
            <a:endParaRPr lang="en-US" sz="1000" dirty="0"/>
          </a:p>
        </p:txBody>
      </p:sp>
      <p:pic>
        <p:nvPicPr>
          <p:cNvPr id="31" name="Image 0" descr="/Users/wangcaihua/WorkBuddy/20260427142154/slides/imgs/info_publis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457200"/>
            <a:ext cx="3931920" cy="4297680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4937760" y="457200"/>
            <a:ext cx="3931920" cy="4297680"/>
          </a:xfrm>
          <a:prstGeom prst="rect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34" name="Text 31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64008"/>
            <a:ext cx="32004" cy="320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4008"/>
            <a:ext cx="32004" cy="320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"/>
            <a:ext cx="32004" cy="320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64008"/>
            <a:ext cx="32004" cy="320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64008"/>
            <a:ext cx="32004" cy="320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64008"/>
            <a:ext cx="32004" cy="320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0" y="10972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1097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园区管理层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园区管理层视角 — 运营管理与监控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594360"/>
            <a:ext cx="731520" cy="274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877824"/>
            <a:ext cx="64008" cy="6400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804672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8046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全域安全监控：道路交通监控(天眼)+地灾监测(哨兵)+环保监控(慧眼)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225296"/>
            <a:ext cx="64008" cy="6400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1152144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11521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视频监控总览：统一视频平台，16宫格智能排列，覆盖园区关键区域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1572768"/>
            <a:ext cx="64008" cy="6400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1499616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14996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应急指挥联动：一键调度、预案管理、实时通讯，响应效率提升60%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1920240"/>
            <a:ext cx="64008" cy="6400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1847088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运营服务中心：大屏指挥+园小二团队+3年长效服务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267712"/>
            <a:ext cx="64008" cy="6400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2194560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7240" y="2194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日常运营：数字化审批、日常巡检、资产管理、档案管理全流程在线化</a:t>
            </a:r>
            <a:endParaRPr lang="en-US" sz="1000" dirty="0"/>
          </a:p>
        </p:txBody>
      </p:sp>
      <p:pic>
        <p:nvPicPr>
          <p:cNvPr id="28" name="Image 0" descr="/Users/wangcaihua/WorkBuddy/20260427142154/slides/imgs/info_publis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457200"/>
            <a:ext cx="3931920" cy="429768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4937760" y="457200"/>
            <a:ext cx="3931920" cy="4297680"/>
          </a:xfrm>
          <a:prstGeom prst="rect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1" name="Text 28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64008"/>
            <a:ext cx="32004" cy="320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4008"/>
            <a:ext cx="32004" cy="320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"/>
            <a:ext cx="32004" cy="320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64008"/>
            <a:ext cx="32004" cy="320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64008"/>
            <a:ext cx="32004" cy="320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64008"/>
            <a:ext cx="32004" cy="320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0" y="10972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1097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园区管理层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园区管理层视角 — 能效与数据管控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594360"/>
            <a:ext cx="731520" cy="274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877824"/>
            <a:ext cx="64008" cy="6400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804672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8046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企业用能监测：智能计量表计实时采集能耗与产出数据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225296"/>
            <a:ext cx="64008" cy="6400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1152144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11521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亩均论英雄：大数据评价体系，资源要素差别化配置，倒逼企业提质增效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1572768"/>
            <a:ext cx="64008" cy="6400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1499616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14996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数据中心：12大三方系统数据互联互通，统一数据标准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1920240"/>
            <a:ext cx="64008" cy="6400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1847088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异常预警：用能异常自动告警，防止能源浪费，碳排管理追踪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267712"/>
            <a:ext cx="64008" cy="6400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2194560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7240" y="2194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综合管理效率提升30%，从被动响应转向主动预警</a:t>
            </a:r>
            <a:endParaRPr lang="en-US" sz="1000" dirty="0"/>
          </a:p>
        </p:txBody>
      </p:sp>
      <p:pic>
        <p:nvPicPr>
          <p:cNvPr id="28" name="Image 0" descr="/Users/wangcaihua/WorkBuddy/20260427142154/slides/imgs/parking_deta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457200"/>
            <a:ext cx="3931920" cy="429768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4937760" y="457200"/>
            <a:ext cx="3931920" cy="4297680"/>
          </a:xfrm>
          <a:prstGeom prst="rect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1" name="Text 28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64008"/>
            <a:ext cx="32004" cy="320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4008"/>
            <a:ext cx="32004" cy="320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"/>
            <a:ext cx="32004" cy="320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64008"/>
            <a:ext cx="32004" cy="320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64008"/>
            <a:ext cx="32004" cy="320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64008"/>
            <a:ext cx="32004" cy="320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0" y="10972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1097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入驻企业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入驻企业视角 — 企业服务与诉求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594360"/>
            <a:ext cx="73152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877824"/>
            <a:ext cx="64008" cy="6400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804672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8046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诉求直达（随手拍）：文字+图片+定位，快速提交诉求，2小时响应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225296"/>
            <a:ext cx="64008" cy="6400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1152144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11521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服务直达：天然气/水/电费在线缴费，一站式服务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1572768"/>
            <a:ext cx="64008" cy="6400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1499616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14996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园企交互：在线沟通、通知公告、政策推送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1920240"/>
            <a:ext cx="64008" cy="6400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1847088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供需对接：物流供需、特色供需智能匹配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267712"/>
            <a:ext cx="64008" cy="6400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2194560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7240" y="2194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企业入驻：线上申请、证照管理、信用评价</a:t>
            </a:r>
            <a:endParaRPr lang="en-US" sz="1000" dirty="0"/>
          </a:p>
        </p:txBody>
      </p:sp>
      <p:pic>
        <p:nvPicPr>
          <p:cNvPr id="28" name="Image 0" descr="/Users/wangcaihua/WorkBuddy/20260427142154/slides/imgs/info_publis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457200"/>
            <a:ext cx="3931920" cy="429768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4937760" y="457200"/>
            <a:ext cx="3931920" cy="4297680"/>
          </a:xfrm>
          <a:prstGeom prst="rect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1" name="Text 28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64008"/>
            <a:ext cx="32004" cy="320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4008"/>
            <a:ext cx="32004" cy="320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"/>
            <a:ext cx="32004" cy="320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64008"/>
            <a:ext cx="32004" cy="320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64008"/>
            <a:ext cx="32004" cy="320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64008"/>
            <a:ext cx="32004" cy="320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0" y="10972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1097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入驻企业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入驻企业视角 — 资源对接与政策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594360"/>
            <a:ext cx="73152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877824"/>
            <a:ext cx="64008" cy="6400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804672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8046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物流供需：园区货源+返程空车+车辆资源，每张卡片带联系方式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225296"/>
            <a:ext cx="64008" cy="6400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1152144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11521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特色供需：青川山珍等9种特色产品展示与供需对接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1572768"/>
            <a:ext cx="64008" cy="6400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1499616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14996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政策推送：惠企政策精准匹配与主动推送，补贴/减免/人才等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1920240"/>
            <a:ext cx="64008" cy="6400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1847088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智改数转赋能：对接省市每年超20亿元专项资金，降低转型成本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267712"/>
            <a:ext cx="64008" cy="6400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2194560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7240" y="2194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停车服务：高德地图导航+实时余位+在线缴费</a:t>
            </a:r>
            <a:endParaRPr lang="en-US" sz="1000" dirty="0"/>
          </a:p>
        </p:txBody>
      </p:sp>
      <p:pic>
        <p:nvPicPr>
          <p:cNvPr id="28" name="Image 0" descr="/Users/wangcaihua/WorkBuddy/20260427142154/slides/imgs/logistics_suppl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457200"/>
            <a:ext cx="3931920" cy="429768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4937760" y="457200"/>
            <a:ext cx="3931920" cy="4297680"/>
          </a:xfrm>
          <a:prstGeom prst="rect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1" name="Text 28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64008"/>
            <a:ext cx="32004" cy="320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4008"/>
            <a:ext cx="32004" cy="320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"/>
            <a:ext cx="32004" cy="320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64008"/>
            <a:ext cx="32004" cy="320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64008"/>
            <a:ext cx="32004" cy="320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64008"/>
            <a:ext cx="32004" cy="320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0" y="10972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1097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入驻企业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入驻企业视角 — 场馆与餐饮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594360"/>
            <a:ext cx="73152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877824"/>
            <a:ext cx="64008" cy="6400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804672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8046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场馆服务：多功能会议厅/展厅/体育馆/培训教室等8个场馆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225296"/>
            <a:ext cx="64008" cy="6400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1152144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11521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园区餐饮：流动卡片展示6家餐厅，20+道菜品一览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1572768"/>
            <a:ext cx="64008" cy="6400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1499616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14996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用工信息：招聘+岗位匹配，支持分类筛选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1920240"/>
            <a:ext cx="64008" cy="6400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1847088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园区活动：文体/培训/公益/交流等8个活动参与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267712"/>
            <a:ext cx="64008" cy="6400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2194560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7240" y="2194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园区公告：实时通知与信息发布</a:t>
            </a:r>
            <a:endParaRPr lang="en-US" sz="1000" dirty="0"/>
          </a:p>
        </p:txBody>
      </p:sp>
      <p:pic>
        <p:nvPicPr>
          <p:cNvPr id="28" name="Image 0" descr="/Users/wangcaihua/WorkBuddy/20260427142154/slides/imgs/venue_servi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457200"/>
            <a:ext cx="3931920" cy="429768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4937760" y="457200"/>
            <a:ext cx="3931920" cy="4297680"/>
          </a:xfrm>
          <a:prstGeom prst="rect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1" name="Text 28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64008"/>
            <a:ext cx="32004" cy="320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4008"/>
            <a:ext cx="32004" cy="320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"/>
            <a:ext cx="32004" cy="320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64008"/>
            <a:ext cx="32004" cy="320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64008"/>
            <a:ext cx="32004" cy="320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64008"/>
            <a:ext cx="32004" cy="320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0" y="10972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1097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公众用户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公众用户视角 — 信息服务与参与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594360"/>
            <a:ext cx="73152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877824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804672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8046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园区公告：实时查看园区通知（施工、检查、维护等）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225296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1152144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11521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园区活动：查看并参与文体/公益等活动，跟踪活动状态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1572768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1499616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14996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特色供需：浏览青川山珍等特色产品，直接联系供应商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1920240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1847088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用工信息：查看园区企业招聘信息，店位匹配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267712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2194560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7240" y="2194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园区餐饮：浏览餐厅信息和菜品，了解价格与位置</a:t>
            </a:r>
            <a:endParaRPr lang="en-US" sz="1000" dirty="0"/>
          </a:p>
        </p:txBody>
      </p:sp>
      <p:pic>
        <p:nvPicPr>
          <p:cNvPr id="28" name="Image 0" descr="/Users/wangcaihua/WorkBuddy/20260427142154/slides/imgs/notice_deta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457200"/>
            <a:ext cx="3931920" cy="429768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4937760" y="457200"/>
            <a:ext cx="3931920" cy="4297680"/>
          </a:xfrm>
          <a:prstGeom prst="rect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Text 28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64008"/>
            <a:ext cx="32004" cy="320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4008"/>
            <a:ext cx="32004" cy="320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"/>
            <a:ext cx="32004" cy="320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64008"/>
            <a:ext cx="32004" cy="320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64008"/>
            <a:ext cx="32004" cy="320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64008"/>
            <a:ext cx="32004" cy="320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0" y="10972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1097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公众用户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公众用户视角 — 生活服务与互动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594360"/>
            <a:ext cx="73152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877824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804672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8046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园区餐饮：6家餐厅信息+今日菜单+价格+分类筛选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225296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1152144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11521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停车服务：地图查看停车位实时余位，在线缴费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1572768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1499616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14996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场馆服务：浏览园区场馆信息，了解开放时间与约点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1920240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1847088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园区政策：查看公开政策信息，了解园区发展动态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267712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2194560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7240" y="2194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信息公开透明，增强公众归属感与获得感</a:t>
            </a:r>
            <a:endParaRPr lang="en-US" sz="1000" dirty="0"/>
          </a:p>
        </p:txBody>
      </p:sp>
      <p:pic>
        <p:nvPicPr>
          <p:cNvPr id="28" name="Image 0" descr="/Users/wangcaihua/WorkBuddy/20260427142154/slides/imgs/cater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457200"/>
            <a:ext cx="3931920" cy="429768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4937760" y="457200"/>
            <a:ext cx="3931920" cy="4297680"/>
          </a:xfrm>
          <a:prstGeom prst="rect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Text 28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64008"/>
            <a:ext cx="32004" cy="320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4008"/>
            <a:ext cx="32004" cy="320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"/>
            <a:ext cx="32004" cy="320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64008"/>
            <a:ext cx="32004" cy="320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64008"/>
            <a:ext cx="32004" cy="320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64008"/>
            <a:ext cx="32004" cy="320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64008"/>
            <a:ext cx="32004" cy="320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1554480" y="64008"/>
            <a:ext cx="32004" cy="320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四类角色功能矩阵总览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每个角色在各功能模块中的参与度一览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960120"/>
            <a:ext cx="1188720" cy="2743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9601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功能模块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737360" y="960120"/>
            <a:ext cx="1691640" cy="274320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/>
        </p:spPr>
      </p:sp>
      <p:sp>
        <p:nvSpPr>
          <p:cNvPr id="16" name="Text 14"/>
          <p:cNvSpPr/>
          <p:nvPr/>
        </p:nvSpPr>
        <p:spPr>
          <a:xfrm>
            <a:off x="1737360" y="9601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政府领导层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29000" y="960120"/>
            <a:ext cx="1691640" cy="27432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9601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园区管理层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20640" y="960120"/>
            <a:ext cx="1691640" cy="27432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9601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入驻企业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12280" y="960120"/>
            <a:ext cx="1691640" cy="27432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9601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公众用户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1280160"/>
            <a:ext cx="11887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" y="1280160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AI招商·数字沙盘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37360" y="1280160"/>
            <a:ext cx="16916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1847088" y="1371600"/>
            <a:ext cx="64008" cy="6400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7" name="Text 25"/>
          <p:cNvSpPr/>
          <p:nvPr/>
        </p:nvSpPr>
        <p:spPr>
          <a:xfrm>
            <a:off x="2011680" y="12801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●决策支撑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429000" y="1280160"/>
            <a:ext cx="16916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3538728" y="1371600"/>
            <a:ext cx="64008" cy="6400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30" name="Text 28"/>
          <p:cNvSpPr/>
          <p:nvPr/>
        </p:nvSpPr>
        <p:spPr>
          <a:xfrm>
            <a:off x="3703320" y="12801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○数据管理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120640" y="1280160"/>
            <a:ext cx="16916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5230368" y="1371600"/>
            <a:ext cx="64008" cy="6400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33" name="Text 31"/>
          <p:cNvSpPr/>
          <p:nvPr/>
        </p:nvSpPr>
        <p:spPr>
          <a:xfrm>
            <a:off x="5394960" y="12801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●信息查看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812280" y="1280160"/>
            <a:ext cx="16916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7086600" y="12801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65760" y="1600200"/>
            <a:ext cx="118872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35"/>
          <p:cNvSpPr/>
          <p:nvPr/>
        </p:nvSpPr>
        <p:spPr>
          <a:xfrm>
            <a:off x="438912" y="1600200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全域安全监控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737360" y="1600200"/>
            <a:ext cx="169164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9" name="Shape 37"/>
          <p:cNvSpPr/>
          <p:nvPr/>
        </p:nvSpPr>
        <p:spPr>
          <a:xfrm>
            <a:off x="1847088" y="1691640"/>
            <a:ext cx="64008" cy="6400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40" name="Text 38"/>
          <p:cNvSpPr/>
          <p:nvPr/>
        </p:nvSpPr>
        <p:spPr>
          <a:xfrm>
            <a:off x="2011680" y="160020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●监管总览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429000" y="1600200"/>
            <a:ext cx="169164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2" name="Shape 40"/>
          <p:cNvSpPr/>
          <p:nvPr/>
        </p:nvSpPr>
        <p:spPr>
          <a:xfrm>
            <a:off x="3538728" y="1691640"/>
            <a:ext cx="64008" cy="6400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43" name="Text 41"/>
          <p:cNvSpPr/>
          <p:nvPr/>
        </p:nvSpPr>
        <p:spPr>
          <a:xfrm>
            <a:off x="3703320" y="160020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●日常运维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120640" y="1600200"/>
            <a:ext cx="169164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5" name="Shape 43"/>
          <p:cNvSpPr/>
          <p:nvPr/>
        </p:nvSpPr>
        <p:spPr>
          <a:xfrm>
            <a:off x="5230368" y="1691640"/>
            <a:ext cx="64008" cy="6400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46" name="Text 44"/>
          <p:cNvSpPr/>
          <p:nvPr/>
        </p:nvSpPr>
        <p:spPr>
          <a:xfrm>
            <a:off x="5394960" y="160020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○安全服务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812280" y="1600200"/>
            <a:ext cx="169164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8" name="Shape 46"/>
          <p:cNvSpPr/>
          <p:nvPr/>
        </p:nvSpPr>
        <p:spPr>
          <a:xfrm>
            <a:off x="6922008" y="1691640"/>
            <a:ext cx="64008" cy="6400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49" name="Text 47"/>
          <p:cNvSpPr/>
          <p:nvPr/>
        </p:nvSpPr>
        <p:spPr>
          <a:xfrm>
            <a:off x="7086600" y="160020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●安全信息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65760" y="1920240"/>
            <a:ext cx="11887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438912" y="1920240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企业服务·诉求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737360" y="1920240"/>
            <a:ext cx="16916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hape 51"/>
          <p:cNvSpPr/>
          <p:nvPr/>
        </p:nvSpPr>
        <p:spPr>
          <a:xfrm>
            <a:off x="1847088" y="2011680"/>
            <a:ext cx="64008" cy="6400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54" name="Text 52"/>
          <p:cNvSpPr/>
          <p:nvPr/>
        </p:nvSpPr>
        <p:spPr>
          <a:xfrm>
            <a:off x="2011680" y="19202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●效能分析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429000" y="1920240"/>
            <a:ext cx="16916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54"/>
          <p:cNvSpPr/>
          <p:nvPr/>
        </p:nvSpPr>
        <p:spPr>
          <a:xfrm>
            <a:off x="3538728" y="2011680"/>
            <a:ext cx="64008" cy="6400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57" name="Text 55"/>
          <p:cNvSpPr/>
          <p:nvPr/>
        </p:nvSpPr>
        <p:spPr>
          <a:xfrm>
            <a:off x="3703320" y="19202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●流程管理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120640" y="1920240"/>
            <a:ext cx="16916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Shape 57"/>
          <p:cNvSpPr/>
          <p:nvPr/>
        </p:nvSpPr>
        <p:spPr>
          <a:xfrm>
            <a:off x="5230368" y="2011680"/>
            <a:ext cx="64008" cy="6400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60" name="Text 58"/>
          <p:cNvSpPr/>
          <p:nvPr/>
        </p:nvSpPr>
        <p:spPr>
          <a:xfrm>
            <a:off x="5394960" y="19202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●核心使用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812280" y="1920240"/>
            <a:ext cx="16916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Shape 60"/>
          <p:cNvSpPr/>
          <p:nvPr/>
        </p:nvSpPr>
        <p:spPr>
          <a:xfrm>
            <a:off x="6922008" y="2011680"/>
            <a:ext cx="64008" cy="6400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63" name="Text 61"/>
          <p:cNvSpPr/>
          <p:nvPr/>
        </p:nvSpPr>
        <p:spPr>
          <a:xfrm>
            <a:off x="7086600" y="19202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○投诉建议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65760" y="2240280"/>
            <a:ext cx="118872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5" name="Text 63"/>
          <p:cNvSpPr/>
          <p:nvPr/>
        </p:nvSpPr>
        <p:spPr>
          <a:xfrm>
            <a:off x="438912" y="2240280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物流供需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737360" y="2240280"/>
            <a:ext cx="169164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7" name="Shape 65"/>
          <p:cNvSpPr/>
          <p:nvPr/>
        </p:nvSpPr>
        <p:spPr>
          <a:xfrm>
            <a:off x="1847088" y="2331720"/>
            <a:ext cx="64008" cy="6400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68" name="Text 66"/>
          <p:cNvSpPr/>
          <p:nvPr/>
        </p:nvSpPr>
        <p:spPr>
          <a:xfrm>
            <a:off x="2011680" y="224028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○产业数据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429000" y="2240280"/>
            <a:ext cx="169164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0" name="Shape 68"/>
          <p:cNvSpPr/>
          <p:nvPr/>
        </p:nvSpPr>
        <p:spPr>
          <a:xfrm>
            <a:off x="3538728" y="2331720"/>
            <a:ext cx="64008" cy="6400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71" name="Text 69"/>
          <p:cNvSpPr/>
          <p:nvPr/>
        </p:nvSpPr>
        <p:spPr>
          <a:xfrm>
            <a:off x="3703320" y="224028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●运营调度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120640" y="2240280"/>
            <a:ext cx="169164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3" name="Shape 71"/>
          <p:cNvSpPr/>
          <p:nvPr/>
        </p:nvSpPr>
        <p:spPr>
          <a:xfrm>
            <a:off x="5230368" y="2331720"/>
            <a:ext cx="64008" cy="6400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74" name="Text 72"/>
          <p:cNvSpPr/>
          <p:nvPr/>
        </p:nvSpPr>
        <p:spPr>
          <a:xfrm>
            <a:off x="5394960" y="224028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●发布对接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6812280" y="2240280"/>
            <a:ext cx="169164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6" name="Shape 74"/>
          <p:cNvSpPr/>
          <p:nvPr/>
        </p:nvSpPr>
        <p:spPr>
          <a:xfrm>
            <a:off x="6922008" y="2331720"/>
            <a:ext cx="64008" cy="6400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77" name="Text 75"/>
          <p:cNvSpPr/>
          <p:nvPr/>
        </p:nvSpPr>
        <p:spPr>
          <a:xfrm>
            <a:off x="7086600" y="224028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○信息查看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365760" y="2560320"/>
            <a:ext cx="11887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Text 77"/>
          <p:cNvSpPr/>
          <p:nvPr/>
        </p:nvSpPr>
        <p:spPr>
          <a:xfrm>
            <a:off x="438912" y="2560320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特色供需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1737360" y="2560320"/>
            <a:ext cx="16916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Shape 79"/>
          <p:cNvSpPr/>
          <p:nvPr/>
        </p:nvSpPr>
        <p:spPr>
          <a:xfrm>
            <a:off x="1847088" y="2651760"/>
            <a:ext cx="64008" cy="6400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82" name="Text 80"/>
          <p:cNvSpPr/>
          <p:nvPr/>
        </p:nvSpPr>
        <p:spPr>
          <a:xfrm>
            <a:off x="2011680" y="25603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●经济展示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3429000" y="2560320"/>
            <a:ext cx="16916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Shape 82"/>
          <p:cNvSpPr/>
          <p:nvPr/>
        </p:nvSpPr>
        <p:spPr>
          <a:xfrm>
            <a:off x="3538728" y="2651760"/>
            <a:ext cx="64008" cy="6400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85" name="Text 83"/>
          <p:cNvSpPr/>
          <p:nvPr/>
        </p:nvSpPr>
        <p:spPr>
          <a:xfrm>
            <a:off x="3703320" y="25603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○数据统计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5120640" y="2560320"/>
            <a:ext cx="16916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7" name="Shape 85"/>
          <p:cNvSpPr/>
          <p:nvPr/>
        </p:nvSpPr>
        <p:spPr>
          <a:xfrm>
            <a:off x="5230368" y="2651760"/>
            <a:ext cx="64008" cy="6400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88" name="Text 86"/>
          <p:cNvSpPr/>
          <p:nvPr/>
        </p:nvSpPr>
        <p:spPr>
          <a:xfrm>
            <a:off x="5394960" y="25603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●产品发布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6812280" y="2560320"/>
            <a:ext cx="16916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0" name="Shape 88"/>
          <p:cNvSpPr/>
          <p:nvPr/>
        </p:nvSpPr>
        <p:spPr>
          <a:xfrm>
            <a:off x="6922008" y="2651760"/>
            <a:ext cx="64008" cy="6400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91" name="Text 89"/>
          <p:cNvSpPr/>
          <p:nvPr/>
        </p:nvSpPr>
        <p:spPr>
          <a:xfrm>
            <a:off x="7086600" y="25603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●浏览购买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365760" y="2880360"/>
            <a:ext cx="118872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3" name="Text 91"/>
          <p:cNvSpPr/>
          <p:nvPr/>
        </p:nvSpPr>
        <p:spPr>
          <a:xfrm>
            <a:off x="438912" y="2880360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园区政策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1737360" y="2880360"/>
            <a:ext cx="169164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5" name="Shape 93"/>
          <p:cNvSpPr/>
          <p:nvPr/>
        </p:nvSpPr>
        <p:spPr>
          <a:xfrm>
            <a:off x="1847088" y="2971800"/>
            <a:ext cx="64008" cy="6400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96" name="Text 94"/>
          <p:cNvSpPr/>
          <p:nvPr/>
        </p:nvSpPr>
        <p:spPr>
          <a:xfrm>
            <a:off x="2011680" y="28803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●制定发布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3429000" y="2880360"/>
            <a:ext cx="169164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8" name="Shape 96"/>
          <p:cNvSpPr/>
          <p:nvPr/>
        </p:nvSpPr>
        <p:spPr>
          <a:xfrm>
            <a:off x="3538728" y="2971800"/>
            <a:ext cx="64008" cy="6400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99" name="Text 97"/>
          <p:cNvSpPr/>
          <p:nvPr/>
        </p:nvSpPr>
        <p:spPr>
          <a:xfrm>
            <a:off x="3703320" y="28803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●执行监督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5120640" y="2880360"/>
            <a:ext cx="169164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1" name="Shape 99"/>
          <p:cNvSpPr/>
          <p:nvPr/>
        </p:nvSpPr>
        <p:spPr>
          <a:xfrm>
            <a:off x="5230368" y="2971800"/>
            <a:ext cx="64008" cy="6400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02" name="Text 100"/>
          <p:cNvSpPr/>
          <p:nvPr/>
        </p:nvSpPr>
        <p:spPr>
          <a:xfrm>
            <a:off x="5394960" y="28803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●政策申报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6812280" y="2880360"/>
            <a:ext cx="169164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4" name="Shape 102"/>
          <p:cNvSpPr/>
          <p:nvPr/>
        </p:nvSpPr>
        <p:spPr>
          <a:xfrm>
            <a:off x="6922008" y="2971800"/>
            <a:ext cx="64008" cy="6400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05" name="Text 103"/>
          <p:cNvSpPr/>
          <p:nvPr/>
        </p:nvSpPr>
        <p:spPr>
          <a:xfrm>
            <a:off x="7086600" y="28803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○政策查阅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365760" y="3200400"/>
            <a:ext cx="11887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7" name="Text 105"/>
          <p:cNvSpPr/>
          <p:nvPr/>
        </p:nvSpPr>
        <p:spPr>
          <a:xfrm>
            <a:off x="438912" y="3200400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餐饮·停车·场馆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1737360" y="3200400"/>
            <a:ext cx="16916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9" name="Text 107"/>
          <p:cNvSpPr/>
          <p:nvPr/>
        </p:nvSpPr>
        <p:spPr>
          <a:xfrm>
            <a:off x="2011680" y="320040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3429000" y="3200400"/>
            <a:ext cx="16916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1" name="Shape 109"/>
          <p:cNvSpPr/>
          <p:nvPr/>
        </p:nvSpPr>
        <p:spPr>
          <a:xfrm>
            <a:off x="3538728" y="3291840"/>
            <a:ext cx="64008" cy="6400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12" name="Text 110"/>
          <p:cNvSpPr/>
          <p:nvPr/>
        </p:nvSpPr>
        <p:spPr>
          <a:xfrm>
            <a:off x="3703320" y="320040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●运营管理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5120640" y="3200400"/>
            <a:ext cx="16916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230368" y="3291840"/>
            <a:ext cx="64008" cy="6400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15" name="Text 113"/>
          <p:cNvSpPr/>
          <p:nvPr/>
        </p:nvSpPr>
        <p:spPr>
          <a:xfrm>
            <a:off x="5394960" y="320040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●在线使用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6812280" y="3200400"/>
            <a:ext cx="16916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7" name="Shape 115"/>
          <p:cNvSpPr/>
          <p:nvPr/>
        </p:nvSpPr>
        <p:spPr>
          <a:xfrm>
            <a:off x="6922008" y="3291840"/>
            <a:ext cx="64008" cy="6400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18" name="Text 116"/>
          <p:cNvSpPr/>
          <p:nvPr/>
        </p:nvSpPr>
        <p:spPr>
          <a:xfrm>
            <a:off x="7086600" y="320040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●预约预订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365760" y="3520440"/>
            <a:ext cx="118872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0" name="Text 118"/>
          <p:cNvSpPr/>
          <p:nvPr/>
        </p:nvSpPr>
        <p:spPr>
          <a:xfrm>
            <a:off x="438912" y="3520440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活动·公告·用工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1737360" y="3520440"/>
            <a:ext cx="169164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2" name="Shape 120"/>
          <p:cNvSpPr/>
          <p:nvPr/>
        </p:nvSpPr>
        <p:spPr>
          <a:xfrm>
            <a:off x="1847088" y="3611880"/>
            <a:ext cx="64008" cy="6400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23" name="Text 121"/>
          <p:cNvSpPr/>
          <p:nvPr/>
        </p:nvSpPr>
        <p:spPr>
          <a:xfrm>
            <a:off x="2011680" y="35204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●宏观数据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3429000" y="3520440"/>
            <a:ext cx="169164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5" name="Shape 123"/>
          <p:cNvSpPr/>
          <p:nvPr/>
        </p:nvSpPr>
        <p:spPr>
          <a:xfrm>
            <a:off x="3538728" y="3611880"/>
            <a:ext cx="64008" cy="6400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26" name="Text 124"/>
          <p:cNvSpPr/>
          <p:nvPr/>
        </p:nvSpPr>
        <p:spPr>
          <a:xfrm>
            <a:off x="3703320" y="35204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●信息审核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5120640" y="3520440"/>
            <a:ext cx="169164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8" name="Shape 126"/>
          <p:cNvSpPr/>
          <p:nvPr/>
        </p:nvSpPr>
        <p:spPr>
          <a:xfrm>
            <a:off x="5230368" y="3611880"/>
            <a:ext cx="64008" cy="6400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29" name="Text 127"/>
          <p:cNvSpPr/>
          <p:nvPr/>
        </p:nvSpPr>
        <p:spPr>
          <a:xfrm>
            <a:off x="5394960" y="35204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●参与发布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6812280" y="3520440"/>
            <a:ext cx="169164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922008" y="3611880"/>
            <a:ext cx="64008" cy="6400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32" name="Text 130"/>
          <p:cNvSpPr/>
          <p:nvPr/>
        </p:nvSpPr>
        <p:spPr>
          <a:xfrm>
            <a:off x="7086600" y="35204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●获取信息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365760" y="3840480"/>
            <a:ext cx="11887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4" name="Text 132"/>
          <p:cNvSpPr/>
          <p:nvPr/>
        </p:nvSpPr>
        <p:spPr>
          <a:xfrm>
            <a:off x="438912" y="3840480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数据中心·能效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1737360" y="3840480"/>
            <a:ext cx="16916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6" name="Shape 134"/>
          <p:cNvSpPr/>
          <p:nvPr/>
        </p:nvSpPr>
        <p:spPr>
          <a:xfrm>
            <a:off x="1847088" y="3931920"/>
            <a:ext cx="64008" cy="6400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37" name="Text 135"/>
          <p:cNvSpPr/>
          <p:nvPr/>
        </p:nvSpPr>
        <p:spPr>
          <a:xfrm>
            <a:off x="2011680" y="384048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●决策依据</a:t>
            </a:r>
            <a:endParaRPr lang="en-US" sz="800" dirty="0"/>
          </a:p>
        </p:txBody>
      </p:sp>
      <p:sp>
        <p:nvSpPr>
          <p:cNvPr id="138" name="Shape 136"/>
          <p:cNvSpPr/>
          <p:nvPr/>
        </p:nvSpPr>
        <p:spPr>
          <a:xfrm>
            <a:off x="3429000" y="3840480"/>
            <a:ext cx="16916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9" name="Shape 137"/>
          <p:cNvSpPr/>
          <p:nvPr/>
        </p:nvSpPr>
        <p:spPr>
          <a:xfrm>
            <a:off x="3538728" y="3931920"/>
            <a:ext cx="64008" cy="6400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40" name="Text 138"/>
          <p:cNvSpPr/>
          <p:nvPr/>
        </p:nvSpPr>
        <p:spPr>
          <a:xfrm>
            <a:off x="3703320" y="384048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●监测预警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5120640" y="3840480"/>
            <a:ext cx="16916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2" name="Shape 140"/>
          <p:cNvSpPr/>
          <p:nvPr/>
        </p:nvSpPr>
        <p:spPr>
          <a:xfrm>
            <a:off x="5230368" y="3931920"/>
            <a:ext cx="64008" cy="6400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43" name="Text 141"/>
          <p:cNvSpPr/>
          <p:nvPr/>
        </p:nvSpPr>
        <p:spPr>
          <a:xfrm>
            <a:off x="5394960" y="384048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○用能管理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6812280" y="3840480"/>
            <a:ext cx="16916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5" name="Text 143"/>
          <p:cNvSpPr/>
          <p:nvPr/>
        </p:nvSpPr>
        <p:spPr>
          <a:xfrm>
            <a:off x="7086600" y="384048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>
            <a:off x="365760" y="4160520"/>
            <a:ext cx="118872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7" name="Text 145"/>
          <p:cNvSpPr/>
          <p:nvPr/>
        </p:nvSpPr>
        <p:spPr>
          <a:xfrm>
            <a:off x="438912" y="4160520"/>
            <a:ext cx="1078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投资概算</a:t>
            </a:r>
            <a:endParaRPr lang="en-US" sz="900" dirty="0"/>
          </a:p>
        </p:txBody>
      </p:sp>
      <p:sp>
        <p:nvSpPr>
          <p:cNvPr id="148" name="Shape 146"/>
          <p:cNvSpPr/>
          <p:nvPr/>
        </p:nvSpPr>
        <p:spPr>
          <a:xfrm>
            <a:off x="1737360" y="4160520"/>
            <a:ext cx="169164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9" name="Shape 147"/>
          <p:cNvSpPr/>
          <p:nvPr/>
        </p:nvSpPr>
        <p:spPr>
          <a:xfrm>
            <a:off x="1847088" y="4251960"/>
            <a:ext cx="64008" cy="6400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50" name="Text 148"/>
          <p:cNvSpPr/>
          <p:nvPr/>
        </p:nvSpPr>
        <p:spPr>
          <a:xfrm>
            <a:off x="2011680" y="41605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●财政审批</a:t>
            </a:r>
            <a:endParaRPr lang="en-US" sz="800" dirty="0"/>
          </a:p>
        </p:txBody>
      </p:sp>
      <p:sp>
        <p:nvSpPr>
          <p:cNvPr id="151" name="Shape 149"/>
          <p:cNvSpPr/>
          <p:nvPr/>
        </p:nvSpPr>
        <p:spPr>
          <a:xfrm>
            <a:off x="3429000" y="4160520"/>
            <a:ext cx="169164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2" name="Shape 150"/>
          <p:cNvSpPr/>
          <p:nvPr/>
        </p:nvSpPr>
        <p:spPr>
          <a:xfrm>
            <a:off x="3538728" y="4251960"/>
            <a:ext cx="64008" cy="6400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53" name="Text 151"/>
          <p:cNvSpPr/>
          <p:nvPr/>
        </p:nvSpPr>
        <p:spPr>
          <a:xfrm>
            <a:off x="3703320" y="41605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○预算参考</a:t>
            </a:r>
            <a:endParaRPr lang="en-US" sz="800" dirty="0"/>
          </a:p>
        </p:txBody>
      </p:sp>
      <p:sp>
        <p:nvSpPr>
          <p:cNvPr id="154" name="Shape 152"/>
          <p:cNvSpPr/>
          <p:nvPr/>
        </p:nvSpPr>
        <p:spPr>
          <a:xfrm>
            <a:off x="5120640" y="4160520"/>
            <a:ext cx="169164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5" name="Text 153"/>
          <p:cNvSpPr/>
          <p:nvPr/>
        </p:nvSpPr>
        <p:spPr>
          <a:xfrm>
            <a:off x="5394960" y="41605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800" dirty="0"/>
          </a:p>
        </p:txBody>
      </p:sp>
      <p:sp>
        <p:nvSpPr>
          <p:cNvPr id="156" name="Shape 154"/>
          <p:cNvSpPr/>
          <p:nvPr/>
        </p:nvSpPr>
        <p:spPr>
          <a:xfrm>
            <a:off x="6812280" y="4160520"/>
            <a:ext cx="169164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7" name="Text 155"/>
          <p:cNvSpPr/>
          <p:nvPr/>
        </p:nvSpPr>
        <p:spPr>
          <a:xfrm>
            <a:off x="7086600" y="41605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800" dirty="0"/>
          </a:p>
        </p:txBody>
      </p:sp>
      <p:sp>
        <p:nvSpPr>
          <p:cNvPr id="158" name="Shape 156"/>
          <p:cNvSpPr/>
          <p:nvPr/>
        </p:nvSpPr>
        <p:spPr>
          <a:xfrm>
            <a:off x="457200" y="4572000"/>
            <a:ext cx="8229600" cy="274320"/>
          </a:xfrm>
          <a:prstGeom prst="roundRect">
            <a:avLst>
              <a:gd name="adj" fmla="val 13333"/>
            </a:avLst>
          </a:prstGeom>
          <a:solidFill>
            <a:srgbClr val="E2E8F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594360" y="4626864"/>
            <a:ext cx="73152" cy="73152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60" name="Text 158"/>
          <p:cNvSpPr/>
          <p:nvPr/>
        </p:nvSpPr>
        <p:spPr>
          <a:xfrm>
            <a:off x="77724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主要功能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2194560" y="4626864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62" name="Text 160"/>
          <p:cNvSpPr/>
          <p:nvPr/>
        </p:nvSpPr>
        <p:spPr>
          <a:xfrm>
            <a:off x="237744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辅助功能</a:t>
            </a:r>
            <a:endParaRPr lang="en-US" sz="900" dirty="0"/>
          </a:p>
        </p:txBody>
      </p:sp>
      <p:sp>
        <p:nvSpPr>
          <p:cNvPr id="163" name="Text 161"/>
          <p:cNvSpPr/>
          <p:nvPr/>
        </p:nvSpPr>
        <p:spPr>
          <a:xfrm>
            <a:off x="3840480" y="4572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无直接关联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5" name="Text 163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64008"/>
            <a:ext cx="32004" cy="320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4008"/>
            <a:ext cx="32004" cy="320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"/>
            <a:ext cx="32004" cy="320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64008"/>
            <a:ext cx="32004" cy="320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64008"/>
            <a:ext cx="32004" cy="320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64008"/>
            <a:ext cx="32004" cy="320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64008"/>
            <a:ext cx="32004" cy="320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1554480" y="64008"/>
            <a:ext cx="32004" cy="320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投资与效益分析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286000" y="731520"/>
            <a:ext cx="4572000" cy="118872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86000" y="822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总投资概算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0" y="10515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¥4,178,800.00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914400" y="2240280"/>
            <a:ext cx="54864" cy="548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2194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道路交通安全与地灾监控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0" y="2231136"/>
            <a:ext cx="2926080" cy="10972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0" y="2231136"/>
            <a:ext cx="418011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2514600"/>
            <a:ext cx="54864" cy="548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2468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重点口子环保监控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0" y="2505456"/>
            <a:ext cx="2926080" cy="10972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0" y="2505456"/>
            <a:ext cx="836023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" y="2788920"/>
            <a:ext cx="54864" cy="548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2743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园区形象展示与AI招商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0" y="2779776"/>
            <a:ext cx="2926080" cy="10972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0" y="2779776"/>
            <a:ext cx="1254034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914400" y="3063240"/>
            <a:ext cx="54864" cy="548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0" y="3017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企业用能监测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0" y="3054096"/>
            <a:ext cx="2926080" cy="10972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0" y="3054096"/>
            <a:ext cx="1672046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31" name="Shape 29"/>
          <p:cNvSpPr/>
          <p:nvPr/>
        </p:nvSpPr>
        <p:spPr>
          <a:xfrm>
            <a:off x="914400" y="3337560"/>
            <a:ext cx="54864" cy="548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1097280" y="3291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智改数转赋能平台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0" y="3328416"/>
            <a:ext cx="2926080" cy="10972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34" name="Shape 32"/>
          <p:cNvSpPr/>
          <p:nvPr/>
        </p:nvSpPr>
        <p:spPr>
          <a:xfrm>
            <a:off x="5486400" y="3328416"/>
            <a:ext cx="2090057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35" name="Shape 33"/>
          <p:cNvSpPr/>
          <p:nvPr/>
        </p:nvSpPr>
        <p:spPr>
          <a:xfrm>
            <a:off x="914400" y="3611880"/>
            <a:ext cx="54864" cy="548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1097280" y="3566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一体化数字平台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0" y="3602736"/>
            <a:ext cx="2926080" cy="10972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38" name="Shape 36"/>
          <p:cNvSpPr/>
          <p:nvPr/>
        </p:nvSpPr>
        <p:spPr>
          <a:xfrm>
            <a:off x="5486400" y="3602736"/>
            <a:ext cx="2508069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39" name="Shape 37"/>
          <p:cNvSpPr/>
          <p:nvPr/>
        </p:nvSpPr>
        <p:spPr>
          <a:xfrm>
            <a:off x="914400" y="3886200"/>
            <a:ext cx="54864" cy="548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1097280" y="38404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运营服务中心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0" y="3877056"/>
            <a:ext cx="2926080" cy="10972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42" name="Shape 40"/>
          <p:cNvSpPr/>
          <p:nvPr/>
        </p:nvSpPr>
        <p:spPr>
          <a:xfrm>
            <a:off x="5486400" y="3877056"/>
            <a:ext cx="2926080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" y="4114800"/>
            <a:ext cx="82296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731520" y="4206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731520" y="4480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管理效率提升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474720" y="4206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3474720" y="4480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应急响应提升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17920" y="4206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¥20亿+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6217920" y="4480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专项资金对接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1" name="Text 49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64008"/>
            <a:ext cx="32004" cy="320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4008"/>
            <a:ext cx="32004" cy="320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"/>
            <a:ext cx="32004" cy="320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64008"/>
            <a:ext cx="32004" cy="320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64008"/>
            <a:ext cx="32004" cy="320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64008"/>
            <a:ext cx="32004" cy="320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64008"/>
            <a:ext cx="32004" cy="320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0" name="Shape 8"/>
          <p:cNvSpPr/>
          <p:nvPr/>
        </p:nvSpPr>
        <p:spPr>
          <a:xfrm>
            <a:off x="1554480" y="64008"/>
            <a:ext cx="32004" cy="32004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以数字为帆，以智慧为桨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005840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078992"/>
            <a:ext cx="45720" cy="2926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100584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AIoT深度融合：引入物联网传感设备，实现万物互联、全域感知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1554480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1627632"/>
            <a:ext cx="45720" cy="2926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15544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数字孪生园区：1:1三维建模，全要素、全时域可视化运营管理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103120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176272"/>
            <a:ext cx="45720" cy="2926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210312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Agent智能化：智能客服、智能调度、智能预警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651760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724912"/>
            <a:ext cx="45720" cy="2926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265176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产业大脑：基于大数据与AI算法辅助产业招商决策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200400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273552"/>
            <a:ext cx="45720" cy="2926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20040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跨园区协同：对接省市智慧平台，实现数据共享与业务协同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931920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驱动园区沿着“省级开发区→绿色园区→国家级经开区培育对象”的航向全速前进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182880"/>
            <a:ext cx="4572000" cy="4572000"/>
          </a:xfrm>
          <a:prstGeom prst="ellipse">
            <a:avLst/>
          </a:prstGeom>
          <a:solidFill>
            <a:srgbClr val="1E3A5F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感谢聊听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0" y="2286000"/>
            <a:ext cx="18288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以数字为帆，以智慧为桨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青川县庄子上工业园区管委会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技术支持：青迅科技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地址：四川省广元市青川县竹园镇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2026-05-12T03:37:35Z</dcterms:created>
  <dcterms:modified xsi:type="dcterms:W3CDTF">2026-05-12T03:37:35Z</dcterms:modified>
</cp:coreProperties>
</file>